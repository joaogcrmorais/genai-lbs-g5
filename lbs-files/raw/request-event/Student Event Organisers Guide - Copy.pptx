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3"/>
  </p:notesMasterIdLst>
  <p:sldIdLst>
    <p:sldId id="258" r:id="rId5"/>
    <p:sldId id="288" r:id="rId6"/>
    <p:sldId id="282" r:id="rId7"/>
    <p:sldId id="281" r:id="rId8"/>
    <p:sldId id="294" r:id="rId9"/>
    <p:sldId id="295" r:id="rId10"/>
    <p:sldId id="263" r:id="rId11"/>
    <p:sldId id="268" r:id="rId12"/>
    <p:sldId id="283" r:id="rId13"/>
    <p:sldId id="285" r:id="rId14"/>
    <p:sldId id="286" r:id="rId15"/>
    <p:sldId id="287" r:id="rId16"/>
    <p:sldId id="289" r:id="rId17"/>
    <p:sldId id="290" r:id="rId18"/>
    <p:sldId id="341" r:id="rId19"/>
    <p:sldId id="291" r:id="rId20"/>
    <p:sldId id="292" r:id="rId21"/>
    <p:sldId id="328" r:id="rId22"/>
    <p:sldId id="300" r:id="rId23"/>
    <p:sldId id="301" r:id="rId24"/>
    <p:sldId id="302" r:id="rId25"/>
    <p:sldId id="303" r:id="rId26"/>
    <p:sldId id="315" r:id="rId27"/>
    <p:sldId id="316" r:id="rId28"/>
    <p:sldId id="317" r:id="rId29"/>
    <p:sldId id="318" r:id="rId30"/>
    <p:sldId id="319" r:id="rId31"/>
    <p:sldId id="320" r:id="rId32"/>
    <p:sldId id="321" r:id="rId33"/>
    <p:sldId id="322" r:id="rId34"/>
    <p:sldId id="323" r:id="rId35"/>
    <p:sldId id="339" r:id="rId36"/>
    <p:sldId id="342" r:id="rId37"/>
    <p:sldId id="344" r:id="rId38"/>
    <p:sldId id="340" r:id="rId39"/>
    <p:sldId id="325" r:id="rId40"/>
    <p:sldId id="326" r:id="rId41"/>
    <p:sldId id="333" r:id="rId42"/>
    <p:sldId id="299" r:id="rId43"/>
    <p:sldId id="304" r:id="rId44"/>
    <p:sldId id="305" r:id="rId45"/>
    <p:sldId id="306" r:id="rId46"/>
    <p:sldId id="307" r:id="rId47"/>
    <p:sldId id="308" r:id="rId48"/>
    <p:sldId id="309" r:id="rId49"/>
    <p:sldId id="310" r:id="rId50"/>
    <p:sldId id="311" r:id="rId51"/>
    <p:sldId id="312" r:id="rId52"/>
    <p:sldId id="313" r:id="rId53"/>
    <p:sldId id="343" r:id="rId54"/>
    <p:sldId id="327" r:id="rId55"/>
    <p:sldId id="331" r:id="rId56"/>
    <p:sldId id="332" r:id="rId57"/>
    <p:sldId id="345" r:id="rId58"/>
    <p:sldId id="337" r:id="rId59"/>
    <p:sldId id="334" r:id="rId60"/>
    <p:sldId id="335" r:id="rId61"/>
    <p:sldId id="336" r:id="rId62"/>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yn Wild" initials="KW" lastIdx="9" clrIdx="0">
    <p:extLst>
      <p:ext uri="{19B8F6BF-5375-455C-9EA6-DF929625EA0E}">
        <p15:presenceInfo xmlns:p15="http://schemas.microsoft.com/office/powerpoint/2012/main" userId="S-1-5-21-3770928017-4069537226-1282539915-105314" providerId="AD"/>
      </p:ext>
    </p:extLst>
  </p:cmAuthor>
  <p:cmAuthor id="2" name="Karyn Wild" initials="KW [2]" lastIdx="8" clrIdx="1">
    <p:extLst>
      <p:ext uri="{19B8F6BF-5375-455C-9EA6-DF929625EA0E}">
        <p15:presenceInfo xmlns:p15="http://schemas.microsoft.com/office/powerpoint/2012/main" userId="S::kwild@london.edu::0d307f1a-4f39-4b63-ba55-0459c82eea5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27503F-405D-4BBB-8C48-EBCE29654A4C}" v="51" dt="2026-03-03T08:28:51.1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468" y="84"/>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22.xml" Id="rId26" /><Relationship Type="http://schemas.openxmlformats.org/officeDocument/2006/relationships/slide" Target="slides/slide17.xml" Id="rId21" /><Relationship Type="http://schemas.openxmlformats.org/officeDocument/2006/relationships/slide" Target="slides/slide38.xml" Id="rId42" /><Relationship Type="http://schemas.openxmlformats.org/officeDocument/2006/relationships/slide" Target="slides/slide43.xml" Id="rId47" /><Relationship Type="http://schemas.openxmlformats.org/officeDocument/2006/relationships/notesMaster" Target="notesMasters/notesMaster1.xml" Id="rId63" /><Relationship Type="http://schemas.openxmlformats.org/officeDocument/2006/relationships/tableStyles" Target="tableStyles.xml" Id="rId68" /><Relationship Type="http://schemas.openxmlformats.org/officeDocument/2006/relationships/slide" Target="slides/slide3.xml" Id="rId7" /><Relationship Type="http://schemas.openxmlformats.org/officeDocument/2006/relationships/customXml" Target="../customXml/item2.xml" Id="rId2" /><Relationship Type="http://schemas.openxmlformats.org/officeDocument/2006/relationships/slide" Target="slides/slide12.xml" Id="rId16" /><Relationship Type="http://schemas.openxmlformats.org/officeDocument/2006/relationships/slide" Target="slides/slide25.xml" Id="rId29" /><Relationship Type="http://schemas.openxmlformats.org/officeDocument/2006/relationships/slide" Target="slides/slide7.xml" Id="rId11" /><Relationship Type="http://schemas.openxmlformats.org/officeDocument/2006/relationships/slide" Target="slides/slide20.xml" Id="rId24" /><Relationship Type="http://schemas.openxmlformats.org/officeDocument/2006/relationships/slide" Target="slides/slide28.xml" Id="rId32" /><Relationship Type="http://schemas.openxmlformats.org/officeDocument/2006/relationships/slide" Target="slides/slide33.xml" Id="rId37" /><Relationship Type="http://schemas.openxmlformats.org/officeDocument/2006/relationships/slide" Target="slides/slide36.xml" Id="rId40" /><Relationship Type="http://schemas.openxmlformats.org/officeDocument/2006/relationships/slide" Target="slides/slide41.xml" Id="rId45" /><Relationship Type="http://schemas.openxmlformats.org/officeDocument/2006/relationships/slide" Target="slides/slide49.xml" Id="rId53" /><Relationship Type="http://schemas.openxmlformats.org/officeDocument/2006/relationships/slide" Target="slides/slide54.xml" Id="rId58" /><Relationship Type="http://schemas.openxmlformats.org/officeDocument/2006/relationships/viewProps" Target="viewProps.xml" Id="rId66" /><Relationship Type="http://schemas.openxmlformats.org/officeDocument/2006/relationships/slide" Target="slides/slide1.xml" Id="rId5" /><Relationship Type="http://schemas.openxmlformats.org/officeDocument/2006/relationships/slide" Target="slides/slide57.xml" Id="rId61" /><Relationship Type="http://schemas.openxmlformats.org/officeDocument/2006/relationships/slide" Target="slides/slide15.xml" Id="rId19" /><Relationship Type="http://schemas.openxmlformats.org/officeDocument/2006/relationships/slide" Target="slides/slide10.xml" Id="rId14" /><Relationship Type="http://schemas.openxmlformats.org/officeDocument/2006/relationships/slide" Target="slides/slide18.xml" Id="rId22" /><Relationship Type="http://schemas.openxmlformats.org/officeDocument/2006/relationships/slide" Target="slides/slide23.xml" Id="rId27" /><Relationship Type="http://schemas.openxmlformats.org/officeDocument/2006/relationships/slide" Target="slides/slide26.xml" Id="rId30" /><Relationship Type="http://schemas.openxmlformats.org/officeDocument/2006/relationships/slide" Target="slides/slide31.xml" Id="rId35" /><Relationship Type="http://schemas.openxmlformats.org/officeDocument/2006/relationships/slide" Target="slides/slide39.xml" Id="rId43" /><Relationship Type="http://schemas.openxmlformats.org/officeDocument/2006/relationships/slide" Target="slides/slide44.xml" Id="rId48" /><Relationship Type="http://schemas.openxmlformats.org/officeDocument/2006/relationships/slide" Target="slides/slide52.xml" Id="rId56" /><Relationship Type="http://schemas.openxmlformats.org/officeDocument/2006/relationships/commentAuthors" Target="commentAuthors.xml" Id="rId64" /><Relationship Type="http://schemas.openxmlformats.org/officeDocument/2006/relationships/slide" Target="slides/slide4.xml" Id="rId8" /><Relationship Type="http://schemas.openxmlformats.org/officeDocument/2006/relationships/slide" Target="slides/slide47.xml" Id="rId51" /><Relationship Type="http://schemas.openxmlformats.org/officeDocument/2006/relationships/customXml" Target="../customXml/item3.xml" Id="rId3" /><Relationship Type="http://schemas.openxmlformats.org/officeDocument/2006/relationships/slide" Target="slides/slide8.xml" Id="rId12" /><Relationship Type="http://schemas.openxmlformats.org/officeDocument/2006/relationships/slide" Target="slides/slide13.xml" Id="rId17" /><Relationship Type="http://schemas.openxmlformats.org/officeDocument/2006/relationships/slide" Target="slides/slide21.xml" Id="rId25" /><Relationship Type="http://schemas.openxmlformats.org/officeDocument/2006/relationships/slide" Target="slides/slide29.xml" Id="rId33" /><Relationship Type="http://schemas.openxmlformats.org/officeDocument/2006/relationships/slide" Target="slides/slide34.xml" Id="rId38" /><Relationship Type="http://schemas.openxmlformats.org/officeDocument/2006/relationships/slide" Target="slides/slide42.xml" Id="rId46" /><Relationship Type="http://schemas.openxmlformats.org/officeDocument/2006/relationships/slide" Target="slides/slide55.xml" Id="rId59" /><Relationship Type="http://schemas.openxmlformats.org/officeDocument/2006/relationships/theme" Target="theme/theme1.xml" Id="rId67" /><Relationship Type="http://schemas.openxmlformats.org/officeDocument/2006/relationships/slide" Target="slides/slide16.xml" Id="rId20" /><Relationship Type="http://schemas.openxmlformats.org/officeDocument/2006/relationships/slide" Target="slides/slide37.xml" Id="rId41" /><Relationship Type="http://schemas.openxmlformats.org/officeDocument/2006/relationships/slide" Target="slides/slide50.xml" Id="rId54" /><Relationship Type="http://schemas.openxmlformats.org/officeDocument/2006/relationships/slide" Target="slides/slide58.xml" Id="rId62" /><Relationship Type="http://schemas.microsoft.com/office/2015/10/relationships/revisionInfo" Target="revisionInfo.xml" Id="rId70" /><Relationship Type="http://schemas.openxmlformats.org/officeDocument/2006/relationships/customXml" Target="../customXml/item1.xml" Id="rId1" /><Relationship Type="http://schemas.openxmlformats.org/officeDocument/2006/relationships/slide" Target="slides/slide2.xml" Id="rId6" /><Relationship Type="http://schemas.openxmlformats.org/officeDocument/2006/relationships/slide" Target="slides/slide11.xml" Id="rId15" /><Relationship Type="http://schemas.openxmlformats.org/officeDocument/2006/relationships/slide" Target="slides/slide19.xml" Id="rId23" /><Relationship Type="http://schemas.openxmlformats.org/officeDocument/2006/relationships/slide" Target="slides/slide24.xml" Id="rId28" /><Relationship Type="http://schemas.openxmlformats.org/officeDocument/2006/relationships/slide" Target="slides/slide32.xml" Id="rId36" /><Relationship Type="http://schemas.openxmlformats.org/officeDocument/2006/relationships/slide" Target="slides/slide45.xml" Id="rId49" /><Relationship Type="http://schemas.openxmlformats.org/officeDocument/2006/relationships/slide" Target="slides/slide53.xml" Id="rId57" /><Relationship Type="http://schemas.openxmlformats.org/officeDocument/2006/relationships/slide" Target="slides/slide6.xml" Id="rId10" /><Relationship Type="http://schemas.openxmlformats.org/officeDocument/2006/relationships/slide" Target="slides/slide27.xml" Id="rId31" /><Relationship Type="http://schemas.openxmlformats.org/officeDocument/2006/relationships/slide" Target="slides/slide40.xml" Id="rId44" /><Relationship Type="http://schemas.openxmlformats.org/officeDocument/2006/relationships/slide" Target="slides/slide48.xml" Id="rId52" /><Relationship Type="http://schemas.openxmlformats.org/officeDocument/2006/relationships/slide" Target="slides/slide56.xml" Id="rId60" /><Relationship Type="http://schemas.openxmlformats.org/officeDocument/2006/relationships/presProps" Target="presProps.xml" Id="rId65" /><Relationship Type="http://schemas.openxmlformats.org/officeDocument/2006/relationships/slideMaster" Target="slideMasters/slideMaster1.xml" Id="rId4" /><Relationship Type="http://schemas.openxmlformats.org/officeDocument/2006/relationships/slide" Target="slides/slide5.xml" Id="rId9" /><Relationship Type="http://schemas.openxmlformats.org/officeDocument/2006/relationships/slide" Target="slides/slide9.xml" Id="rId13" /><Relationship Type="http://schemas.openxmlformats.org/officeDocument/2006/relationships/slide" Target="slides/slide14.xml" Id="rId18" /><Relationship Type="http://schemas.openxmlformats.org/officeDocument/2006/relationships/slide" Target="slides/slide35.xml" Id="rId39" /><Relationship Type="http://schemas.openxmlformats.org/officeDocument/2006/relationships/slide" Target="slides/slide30.xml" Id="rId34" /><Relationship Type="http://schemas.openxmlformats.org/officeDocument/2006/relationships/slide" Target="slides/slide46.xml" Id="rId50" /><Relationship Type="http://schemas.openxmlformats.org/officeDocument/2006/relationships/slide" Target="slides/slide51.xml" Id="rId55" /></Relationships>
</file>

<file path=ppt/diagrams/_rels/data2.xml.rels><?xml version="1.0" encoding="UTF-8" standalone="yes"?>
<Relationships xmlns="http://schemas.openxmlformats.org/package/2006/relationships"><Relationship Id="rId1" Type="http://schemas.openxmlformats.org/officeDocument/2006/relationships/slide" Target="../slides/slide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D918BA-0278-44BF-A470-FE682EE852A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56BC3D38-458F-4641-A6F8-3153F43CA601}">
      <dgm:prSet phldrT="[Text]" custT="1"/>
      <dgm:spPr/>
      <dgm:t>
        <a:bodyPr/>
        <a:lstStyle/>
        <a:p>
          <a:r>
            <a:rPr lang="en-US" sz="5000"/>
            <a:t>Why?</a:t>
          </a:r>
        </a:p>
      </dgm:t>
    </dgm:pt>
    <dgm:pt modelId="{59A86599-FA73-4EA8-920D-97261D3622F4}" type="parTrans" cxnId="{DFC3E539-A375-4380-A15B-337C2B7D765B}">
      <dgm:prSet/>
      <dgm:spPr/>
      <dgm:t>
        <a:bodyPr/>
        <a:lstStyle/>
        <a:p>
          <a:endParaRPr lang="en-US"/>
        </a:p>
      </dgm:t>
    </dgm:pt>
    <dgm:pt modelId="{5A01F238-10B3-4381-B9F1-F8A7993D9582}" type="sibTrans" cxnId="{DFC3E539-A375-4380-A15B-337C2B7D765B}">
      <dgm:prSet/>
      <dgm:spPr/>
      <dgm:t>
        <a:bodyPr/>
        <a:lstStyle/>
        <a:p>
          <a:endParaRPr lang="en-US"/>
        </a:p>
      </dgm:t>
    </dgm:pt>
    <dgm:pt modelId="{33684F97-BEDF-48BB-BAE5-464824F6CED2}">
      <dgm:prSet phldrT="[Text]" custT="1"/>
      <dgm:spPr/>
      <dgm:t>
        <a:bodyPr/>
        <a:lstStyle/>
        <a:p>
          <a:r>
            <a:rPr lang="en-US" sz="1400"/>
            <a:t>Consider how you will measure success. </a:t>
          </a:r>
          <a:r>
            <a:rPr lang="en-US" sz="1400" b="1"/>
            <a:t>Set clear objectives </a:t>
          </a:r>
          <a:r>
            <a:rPr lang="en-US" sz="1400"/>
            <a:t>and </a:t>
          </a:r>
          <a:r>
            <a:rPr lang="en-US" sz="1400" b="1"/>
            <a:t>measurable KPIs</a:t>
          </a:r>
        </a:p>
      </dgm:t>
    </dgm:pt>
    <dgm:pt modelId="{E32F5219-8E56-4370-9611-256746DBD163}" type="parTrans" cxnId="{DD61584F-74AA-442F-BF70-78B3F76C16B8}">
      <dgm:prSet/>
      <dgm:spPr/>
      <dgm:t>
        <a:bodyPr/>
        <a:lstStyle/>
        <a:p>
          <a:endParaRPr lang="en-US"/>
        </a:p>
      </dgm:t>
    </dgm:pt>
    <dgm:pt modelId="{F23FEF5C-99AE-4EEE-B3AE-E29D7EB19DFF}" type="sibTrans" cxnId="{DD61584F-74AA-442F-BF70-78B3F76C16B8}">
      <dgm:prSet/>
      <dgm:spPr/>
      <dgm:t>
        <a:bodyPr/>
        <a:lstStyle/>
        <a:p>
          <a:endParaRPr lang="en-US"/>
        </a:p>
      </dgm:t>
    </dgm:pt>
    <dgm:pt modelId="{1B7F865A-F83E-4CFF-A8A5-C7A25AB95A3A}">
      <dgm:prSet phldrT="[Text]" custT="1"/>
      <dgm:spPr/>
      <dgm:t>
        <a:bodyPr/>
        <a:lstStyle/>
        <a:p>
          <a:r>
            <a:rPr lang="en-US" sz="5000"/>
            <a:t>Who?</a:t>
          </a:r>
        </a:p>
      </dgm:t>
    </dgm:pt>
    <dgm:pt modelId="{5C8717AA-FE97-4BC5-BD2E-CB3F285B4D7B}" type="parTrans" cxnId="{EE52DB77-B34C-420B-97CE-0EBF4FD99AFC}">
      <dgm:prSet/>
      <dgm:spPr/>
      <dgm:t>
        <a:bodyPr/>
        <a:lstStyle/>
        <a:p>
          <a:endParaRPr lang="en-US"/>
        </a:p>
      </dgm:t>
    </dgm:pt>
    <dgm:pt modelId="{D7839368-4BDA-4F70-BAA7-9CCF2FBED404}" type="sibTrans" cxnId="{EE52DB77-B34C-420B-97CE-0EBF4FD99AFC}">
      <dgm:prSet/>
      <dgm:spPr/>
      <dgm:t>
        <a:bodyPr/>
        <a:lstStyle/>
        <a:p>
          <a:endParaRPr lang="en-US"/>
        </a:p>
      </dgm:t>
    </dgm:pt>
    <dgm:pt modelId="{123C32EA-F9A0-4EC8-9DBE-5BE63D0353B1}">
      <dgm:prSet phldrT="[Text]" custT="1"/>
      <dgm:spPr/>
      <dgm:t>
        <a:bodyPr/>
        <a:lstStyle/>
        <a:p>
          <a:r>
            <a:rPr lang="en-GB" sz="1400"/>
            <a:t>Define your </a:t>
          </a:r>
          <a:r>
            <a:rPr lang="en-GB" sz="1400" b="1"/>
            <a:t>target audience</a:t>
          </a:r>
          <a:r>
            <a:rPr lang="en-GB" sz="1400"/>
            <a:t>: who do you want in the room, and why?</a:t>
          </a:r>
          <a:endParaRPr lang="en-US" sz="1400"/>
        </a:p>
      </dgm:t>
    </dgm:pt>
    <dgm:pt modelId="{279972CA-77DD-4013-9ABC-2FFCF5CE7BF5}" type="parTrans" cxnId="{FE85E6B2-2816-449F-AA28-4015737D7376}">
      <dgm:prSet/>
      <dgm:spPr/>
      <dgm:t>
        <a:bodyPr/>
        <a:lstStyle/>
        <a:p>
          <a:endParaRPr lang="en-US"/>
        </a:p>
      </dgm:t>
    </dgm:pt>
    <dgm:pt modelId="{EA3EB364-F74C-42C7-AB01-9232BD5050F7}" type="sibTrans" cxnId="{FE85E6B2-2816-449F-AA28-4015737D7376}">
      <dgm:prSet/>
      <dgm:spPr/>
      <dgm:t>
        <a:bodyPr/>
        <a:lstStyle/>
        <a:p>
          <a:endParaRPr lang="en-US"/>
        </a:p>
      </dgm:t>
    </dgm:pt>
    <dgm:pt modelId="{3580D626-A64D-471E-9594-829B7E1D39B6}">
      <dgm:prSet phldrT="[Text]" custT="1"/>
      <dgm:spPr/>
      <dgm:t>
        <a:bodyPr/>
        <a:lstStyle/>
        <a:p>
          <a:r>
            <a:rPr lang="en-US" sz="5000"/>
            <a:t>What?</a:t>
          </a:r>
        </a:p>
      </dgm:t>
    </dgm:pt>
    <dgm:pt modelId="{36EE1542-F9D8-4B5D-B151-797CBE8650FA}" type="parTrans" cxnId="{8ECE9724-DE90-4A55-BE6B-1D1CA7F8BCE5}">
      <dgm:prSet/>
      <dgm:spPr/>
      <dgm:t>
        <a:bodyPr/>
        <a:lstStyle/>
        <a:p>
          <a:endParaRPr lang="en-US"/>
        </a:p>
      </dgm:t>
    </dgm:pt>
    <dgm:pt modelId="{6C932639-E0F8-4243-8767-9E488D56E8A7}" type="sibTrans" cxnId="{8ECE9724-DE90-4A55-BE6B-1D1CA7F8BCE5}">
      <dgm:prSet/>
      <dgm:spPr/>
      <dgm:t>
        <a:bodyPr/>
        <a:lstStyle/>
        <a:p>
          <a:endParaRPr lang="en-US"/>
        </a:p>
      </dgm:t>
    </dgm:pt>
    <dgm:pt modelId="{C6C7C01E-E506-4F14-A953-0DE599007380}">
      <dgm:prSet phldrT="[Text]" custT="1"/>
      <dgm:spPr/>
      <dgm:t>
        <a:bodyPr/>
        <a:lstStyle/>
        <a:p>
          <a:r>
            <a:rPr lang="en-GB" sz="1400" b="0"/>
            <a:t>What</a:t>
          </a:r>
          <a:r>
            <a:rPr lang="en-GB" sz="1400" b="1"/>
            <a:t> format </a:t>
          </a:r>
          <a:r>
            <a:rPr lang="en-GB" sz="1400"/>
            <a:t>will best fit this event and the audience you are trying to appeal to and enable you to achieve your objectives?</a:t>
          </a:r>
          <a:endParaRPr lang="en-US" sz="1400"/>
        </a:p>
      </dgm:t>
    </dgm:pt>
    <dgm:pt modelId="{3C027C7C-2974-49F5-88E1-CCAE413B70CD}" type="parTrans" cxnId="{25542B81-4470-40FF-B0AC-515B70890BC5}">
      <dgm:prSet/>
      <dgm:spPr/>
      <dgm:t>
        <a:bodyPr/>
        <a:lstStyle/>
        <a:p>
          <a:endParaRPr lang="en-US"/>
        </a:p>
      </dgm:t>
    </dgm:pt>
    <dgm:pt modelId="{AD7E8C46-3C91-4CE9-8A2C-E6ECB37A835B}" type="sibTrans" cxnId="{25542B81-4470-40FF-B0AC-515B70890BC5}">
      <dgm:prSet/>
      <dgm:spPr/>
      <dgm:t>
        <a:bodyPr/>
        <a:lstStyle/>
        <a:p>
          <a:endParaRPr lang="en-US"/>
        </a:p>
      </dgm:t>
    </dgm:pt>
    <dgm:pt modelId="{9A326DDB-8845-488B-B5CF-1B5BEBCC63AD}">
      <dgm:prSet phldrT="[Text]" custT="1"/>
      <dgm:spPr/>
      <dgm:t>
        <a:bodyPr/>
        <a:lstStyle/>
        <a:p>
          <a:r>
            <a:rPr lang="en-GB" sz="1400"/>
            <a:t>Also ask yourself the question - </a:t>
          </a:r>
          <a:r>
            <a:rPr lang="en-GB" sz="1400" b="1"/>
            <a:t>is an event the best format </a:t>
          </a:r>
          <a:r>
            <a:rPr lang="en-GB" sz="1400"/>
            <a:t>/ channel to achieve these goals?</a:t>
          </a:r>
          <a:endParaRPr lang="en-US" sz="1400"/>
        </a:p>
      </dgm:t>
    </dgm:pt>
    <dgm:pt modelId="{5B78C3BE-485E-4406-8E43-5A9C2E4D8F72}" type="parTrans" cxnId="{0E6BFF66-ECA8-41F4-A6DC-910C9BA99017}">
      <dgm:prSet/>
      <dgm:spPr/>
      <dgm:t>
        <a:bodyPr/>
        <a:lstStyle/>
        <a:p>
          <a:endParaRPr lang="en-US"/>
        </a:p>
      </dgm:t>
    </dgm:pt>
    <dgm:pt modelId="{0AF03077-DA38-4B39-9055-D52625BD949B}" type="sibTrans" cxnId="{0E6BFF66-ECA8-41F4-A6DC-910C9BA99017}">
      <dgm:prSet/>
      <dgm:spPr/>
      <dgm:t>
        <a:bodyPr/>
        <a:lstStyle/>
        <a:p>
          <a:endParaRPr lang="en-US"/>
        </a:p>
      </dgm:t>
    </dgm:pt>
    <dgm:pt modelId="{9EF0B82F-A4CD-401D-B621-940A9F054B53}">
      <dgm:prSet phldrT="[Text]" custT="1"/>
      <dgm:spPr/>
      <dgm:t>
        <a:bodyPr/>
        <a:lstStyle/>
        <a:p>
          <a:r>
            <a:rPr lang="en-GB" sz="1400"/>
            <a:t>Before doing anything else, ensure that you </a:t>
          </a:r>
          <a:r>
            <a:rPr lang="en-GB" sz="1400" b="1"/>
            <a:t>are clear about the purpose of the event and what you want to achieve</a:t>
          </a:r>
          <a:endParaRPr lang="en-US" sz="1400" b="1"/>
        </a:p>
      </dgm:t>
    </dgm:pt>
    <dgm:pt modelId="{95E52A70-3B57-428D-8F55-DC94101FBFA9}" type="parTrans" cxnId="{89B1BD17-07DC-4C85-AF9F-D1BE93FA8199}">
      <dgm:prSet/>
      <dgm:spPr/>
      <dgm:t>
        <a:bodyPr/>
        <a:lstStyle/>
        <a:p>
          <a:endParaRPr lang="en-US"/>
        </a:p>
      </dgm:t>
    </dgm:pt>
    <dgm:pt modelId="{F1F21C48-5BE1-49B3-A199-A7C544AF3F75}" type="sibTrans" cxnId="{89B1BD17-07DC-4C85-AF9F-D1BE93FA8199}">
      <dgm:prSet/>
      <dgm:spPr/>
      <dgm:t>
        <a:bodyPr/>
        <a:lstStyle/>
        <a:p>
          <a:endParaRPr lang="en-US"/>
        </a:p>
      </dgm:t>
    </dgm:pt>
    <dgm:pt modelId="{1CB82813-387A-441F-A754-C0AC835A1E0D}">
      <dgm:prSet phldrT="[Text]" custT="1"/>
      <dgm:spPr/>
      <dgm:t>
        <a:bodyPr/>
        <a:lstStyle/>
        <a:p>
          <a:r>
            <a:rPr lang="en-GB" sz="1400"/>
            <a:t>What is the size of your invitation list and </a:t>
          </a:r>
          <a:r>
            <a:rPr lang="en-GB" sz="1400" b="1"/>
            <a:t>how many </a:t>
          </a:r>
          <a:r>
            <a:rPr lang="en-GB" sz="1400"/>
            <a:t>do you expect to register and attend (allowing for no show rate)?</a:t>
          </a:r>
          <a:endParaRPr lang="en-US" sz="1400"/>
        </a:p>
      </dgm:t>
    </dgm:pt>
    <dgm:pt modelId="{020D02BF-CE11-4720-BB3D-E82868F59318}" type="parTrans" cxnId="{EF6F7E1F-8371-43AE-A492-619E8952FE60}">
      <dgm:prSet/>
      <dgm:spPr/>
      <dgm:t>
        <a:bodyPr/>
        <a:lstStyle/>
        <a:p>
          <a:endParaRPr lang="en-US"/>
        </a:p>
      </dgm:t>
    </dgm:pt>
    <dgm:pt modelId="{A493822B-D550-41A4-83E3-F2096D7C11CC}" type="sibTrans" cxnId="{EF6F7E1F-8371-43AE-A492-619E8952FE60}">
      <dgm:prSet/>
      <dgm:spPr/>
      <dgm:t>
        <a:bodyPr/>
        <a:lstStyle/>
        <a:p>
          <a:endParaRPr lang="en-US"/>
        </a:p>
      </dgm:t>
    </dgm:pt>
    <dgm:pt modelId="{6385FC77-1ADF-4AC3-B85A-D4116447DAF8}">
      <dgm:prSet phldrT="[Text]" custT="1"/>
      <dgm:spPr/>
      <dgm:t>
        <a:bodyPr/>
        <a:lstStyle/>
        <a:p>
          <a:r>
            <a:rPr lang="en-GB" sz="1400" b="0"/>
            <a:t>Who will you invite to </a:t>
          </a:r>
          <a:r>
            <a:rPr lang="en-GB" sz="1400" b="1"/>
            <a:t>speak </a:t>
          </a:r>
          <a:r>
            <a:rPr lang="en-GB" sz="1400"/>
            <a:t>at the event?</a:t>
          </a:r>
          <a:endParaRPr lang="en-US" sz="1400"/>
        </a:p>
      </dgm:t>
    </dgm:pt>
    <dgm:pt modelId="{CFB6DAC7-C222-411C-9B79-BF668826FB38}" type="parTrans" cxnId="{1AC6D3CC-851E-4AD8-807A-3E3BA4A47E5D}">
      <dgm:prSet/>
      <dgm:spPr/>
      <dgm:t>
        <a:bodyPr/>
        <a:lstStyle/>
        <a:p>
          <a:endParaRPr lang="en-US"/>
        </a:p>
      </dgm:t>
    </dgm:pt>
    <dgm:pt modelId="{4A6A60DF-1E93-48EF-86C5-2AE975C1CE3E}" type="sibTrans" cxnId="{1AC6D3CC-851E-4AD8-807A-3E3BA4A47E5D}">
      <dgm:prSet/>
      <dgm:spPr/>
      <dgm:t>
        <a:bodyPr/>
        <a:lstStyle/>
        <a:p>
          <a:endParaRPr lang="en-US"/>
        </a:p>
      </dgm:t>
    </dgm:pt>
    <dgm:pt modelId="{FE5058E5-14A1-4571-BE8C-CF4B1E0B7898}">
      <dgm:prSet phldrT="[Text]" custT="1"/>
      <dgm:spPr/>
      <dgm:t>
        <a:bodyPr/>
        <a:lstStyle/>
        <a:p>
          <a:r>
            <a:rPr lang="en-GB" sz="1400"/>
            <a:t>Should it be </a:t>
          </a:r>
          <a:r>
            <a:rPr lang="en-GB" sz="1400" b="1"/>
            <a:t>in-person</a:t>
          </a:r>
          <a:r>
            <a:rPr lang="en-GB" sz="1400"/>
            <a:t> only, </a:t>
          </a:r>
          <a:r>
            <a:rPr lang="en-GB" sz="1400" b="1"/>
            <a:t>virtual</a:t>
          </a:r>
          <a:r>
            <a:rPr lang="en-GB" sz="1400"/>
            <a:t>, or </a:t>
          </a:r>
          <a:r>
            <a:rPr lang="en-GB" sz="1400" b="1"/>
            <a:t>hybrid</a:t>
          </a:r>
          <a:r>
            <a:rPr lang="en-GB" sz="1400"/>
            <a:t>?</a:t>
          </a:r>
          <a:endParaRPr lang="en-US" sz="1400"/>
        </a:p>
      </dgm:t>
    </dgm:pt>
    <dgm:pt modelId="{E4776D84-C61D-4E0C-931C-6316FD2DF68C}" type="parTrans" cxnId="{10FF5D74-92C7-4F0E-B8CA-ED2183B1CA08}">
      <dgm:prSet/>
      <dgm:spPr/>
      <dgm:t>
        <a:bodyPr/>
        <a:lstStyle/>
        <a:p>
          <a:endParaRPr lang="en-US"/>
        </a:p>
      </dgm:t>
    </dgm:pt>
    <dgm:pt modelId="{6DF016BB-1042-4C91-AAC4-69A2160FF6A5}" type="sibTrans" cxnId="{10FF5D74-92C7-4F0E-B8CA-ED2183B1CA08}">
      <dgm:prSet/>
      <dgm:spPr/>
      <dgm:t>
        <a:bodyPr/>
        <a:lstStyle/>
        <a:p>
          <a:endParaRPr lang="en-US"/>
        </a:p>
      </dgm:t>
    </dgm:pt>
    <dgm:pt modelId="{687EF676-67BC-4E5B-A1B1-AE177D747F60}">
      <dgm:prSet phldrT="[Text]" custT="1"/>
      <dgm:spPr/>
      <dgm:t>
        <a:bodyPr/>
        <a:lstStyle/>
        <a:p>
          <a:r>
            <a:rPr lang="en-GB" sz="1400"/>
            <a:t>What is the</a:t>
          </a:r>
          <a:r>
            <a:rPr lang="en-GB" sz="1400" b="1"/>
            <a:t> content</a:t>
          </a:r>
          <a:r>
            <a:rPr lang="en-GB" sz="1400"/>
            <a:t>? Is it compelling?</a:t>
          </a:r>
          <a:endParaRPr lang="en-US" sz="1400"/>
        </a:p>
      </dgm:t>
    </dgm:pt>
    <dgm:pt modelId="{DC607BB2-7FC7-4769-9070-6197630570BA}" type="parTrans" cxnId="{C6C1D070-6572-48CD-92B4-E3992AA48078}">
      <dgm:prSet/>
      <dgm:spPr/>
      <dgm:t>
        <a:bodyPr/>
        <a:lstStyle/>
        <a:p>
          <a:endParaRPr lang="en-US"/>
        </a:p>
      </dgm:t>
    </dgm:pt>
    <dgm:pt modelId="{9EED67E4-AFF8-4D70-AF4F-9B83B530A9B6}" type="sibTrans" cxnId="{C6C1D070-6572-48CD-92B4-E3992AA48078}">
      <dgm:prSet/>
      <dgm:spPr/>
      <dgm:t>
        <a:bodyPr/>
        <a:lstStyle/>
        <a:p>
          <a:endParaRPr lang="en-US"/>
        </a:p>
      </dgm:t>
    </dgm:pt>
    <dgm:pt modelId="{64DA3EC9-4EB7-43FA-85EB-380CEACED125}">
      <dgm:prSet phldrT="[Text]" custT="1"/>
      <dgm:spPr/>
      <dgm:t>
        <a:bodyPr/>
        <a:lstStyle/>
        <a:p>
          <a:r>
            <a:rPr lang="en-GB" sz="1400"/>
            <a:t>What are the </a:t>
          </a:r>
          <a:r>
            <a:rPr lang="en-GB" sz="1400" b="1"/>
            <a:t>key things </a:t>
          </a:r>
          <a:r>
            <a:rPr lang="en-GB" sz="1400"/>
            <a:t>you want attendees to walk away with? What do you want them to think, feel, do?</a:t>
          </a:r>
          <a:endParaRPr lang="en-US" sz="1400"/>
        </a:p>
      </dgm:t>
    </dgm:pt>
    <dgm:pt modelId="{A082C93F-7B4C-4A65-B58F-CFB92660681A}" type="parTrans" cxnId="{85A2729C-38C1-4E40-B037-5D17E6F3229B}">
      <dgm:prSet/>
      <dgm:spPr/>
      <dgm:t>
        <a:bodyPr/>
        <a:lstStyle/>
        <a:p>
          <a:endParaRPr lang="en-US"/>
        </a:p>
      </dgm:t>
    </dgm:pt>
    <dgm:pt modelId="{5B296081-2D36-44B4-A52E-41663785D71C}" type="sibTrans" cxnId="{85A2729C-38C1-4E40-B037-5D17E6F3229B}">
      <dgm:prSet/>
      <dgm:spPr/>
      <dgm:t>
        <a:bodyPr/>
        <a:lstStyle/>
        <a:p>
          <a:endParaRPr lang="en-US"/>
        </a:p>
      </dgm:t>
    </dgm:pt>
    <dgm:pt modelId="{B0533F9D-A909-4641-BB4B-B86D1E44A91A}">
      <dgm:prSet phldrT="[Text]" custT="1"/>
      <dgm:spPr/>
      <dgm:t>
        <a:bodyPr/>
        <a:lstStyle/>
        <a:p>
          <a:endParaRPr lang="en-US" sz="1400" b="1"/>
        </a:p>
      </dgm:t>
    </dgm:pt>
    <dgm:pt modelId="{8CFF8948-38A5-4646-81C2-A298839498B2}" type="parTrans" cxnId="{EBA1F75F-D0A5-4762-B35F-952E6F1E8B6C}">
      <dgm:prSet/>
      <dgm:spPr/>
      <dgm:t>
        <a:bodyPr/>
        <a:lstStyle/>
        <a:p>
          <a:endParaRPr lang="en-US"/>
        </a:p>
      </dgm:t>
    </dgm:pt>
    <dgm:pt modelId="{E7A4AF2F-6173-4292-BA17-A99BF0018137}" type="sibTrans" cxnId="{EBA1F75F-D0A5-4762-B35F-952E6F1E8B6C}">
      <dgm:prSet/>
      <dgm:spPr/>
      <dgm:t>
        <a:bodyPr/>
        <a:lstStyle/>
        <a:p>
          <a:endParaRPr lang="en-US"/>
        </a:p>
      </dgm:t>
    </dgm:pt>
    <dgm:pt modelId="{043FEEA8-19E5-4BBF-A047-E84CB168568A}">
      <dgm:prSet phldrT="[Text]" custT="1"/>
      <dgm:spPr/>
      <dgm:t>
        <a:bodyPr/>
        <a:lstStyle/>
        <a:p>
          <a:endParaRPr lang="en-US" sz="1400" b="1"/>
        </a:p>
      </dgm:t>
    </dgm:pt>
    <dgm:pt modelId="{6879BF73-9CC2-4E1A-9D9F-530CBC60134E}" type="parTrans" cxnId="{ACDF42DE-E30F-4CB8-9546-7DA824987266}">
      <dgm:prSet/>
      <dgm:spPr/>
      <dgm:t>
        <a:bodyPr/>
        <a:lstStyle/>
        <a:p>
          <a:endParaRPr lang="en-US"/>
        </a:p>
      </dgm:t>
    </dgm:pt>
    <dgm:pt modelId="{413399B4-6935-4C59-8501-F298297A9783}" type="sibTrans" cxnId="{ACDF42DE-E30F-4CB8-9546-7DA824987266}">
      <dgm:prSet/>
      <dgm:spPr/>
      <dgm:t>
        <a:bodyPr/>
        <a:lstStyle/>
        <a:p>
          <a:endParaRPr lang="en-US"/>
        </a:p>
      </dgm:t>
    </dgm:pt>
    <dgm:pt modelId="{396662F3-C123-4748-8AC6-3791F2647A91}">
      <dgm:prSet phldrT="[Text]" custT="1"/>
      <dgm:spPr/>
      <dgm:t>
        <a:bodyPr/>
        <a:lstStyle/>
        <a:p>
          <a:endParaRPr lang="en-US" sz="1400"/>
        </a:p>
      </dgm:t>
    </dgm:pt>
    <dgm:pt modelId="{29905190-1E42-4287-B318-C1CB64D5D7AB}" type="parTrans" cxnId="{B1DC0EC2-0DA7-4703-8661-AEA30305FC07}">
      <dgm:prSet/>
      <dgm:spPr/>
      <dgm:t>
        <a:bodyPr/>
        <a:lstStyle/>
        <a:p>
          <a:endParaRPr lang="en-US"/>
        </a:p>
      </dgm:t>
    </dgm:pt>
    <dgm:pt modelId="{3020572A-9105-4AC8-AB55-E6D2B4D2A49E}" type="sibTrans" cxnId="{B1DC0EC2-0DA7-4703-8661-AEA30305FC07}">
      <dgm:prSet/>
      <dgm:spPr/>
      <dgm:t>
        <a:bodyPr/>
        <a:lstStyle/>
        <a:p>
          <a:endParaRPr lang="en-US"/>
        </a:p>
      </dgm:t>
    </dgm:pt>
    <dgm:pt modelId="{AD946470-0B4E-4863-829E-ADA3C83E2521}">
      <dgm:prSet phldrT="[Text]" custT="1"/>
      <dgm:spPr/>
      <dgm:t>
        <a:bodyPr/>
        <a:lstStyle/>
        <a:p>
          <a:endParaRPr lang="en-US" sz="1400"/>
        </a:p>
      </dgm:t>
    </dgm:pt>
    <dgm:pt modelId="{4C423BD6-0A69-48AC-B44A-C836AD3B084F}" type="parTrans" cxnId="{2647E958-E3C9-42F0-81AA-25A4E1517CB9}">
      <dgm:prSet/>
      <dgm:spPr/>
      <dgm:t>
        <a:bodyPr/>
        <a:lstStyle/>
        <a:p>
          <a:endParaRPr lang="en-US"/>
        </a:p>
      </dgm:t>
    </dgm:pt>
    <dgm:pt modelId="{11D8CF62-D746-4E74-AF91-B55A0BAC155F}" type="sibTrans" cxnId="{2647E958-E3C9-42F0-81AA-25A4E1517CB9}">
      <dgm:prSet/>
      <dgm:spPr/>
      <dgm:t>
        <a:bodyPr/>
        <a:lstStyle/>
        <a:p>
          <a:endParaRPr lang="en-US"/>
        </a:p>
      </dgm:t>
    </dgm:pt>
    <dgm:pt modelId="{061DE20E-1483-492F-BDD2-3C04C3FFCB38}">
      <dgm:prSet phldrT="[Text]" custT="1"/>
      <dgm:spPr/>
      <dgm:t>
        <a:bodyPr/>
        <a:lstStyle/>
        <a:p>
          <a:endParaRPr lang="en-US" sz="1400"/>
        </a:p>
      </dgm:t>
    </dgm:pt>
    <dgm:pt modelId="{39435DC1-55C0-4B2F-A57A-04B1E50B7A98}" type="parTrans" cxnId="{6FAFBEE4-36D5-49AA-A8FE-979DE1524EEF}">
      <dgm:prSet/>
      <dgm:spPr/>
      <dgm:t>
        <a:bodyPr/>
        <a:lstStyle/>
        <a:p>
          <a:endParaRPr lang="en-US"/>
        </a:p>
      </dgm:t>
    </dgm:pt>
    <dgm:pt modelId="{35292092-4C3E-4D6A-A0AC-6CE8BBB3C09C}" type="sibTrans" cxnId="{6FAFBEE4-36D5-49AA-A8FE-979DE1524EEF}">
      <dgm:prSet/>
      <dgm:spPr/>
      <dgm:t>
        <a:bodyPr/>
        <a:lstStyle/>
        <a:p>
          <a:endParaRPr lang="en-US"/>
        </a:p>
      </dgm:t>
    </dgm:pt>
    <dgm:pt modelId="{65E8160A-4825-4FD0-9420-108ACA047DF6}">
      <dgm:prSet phldrT="[Text]" custT="1"/>
      <dgm:spPr/>
      <dgm:t>
        <a:bodyPr/>
        <a:lstStyle/>
        <a:p>
          <a:endParaRPr lang="en-US" sz="1400"/>
        </a:p>
      </dgm:t>
    </dgm:pt>
    <dgm:pt modelId="{B3FEACB1-8460-4E8F-A60D-F90C20C3527F}" type="parTrans" cxnId="{D8796662-7C31-4E23-8A92-69837EECA279}">
      <dgm:prSet/>
      <dgm:spPr/>
      <dgm:t>
        <a:bodyPr/>
        <a:lstStyle/>
        <a:p>
          <a:endParaRPr lang="en-US"/>
        </a:p>
      </dgm:t>
    </dgm:pt>
    <dgm:pt modelId="{E91C3E00-7850-4A67-B888-BEAF616D57EF}" type="sibTrans" cxnId="{D8796662-7C31-4E23-8A92-69837EECA279}">
      <dgm:prSet/>
      <dgm:spPr/>
      <dgm:t>
        <a:bodyPr/>
        <a:lstStyle/>
        <a:p>
          <a:endParaRPr lang="en-US"/>
        </a:p>
      </dgm:t>
    </dgm:pt>
    <dgm:pt modelId="{952C938E-415F-461C-80FC-2BBE2D11B7F5}">
      <dgm:prSet phldrT="[Text]" custT="1"/>
      <dgm:spPr/>
      <dgm:t>
        <a:bodyPr/>
        <a:lstStyle/>
        <a:p>
          <a:endParaRPr lang="en-US" sz="1400"/>
        </a:p>
      </dgm:t>
    </dgm:pt>
    <dgm:pt modelId="{9D5BC179-AA2C-4723-9711-624DFC31205A}" type="parTrans" cxnId="{79012B82-2071-4014-A81C-3C8F2C78D680}">
      <dgm:prSet/>
      <dgm:spPr/>
      <dgm:t>
        <a:bodyPr/>
        <a:lstStyle/>
        <a:p>
          <a:endParaRPr lang="en-US"/>
        </a:p>
      </dgm:t>
    </dgm:pt>
    <dgm:pt modelId="{D3F97F36-AF0B-4FE7-9C05-011074A40109}" type="sibTrans" cxnId="{79012B82-2071-4014-A81C-3C8F2C78D680}">
      <dgm:prSet/>
      <dgm:spPr/>
      <dgm:t>
        <a:bodyPr/>
        <a:lstStyle/>
        <a:p>
          <a:endParaRPr lang="en-US"/>
        </a:p>
      </dgm:t>
    </dgm:pt>
    <dgm:pt modelId="{35696452-201C-4F95-B625-90099346FE38}">
      <dgm:prSet phldrT="[Text]" custT="1"/>
      <dgm:spPr/>
      <dgm:t>
        <a:bodyPr/>
        <a:lstStyle/>
        <a:p>
          <a:r>
            <a:rPr lang="en-GB" sz="1400" b="1"/>
            <a:t>Why would your audience want to attend? </a:t>
          </a:r>
          <a:r>
            <a:rPr lang="en-GB" sz="1400"/>
            <a:t>Ensure that you keep their needs &amp; motivations in mind at all times during the event planning</a:t>
          </a:r>
          <a:endParaRPr lang="en-US" sz="1400"/>
        </a:p>
      </dgm:t>
    </dgm:pt>
    <dgm:pt modelId="{DD1BF463-C1E8-4A19-9F40-C56ED8EE0CED}" type="parTrans" cxnId="{2D377B03-A3F5-4FC8-88BA-9BF40B1DE1BE}">
      <dgm:prSet/>
      <dgm:spPr/>
      <dgm:t>
        <a:bodyPr/>
        <a:lstStyle/>
        <a:p>
          <a:endParaRPr lang="en-US"/>
        </a:p>
      </dgm:t>
    </dgm:pt>
    <dgm:pt modelId="{0AC062CE-9CF9-4230-8956-C4B6DBA141BE}" type="sibTrans" cxnId="{2D377B03-A3F5-4FC8-88BA-9BF40B1DE1BE}">
      <dgm:prSet/>
      <dgm:spPr/>
      <dgm:t>
        <a:bodyPr/>
        <a:lstStyle/>
        <a:p>
          <a:endParaRPr lang="en-US"/>
        </a:p>
      </dgm:t>
    </dgm:pt>
    <dgm:pt modelId="{6D1AF70B-2AF7-4F83-A7E6-4DABC6749EB0}">
      <dgm:prSet phldrT="[Text]" custT="1"/>
      <dgm:spPr/>
      <dgm:t>
        <a:bodyPr/>
        <a:lstStyle/>
        <a:p>
          <a:endParaRPr lang="en-US" sz="1400"/>
        </a:p>
      </dgm:t>
    </dgm:pt>
    <dgm:pt modelId="{AE52FC24-50A3-401D-B42C-CFC8DA969131}" type="parTrans" cxnId="{BB508338-E7F0-4EB6-B116-2F569544EB44}">
      <dgm:prSet/>
      <dgm:spPr/>
      <dgm:t>
        <a:bodyPr/>
        <a:lstStyle/>
        <a:p>
          <a:endParaRPr lang="en-US"/>
        </a:p>
      </dgm:t>
    </dgm:pt>
    <dgm:pt modelId="{069FE6BE-6177-4116-AFC9-244C0C033E5D}" type="sibTrans" cxnId="{BB508338-E7F0-4EB6-B116-2F569544EB44}">
      <dgm:prSet/>
      <dgm:spPr/>
      <dgm:t>
        <a:bodyPr/>
        <a:lstStyle/>
        <a:p>
          <a:endParaRPr lang="en-US"/>
        </a:p>
      </dgm:t>
    </dgm:pt>
    <dgm:pt modelId="{C5BB718E-7B6E-4BBB-A806-E624A3F0A392}">
      <dgm:prSet phldrT="[Text]" custT="1"/>
      <dgm:spPr/>
      <dgm:t>
        <a:bodyPr/>
        <a:lstStyle/>
        <a:p>
          <a:r>
            <a:rPr lang="en-US" sz="1400"/>
            <a:t>Have you considered </a:t>
          </a:r>
          <a:r>
            <a:rPr lang="en-US" sz="1400" b="1"/>
            <a:t>all School audiences</a:t>
          </a:r>
          <a:r>
            <a:rPr lang="en-US" sz="1400"/>
            <a:t>? Current and prospective students, alumni, Exec Ed participants, corporate/HR partners, recruiters, staff, faculty</a:t>
          </a:r>
        </a:p>
      </dgm:t>
    </dgm:pt>
    <dgm:pt modelId="{C8148475-2115-47CF-B0C1-217FD36A7E74}" type="parTrans" cxnId="{DCAF0C3B-0562-4E05-935F-D2ED34458FA0}">
      <dgm:prSet/>
      <dgm:spPr/>
      <dgm:t>
        <a:bodyPr/>
        <a:lstStyle/>
        <a:p>
          <a:endParaRPr lang="en-US"/>
        </a:p>
      </dgm:t>
    </dgm:pt>
    <dgm:pt modelId="{46F309D4-6D79-4450-98FE-4298D3941396}" type="sibTrans" cxnId="{DCAF0C3B-0562-4E05-935F-D2ED34458FA0}">
      <dgm:prSet/>
      <dgm:spPr/>
      <dgm:t>
        <a:bodyPr/>
        <a:lstStyle/>
        <a:p>
          <a:endParaRPr lang="en-US"/>
        </a:p>
      </dgm:t>
    </dgm:pt>
    <dgm:pt modelId="{26E5D7F0-DADE-4B90-82C3-CCC2B251ADB3}">
      <dgm:prSet phldrT="[Text]" custT="1"/>
      <dgm:spPr/>
      <dgm:t>
        <a:bodyPr/>
        <a:lstStyle/>
        <a:p>
          <a:endParaRPr lang="en-US" sz="1400"/>
        </a:p>
      </dgm:t>
    </dgm:pt>
    <dgm:pt modelId="{25227103-FFB0-42FE-8642-04B26052D044}" type="parTrans" cxnId="{EAA223E9-2EB0-4D24-8BE0-FFFE70F9C948}">
      <dgm:prSet/>
      <dgm:spPr/>
      <dgm:t>
        <a:bodyPr/>
        <a:lstStyle/>
        <a:p>
          <a:endParaRPr lang="en-US"/>
        </a:p>
      </dgm:t>
    </dgm:pt>
    <dgm:pt modelId="{42BF94D2-9223-44E2-8818-96F527EA2441}" type="sibTrans" cxnId="{EAA223E9-2EB0-4D24-8BE0-FFFE70F9C948}">
      <dgm:prSet/>
      <dgm:spPr/>
      <dgm:t>
        <a:bodyPr/>
        <a:lstStyle/>
        <a:p>
          <a:endParaRPr lang="en-US"/>
        </a:p>
      </dgm:t>
    </dgm:pt>
    <dgm:pt modelId="{1E0C86E3-B4F0-406F-BF4B-4F3BA1FBBCFD}" type="pres">
      <dgm:prSet presAssocID="{B2D918BA-0278-44BF-A470-FE682EE852AE}" presName="Name0" presStyleCnt="0">
        <dgm:presLayoutVars>
          <dgm:dir/>
          <dgm:animLvl val="lvl"/>
          <dgm:resizeHandles val="exact"/>
        </dgm:presLayoutVars>
      </dgm:prSet>
      <dgm:spPr/>
    </dgm:pt>
    <dgm:pt modelId="{9316DDA2-F21E-4B24-B9F7-9701699C1D90}" type="pres">
      <dgm:prSet presAssocID="{56BC3D38-458F-4641-A6F8-3153F43CA601}" presName="composite" presStyleCnt="0"/>
      <dgm:spPr/>
    </dgm:pt>
    <dgm:pt modelId="{0F783982-28EB-43A2-88FB-6B344B538552}" type="pres">
      <dgm:prSet presAssocID="{56BC3D38-458F-4641-A6F8-3153F43CA601}" presName="parTx" presStyleLbl="alignNode1" presStyleIdx="0" presStyleCnt="3" custLinFactNeighborX="166">
        <dgm:presLayoutVars>
          <dgm:chMax val="0"/>
          <dgm:chPref val="0"/>
          <dgm:bulletEnabled val="1"/>
        </dgm:presLayoutVars>
      </dgm:prSet>
      <dgm:spPr/>
    </dgm:pt>
    <dgm:pt modelId="{2D73DAEF-9468-4534-9EC4-625F71FEFEFD}" type="pres">
      <dgm:prSet presAssocID="{56BC3D38-458F-4641-A6F8-3153F43CA601}" presName="desTx" presStyleLbl="alignAccFollowNode1" presStyleIdx="0" presStyleCnt="3" custLinFactNeighborX="166">
        <dgm:presLayoutVars>
          <dgm:bulletEnabled val="1"/>
        </dgm:presLayoutVars>
      </dgm:prSet>
      <dgm:spPr/>
    </dgm:pt>
    <dgm:pt modelId="{BA5EB095-EE2F-44F7-90F2-518562A677B1}" type="pres">
      <dgm:prSet presAssocID="{5A01F238-10B3-4381-B9F1-F8A7993D9582}" presName="space" presStyleCnt="0"/>
      <dgm:spPr/>
    </dgm:pt>
    <dgm:pt modelId="{A97BD1FD-58A3-440F-A066-A54CC035A316}" type="pres">
      <dgm:prSet presAssocID="{1B7F865A-F83E-4CFF-A8A5-C7A25AB95A3A}" presName="composite" presStyleCnt="0"/>
      <dgm:spPr/>
    </dgm:pt>
    <dgm:pt modelId="{B7CD94EC-B5E9-4F88-BE9B-16CE65B3ACE8}" type="pres">
      <dgm:prSet presAssocID="{1B7F865A-F83E-4CFF-A8A5-C7A25AB95A3A}" presName="parTx" presStyleLbl="alignNode1" presStyleIdx="1" presStyleCnt="3" custLinFactNeighborX="166">
        <dgm:presLayoutVars>
          <dgm:chMax val="0"/>
          <dgm:chPref val="0"/>
          <dgm:bulletEnabled val="1"/>
        </dgm:presLayoutVars>
      </dgm:prSet>
      <dgm:spPr/>
    </dgm:pt>
    <dgm:pt modelId="{C32FFEDF-2CFB-4770-86C3-854428CE2FBA}" type="pres">
      <dgm:prSet presAssocID="{1B7F865A-F83E-4CFF-A8A5-C7A25AB95A3A}" presName="desTx" presStyleLbl="alignAccFollowNode1" presStyleIdx="1" presStyleCnt="3" custLinFactNeighborX="166">
        <dgm:presLayoutVars>
          <dgm:bulletEnabled val="1"/>
        </dgm:presLayoutVars>
      </dgm:prSet>
      <dgm:spPr/>
    </dgm:pt>
    <dgm:pt modelId="{60F8B5DD-EC38-4A93-98EE-B3AF62AEC8BC}" type="pres">
      <dgm:prSet presAssocID="{D7839368-4BDA-4F70-BAA7-9CCF2FBED404}" presName="space" presStyleCnt="0"/>
      <dgm:spPr/>
    </dgm:pt>
    <dgm:pt modelId="{E1ED879D-C41A-4AF7-8637-70396301B642}" type="pres">
      <dgm:prSet presAssocID="{3580D626-A64D-471E-9594-829B7E1D39B6}" presName="composite" presStyleCnt="0"/>
      <dgm:spPr/>
    </dgm:pt>
    <dgm:pt modelId="{34B11075-69CD-445C-B11E-19901A749B64}" type="pres">
      <dgm:prSet presAssocID="{3580D626-A64D-471E-9594-829B7E1D39B6}" presName="parTx" presStyleLbl="alignNode1" presStyleIdx="2" presStyleCnt="3" custLinFactNeighborX="166">
        <dgm:presLayoutVars>
          <dgm:chMax val="0"/>
          <dgm:chPref val="0"/>
          <dgm:bulletEnabled val="1"/>
        </dgm:presLayoutVars>
      </dgm:prSet>
      <dgm:spPr/>
    </dgm:pt>
    <dgm:pt modelId="{C56352B1-F741-4F23-89BE-6B3AF09F2A54}" type="pres">
      <dgm:prSet presAssocID="{3580D626-A64D-471E-9594-829B7E1D39B6}" presName="desTx" presStyleLbl="alignAccFollowNode1" presStyleIdx="2" presStyleCnt="3" custLinFactNeighborX="166">
        <dgm:presLayoutVars>
          <dgm:bulletEnabled val="1"/>
        </dgm:presLayoutVars>
      </dgm:prSet>
      <dgm:spPr/>
    </dgm:pt>
  </dgm:ptLst>
  <dgm:cxnLst>
    <dgm:cxn modelId="{2D377B03-A3F5-4FC8-88BA-9BF40B1DE1BE}" srcId="{56BC3D38-458F-4641-A6F8-3153F43CA601}" destId="{35696452-201C-4F95-B625-90099346FE38}" srcOrd="6" destOrd="0" parTransId="{DD1BF463-C1E8-4A19-9F40-C56ED8EE0CED}" sibTransId="{0AC062CE-9CF9-4230-8956-C4B6DBA141BE}"/>
    <dgm:cxn modelId="{6E8F1B04-24B7-4677-BDD9-00CA7EB69ECC}" type="presOf" srcId="{952C938E-415F-461C-80FC-2BBE2D11B7F5}" destId="{C56352B1-F741-4F23-89BE-6B3AF09F2A54}" srcOrd="0" destOrd="5" presId="urn:microsoft.com/office/officeart/2005/8/layout/hList1"/>
    <dgm:cxn modelId="{10D5E404-E539-4B40-9AFE-ABDB172F69B3}" type="presOf" srcId="{6385FC77-1ADF-4AC3-B85A-D4116447DAF8}" destId="{C32FFEDF-2CFB-4770-86C3-854428CE2FBA}" srcOrd="0" destOrd="4" presId="urn:microsoft.com/office/officeart/2005/8/layout/hList1"/>
    <dgm:cxn modelId="{5554A40D-C271-4A9C-86B6-3E0DF90A7514}" type="presOf" srcId="{AD946470-0B4E-4863-829E-ADA3C83E2521}" destId="{C32FFEDF-2CFB-4770-86C3-854428CE2FBA}" srcOrd="0" destOrd="3" presId="urn:microsoft.com/office/officeart/2005/8/layout/hList1"/>
    <dgm:cxn modelId="{89B1BD17-07DC-4C85-AF9F-D1BE93FA8199}" srcId="{56BC3D38-458F-4641-A6F8-3153F43CA601}" destId="{9EF0B82F-A4CD-401D-B621-940A9F054B53}" srcOrd="0" destOrd="0" parTransId="{95E52A70-3B57-428D-8F55-DC94101FBFA9}" sibTransId="{F1F21C48-5BE1-49B3-A199-A7C544AF3F75}"/>
    <dgm:cxn modelId="{EF6F7E1F-8371-43AE-A492-619E8952FE60}" srcId="{1B7F865A-F83E-4CFF-A8A5-C7A25AB95A3A}" destId="{1CB82813-387A-441F-A754-C0AC835A1E0D}" srcOrd="2" destOrd="0" parTransId="{020D02BF-CE11-4720-BB3D-E82868F59318}" sibTransId="{A493822B-D550-41A4-83E3-F2096D7C11CC}"/>
    <dgm:cxn modelId="{8D99B81F-5433-493E-BA32-1EAA6DCA6A1C}" type="presOf" srcId="{396662F3-C123-4748-8AC6-3791F2647A91}" destId="{C32FFEDF-2CFB-4770-86C3-854428CE2FBA}" srcOrd="0" destOrd="1" presId="urn:microsoft.com/office/officeart/2005/8/layout/hList1"/>
    <dgm:cxn modelId="{8ECE9724-DE90-4A55-BE6B-1D1CA7F8BCE5}" srcId="{B2D918BA-0278-44BF-A470-FE682EE852AE}" destId="{3580D626-A64D-471E-9594-829B7E1D39B6}" srcOrd="2" destOrd="0" parTransId="{36EE1542-F9D8-4B5D-B151-797CBE8650FA}" sibTransId="{6C932639-E0F8-4243-8767-9E488D56E8A7}"/>
    <dgm:cxn modelId="{AD34D52B-ECC6-4644-A48A-5578BD52C287}" type="presOf" srcId="{1B7F865A-F83E-4CFF-A8A5-C7A25AB95A3A}" destId="{B7CD94EC-B5E9-4F88-BE9B-16CE65B3ACE8}" srcOrd="0" destOrd="0" presId="urn:microsoft.com/office/officeart/2005/8/layout/hList1"/>
    <dgm:cxn modelId="{80634D34-9AC6-43EE-A852-0CF05A51EFF5}" type="presOf" srcId="{64DA3EC9-4EB7-43FA-85EB-380CEACED125}" destId="{C56352B1-F741-4F23-89BE-6B3AF09F2A54}" srcOrd="0" destOrd="6" presId="urn:microsoft.com/office/officeart/2005/8/layout/hList1"/>
    <dgm:cxn modelId="{BB508338-E7F0-4EB6-B116-2F569544EB44}" srcId="{56BC3D38-458F-4641-A6F8-3153F43CA601}" destId="{6D1AF70B-2AF7-4F83-A7E6-4DABC6749EB0}" srcOrd="5" destOrd="0" parTransId="{AE52FC24-50A3-401D-B42C-CFC8DA969131}" sibTransId="{069FE6BE-6177-4116-AFC9-244C0C033E5D}"/>
    <dgm:cxn modelId="{12DCBC39-5B51-4F6D-8B53-D8156BB11059}" type="presOf" srcId="{687EF676-67BC-4E5B-A1B1-AE177D747F60}" destId="{C56352B1-F741-4F23-89BE-6B3AF09F2A54}" srcOrd="0" destOrd="4" presId="urn:microsoft.com/office/officeart/2005/8/layout/hList1"/>
    <dgm:cxn modelId="{DFC3E539-A375-4380-A15B-337C2B7D765B}" srcId="{B2D918BA-0278-44BF-A470-FE682EE852AE}" destId="{56BC3D38-458F-4641-A6F8-3153F43CA601}" srcOrd="0" destOrd="0" parTransId="{59A86599-FA73-4EA8-920D-97261D3622F4}" sibTransId="{5A01F238-10B3-4381-B9F1-F8A7993D9582}"/>
    <dgm:cxn modelId="{DCAF0C3B-0562-4E05-935F-D2ED34458FA0}" srcId="{1B7F865A-F83E-4CFF-A8A5-C7A25AB95A3A}" destId="{C5BB718E-7B6E-4BBB-A806-E624A3F0A392}" srcOrd="6" destOrd="0" parTransId="{C8148475-2115-47CF-B0C1-217FD36A7E74}" sibTransId="{46F309D4-6D79-4450-98FE-4298D3941396}"/>
    <dgm:cxn modelId="{EBA1F75F-D0A5-4762-B35F-952E6F1E8B6C}" srcId="{56BC3D38-458F-4641-A6F8-3153F43CA601}" destId="{B0533F9D-A909-4641-BB4B-B86D1E44A91A}" srcOrd="1" destOrd="0" parTransId="{8CFF8948-38A5-4646-81C2-A298839498B2}" sibTransId="{E7A4AF2F-6173-4292-BA17-A99BF0018137}"/>
    <dgm:cxn modelId="{D8796662-7C31-4E23-8A92-69837EECA279}" srcId="{3580D626-A64D-471E-9594-829B7E1D39B6}" destId="{65E8160A-4825-4FD0-9420-108ACA047DF6}" srcOrd="3" destOrd="0" parTransId="{B3FEACB1-8460-4E8F-A60D-F90C20C3527F}" sibTransId="{E91C3E00-7850-4A67-B888-BEAF616D57EF}"/>
    <dgm:cxn modelId="{00EE8563-1CEB-4E2C-A0D5-82256F6D40D3}" type="presOf" srcId="{6D1AF70B-2AF7-4F83-A7E6-4DABC6749EB0}" destId="{2D73DAEF-9468-4534-9EC4-625F71FEFEFD}" srcOrd="0" destOrd="5" presId="urn:microsoft.com/office/officeart/2005/8/layout/hList1"/>
    <dgm:cxn modelId="{8405AF43-BB8D-46E9-8AB2-DA3C366943C1}" type="presOf" srcId="{65E8160A-4825-4FD0-9420-108ACA047DF6}" destId="{C56352B1-F741-4F23-89BE-6B3AF09F2A54}" srcOrd="0" destOrd="3" presId="urn:microsoft.com/office/officeart/2005/8/layout/hList1"/>
    <dgm:cxn modelId="{0E6BFF66-ECA8-41F4-A6DC-910C9BA99017}" srcId="{56BC3D38-458F-4641-A6F8-3153F43CA601}" destId="{9A326DDB-8845-488B-B5CF-1B5BEBCC63AD}" srcOrd="4" destOrd="0" parTransId="{5B78C3BE-485E-4406-8E43-5A9C2E4D8F72}" sibTransId="{0AF03077-DA38-4B39-9055-D52625BD949B}"/>
    <dgm:cxn modelId="{0920524E-5DDC-4C52-8ABE-A10A48688A79}" type="presOf" srcId="{9A326DDB-8845-488B-B5CF-1B5BEBCC63AD}" destId="{2D73DAEF-9468-4534-9EC4-625F71FEFEFD}" srcOrd="0" destOrd="4" presId="urn:microsoft.com/office/officeart/2005/8/layout/hList1"/>
    <dgm:cxn modelId="{DD61584F-74AA-442F-BF70-78B3F76C16B8}" srcId="{56BC3D38-458F-4641-A6F8-3153F43CA601}" destId="{33684F97-BEDF-48BB-BAE5-464824F6CED2}" srcOrd="2" destOrd="0" parTransId="{E32F5219-8E56-4370-9611-256746DBD163}" sibTransId="{F23FEF5C-99AE-4EEE-B3AE-E29D7EB19DFF}"/>
    <dgm:cxn modelId="{C6C1D070-6572-48CD-92B4-E3992AA48078}" srcId="{3580D626-A64D-471E-9594-829B7E1D39B6}" destId="{687EF676-67BC-4E5B-A1B1-AE177D747F60}" srcOrd="4" destOrd="0" parTransId="{DC607BB2-7FC7-4769-9070-6197630570BA}" sibTransId="{9EED67E4-AFF8-4D70-AF4F-9B83B530A9B6}"/>
    <dgm:cxn modelId="{F48EE272-F42D-4EAC-8F7E-1CA2C54668C1}" type="presOf" srcId="{B0533F9D-A909-4641-BB4B-B86D1E44A91A}" destId="{2D73DAEF-9468-4534-9EC4-625F71FEFEFD}" srcOrd="0" destOrd="1" presId="urn:microsoft.com/office/officeart/2005/8/layout/hList1"/>
    <dgm:cxn modelId="{10FF5D74-92C7-4F0E-B8CA-ED2183B1CA08}" srcId="{3580D626-A64D-471E-9594-829B7E1D39B6}" destId="{FE5058E5-14A1-4571-BE8C-CF4B1E0B7898}" srcOrd="2" destOrd="0" parTransId="{E4776D84-C61D-4E0C-931C-6316FD2DF68C}" sibTransId="{6DF016BB-1042-4C91-AAC4-69A2160FF6A5}"/>
    <dgm:cxn modelId="{0A217775-F632-4FB0-9C56-DAD1ADDF70A9}" type="presOf" srcId="{35696452-201C-4F95-B625-90099346FE38}" destId="{2D73DAEF-9468-4534-9EC4-625F71FEFEFD}" srcOrd="0" destOrd="6" presId="urn:microsoft.com/office/officeart/2005/8/layout/hList1"/>
    <dgm:cxn modelId="{EE52DB77-B34C-420B-97CE-0EBF4FD99AFC}" srcId="{B2D918BA-0278-44BF-A470-FE682EE852AE}" destId="{1B7F865A-F83E-4CFF-A8A5-C7A25AB95A3A}" srcOrd="1" destOrd="0" parTransId="{5C8717AA-FE97-4BC5-BD2E-CB3F285B4D7B}" sibTransId="{D7839368-4BDA-4F70-BAA7-9CCF2FBED404}"/>
    <dgm:cxn modelId="{2647E958-E3C9-42F0-81AA-25A4E1517CB9}" srcId="{1B7F865A-F83E-4CFF-A8A5-C7A25AB95A3A}" destId="{AD946470-0B4E-4863-829E-ADA3C83E2521}" srcOrd="3" destOrd="0" parTransId="{4C423BD6-0A69-48AC-B44A-C836AD3B084F}" sibTransId="{11D8CF62-D746-4E74-AF91-B55A0BAC155F}"/>
    <dgm:cxn modelId="{25542B81-4470-40FF-B0AC-515B70890BC5}" srcId="{3580D626-A64D-471E-9594-829B7E1D39B6}" destId="{C6C7C01E-E506-4F14-A953-0DE599007380}" srcOrd="0" destOrd="0" parTransId="{3C027C7C-2974-49F5-88E1-CCAE413B70CD}" sibTransId="{AD7E8C46-3C91-4CE9-8A2C-E6ECB37A835B}"/>
    <dgm:cxn modelId="{79012B82-2071-4014-A81C-3C8F2C78D680}" srcId="{3580D626-A64D-471E-9594-829B7E1D39B6}" destId="{952C938E-415F-461C-80FC-2BBE2D11B7F5}" srcOrd="5" destOrd="0" parTransId="{9D5BC179-AA2C-4723-9711-624DFC31205A}" sibTransId="{D3F97F36-AF0B-4FE7-9C05-011074A40109}"/>
    <dgm:cxn modelId="{A342BE8C-70AD-4FC6-8CB4-807A192B9F79}" type="presOf" srcId="{B2D918BA-0278-44BF-A470-FE682EE852AE}" destId="{1E0C86E3-B4F0-406F-BF4B-4F3BA1FBBCFD}" srcOrd="0" destOrd="0" presId="urn:microsoft.com/office/officeart/2005/8/layout/hList1"/>
    <dgm:cxn modelId="{E3D9FE99-F0A0-4CDA-9455-778D95ABED77}" type="presOf" srcId="{56BC3D38-458F-4641-A6F8-3153F43CA601}" destId="{0F783982-28EB-43A2-88FB-6B344B538552}" srcOrd="0" destOrd="0" presId="urn:microsoft.com/office/officeart/2005/8/layout/hList1"/>
    <dgm:cxn modelId="{85A2729C-38C1-4E40-B037-5D17E6F3229B}" srcId="{3580D626-A64D-471E-9594-829B7E1D39B6}" destId="{64DA3EC9-4EB7-43FA-85EB-380CEACED125}" srcOrd="6" destOrd="0" parTransId="{A082C93F-7B4C-4A65-B58F-CFB92660681A}" sibTransId="{5B296081-2D36-44B4-A52E-41663785D71C}"/>
    <dgm:cxn modelId="{720AD6A6-409E-40BA-B5B6-493E9B4AF548}" type="presOf" srcId="{C5BB718E-7B6E-4BBB-A806-E624A3F0A392}" destId="{C32FFEDF-2CFB-4770-86C3-854428CE2FBA}" srcOrd="0" destOrd="6" presId="urn:microsoft.com/office/officeart/2005/8/layout/hList1"/>
    <dgm:cxn modelId="{372365AE-CCBF-475E-8FCD-57148BE8365D}" type="presOf" srcId="{043FEEA8-19E5-4BBF-A047-E84CB168568A}" destId="{2D73DAEF-9468-4534-9EC4-625F71FEFEFD}" srcOrd="0" destOrd="3" presId="urn:microsoft.com/office/officeart/2005/8/layout/hList1"/>
    <dgm:cxn modelId="{FE85E6B2-2816-449F-AA28-4015737D7376}" srcId="{1B7F865A-F83E-4CFF-A8A5-C7A25AB95A3A}" destId="{123C32EA-F9A0-4EC8-9DBE-5BE63D0353B1}" srcOrd="0" destOrd="0" parTransId="{279972CA-77DD-4013-9ABC-2FFCF5CE7BF5}" sibTransId="{EA3EB364-F74C-42C7-AB01-9232BD5050F7}"/>
    <dgm:cxn modelId="{39D6F4B4-CAF9-4373-81E4-9776CFF4BDEB}" type="presOf" srcId="{FE5058E5-14A1-4571-BE8C-CF4B1E0B7898}" destId="{C56352B1-F741-4F23-89BE-6B3AF09F2A54}" srcOrd="0" destOrd="2" presId="urn:microsoft.com/office/officeart/2005/8/layout/hList1"/>
    <dgm:cxn modelId="{2A5C3DB6-25DB-4CC8-86BE-848461372008}" type="presOf" srcId="{33684F97-BEDF-48BB-BAE5-464824F6CED2}" destId="{2D73DAEF-9468-4534-9EC4-625F71FEFEFD}" srcOrd="0" destOrd="2" presId="urn:microsoft.com/office/officeart/2005/8/layout/hList1"/>
    <dgm:cxn modelId="{B1DC0EC2-0DA7-4703-8661-AEA30305FC07}" srcId="{1B7F865A-F83E-4CFF-A8A5-C7A25AB95A3A}" destId="{396662F3-C123-4748-8AC6-3791F2647A91}" srcOrd="1" destOrd="0" parTransId="{29905190-1E42-4287-B318-C1CB64D5D7AB}" sibTransId="{3020572A-9105-4AC8-AB55-E6D2B4D2A49E}"/>
    <dgm:cxn modelId="{6268FFC3-3544-412B-9C5F-D41B566D99FE}" type="presOf" srcId="{3580D626-A64D-471E-9594-829B7E1D39B6}" destId="{34B11075-69CD-445C-B11E-19901A749B64}" srcOrd="0" destOrd="0" presId="urn:microsoft.com/office/officeart/2005/8/layout/hList1"/>
    <dgm:cxn modelId="{2CD566C5-30F9-46DA-AD53-362C6979DBE1}" type="presOf" srcId="{061DE20E-1483-492F-BDD2-3C04C3FFCB38}" destId="{C56352B1-F741-4F23-89BE-6B3AF09F2A54}" srcOrd="0" destOrd="1" presId="urn:microsoft.com/office/officeart/2005/8/layout/hList1"/>
    <dgm:cxn modelId="{F99BFCC6-262B-45ED-8972-9B8B29F00017}" type="presOf" srcId="{26E5D7F0-DADE-4B90-82C3-CCC2B251ADB3}" destId="{C32FFEDF-2CFB-4770-86C3-854428CE2FBA}" srcOrd="0" destOrd="5" presId="urn:microsoft.com/office/officeart/2005/8/layout/hList1"/>
    <dgm:cxn modelId="{592189CA-1456-4736-A5E2-1BB2ABEB136D}" type="presOf" srcId="{C6C7C01E-E506-4F14-A953-0DE599007380}" destId="{C56352B1-F741-4F23-89BE-6B3AF09F2A54}" srcOrd="0" destOrd="0" presId="urn:microsoft.com/office/officeart/2005/8/layout/hList1"/>
    <dgm:cxn modelId="{1AC6D3CC-851E-4AD8-807A-3E3BA4A47E5D}" srcId="{1B7F865A-F83E-4CFF-A8A5-C7A25AB95A3A}" destId="{6385FC77-1ADF-4AC3-B85A-D4116447DAF8}" srcOrd="4" destOrd="0" parTransId="{CFB6DAC7-C222-411C-9B79-BF668826FB38}" sibTransId="{4A6A60DF-1E93-48EF-86C5-2AE975C1CE3E}"/>
    <dgm:cxn modelId="{ACDF42DE-E30F-4CB8-9546-7DA824987266}" srcId="{56BC3D38-458F-4641-A6F8-3153F43CA601}" destId="{043FEEA8-19E5-4BBF-A047-E84CB168568A}" srcOrd="3" destOrd="0" parTransId="{6879BF73-9CC2-4E1A-9D9F-530CBC60134E}" sibTransId="{413399B4-6935-4C59-8501-F298297A9783}"/>
    <dgm:cxn modelId="{6FAFBEE4-36D5-49AA-A8FE-979DE1524EEF}" srcId="{3580D626-A64D-471E-9594-829B7E1D39B6}" destId="{061DE20E-1483-492F-BDD2-3C04C3FFCB38}" srcOrd="1" destOrd="0" parTransId="{39435DC1-55C0-4B2F-A57A-04B1E50B7A98}" sibTransId="{35292092-4C3E-4D6A-A0AC-6CE8BBB3C09C}"/>
    <dgm:cxn modelId="{EAA223E9-2EB0-4D24-8BE0-FFFE70F9C948}" srcId="{1B7F865A-F83E-4CFF-A8A5-C7A25AB95A3A}" destId="{26E5D7F0-DADE-4B90-82C3-CCC2B251ADB3}" srcOrd="5" destOrd="0" parTransId="{25227103-FFB0-42FE-8642-04B26052D044}" sibTransId="{42BF94D2-9223-44E2-8818-96F527EA2441}"/>
    <dgm:cxn modelId="{871F5BEA-5224-46D1-B8D7-1CBEBF9C149F}" type="presOf" srcId="{9EF0B82F-A4CD-401D-B621-940A9F054B53}" destId="{2D73DAEF-9468-4534-9EC4-625F71FEFEFD}" srcOrd="0" destOrd="0" presId="urn:microsoft.com/office/officeart/2005/8/layout/hList1"/>
    <dgm:cxn modelId="{88F6C4FC-74DA-4656-BAF6-45C82D014C1D}" type="presOf" srcId="{1CB82813-387A-441F-A754-C0AC835A1E0D}" destId="{C32FFEDF-2CFB-4770-86C3-854428CE2FBA}" srcOrd="0" destOrd="2" presId="urn:microsoft.com/office/officeart/2005/8/layout/hList1"/>
    <dgm:cxn modelId="{7B4F51FE-40C4-4CED-936E-FE8691C973FF}" type="presOf" srcId="{123C32EA-F9A0-4EC8-9DBE-5BE63D0353B1}" destId="{C32FFEDF-2CFB-4770-86C3-854428CE2FBA}" srcOrd="0" destOrd="0" presId="urn:microsoft.com/office/officeart/2005/8/layout/hList1"/>
    <dgm:cxn modelId="{02D6564B-EF66-4430-A40A-DBEA1386EE9E}" type="presParOf" srcId="{1E0C86E3-B4F0-406F-BF4B-4F3BA1FBBCFD}" destId="{9316DDA2-F21E-4B24-B9F7-9701699C1D90}" srcOrd="0" destOrd="0" presId="urn:microsoft.com/office/officeart/2005/8/layout/hList1"/>
    <dgm:cxn modelId="{B690657B-1792-4428-B885-1404FCDDBC80}" type="presParOf" srcId="{9316DDA2-F21E-4B24-B9F7-9701699C1D90}" destId="{0F783982-28EB-43A2-88FB-6B344B538552}" srcOrd="0" destOrd="0" presId="urn:microsoft.com/office/officeart/2005/8/layout/hList1"/>
    <dgm:cxn modelId="{11948029-404E-4744-B90B-4096C8B1A583}" type="presParOf" srcId="{9316DDA2-F21E-4B24-B9F7-9701699C1D90}" destId="{2D73DAEF-9468-4534-9EC4-625F71FEFEFD}" srcOrd="1" destOrd="0" presId="urn:microsoft.com/office/officeart/2005/8/layout/hList1"/>
    <dgm:cxn modelId="{47F4EE63-FE47-46A3-BD2C-A970AFBFA427}" type="presParOf" srcId="{1E0C86E3-B4F0-406F-BF4B-4F3BA1FBBCFD}" destId="{BA5EB095-EE2F-44F7-90F2-518562A677B1}" srcOrd="1" destOrd="0" presId="urn:microsoft.com/office/officeart/2005/8/layout/hList1"/>
    <dgm:cxn modelId="{C8D21080-AEDF-468A-BA9A-8BE829D03763}" type="presParOf" srcId="{1E0C86E3-B4F0-406F-BF4B-4F3BA1FBBCFD}" destId="{A97BD1FD-58A3-440F-A066-A54CC035A316}" srcOrd="2" destOrd="0" presId="urn:microsoft.com/office/officeart/2005/8/layout/hList1"/>
    <dgm:cxn modelId="{CC4950AD-A623-4076-BF3D-639E50D6E4E5}" type="presParOf" srcId="{A97BD1FD-58A3-440F-A066-A54CC035A316}" destId="{B7CD94EC-B5E9-4F88-BE9B-16CE65B3ACE8}" srcOrd="0" destOrd="0" presId="urn:microsoft.com/office/officeart/2005/8/layout/hList1"/>
    <dgm:cxn modelId="{5D24A242-1618-4BF0-9D1D-FF59C8CFE997}" type="presParOf" srcId="{A97BD1FD-58A3-440F-A066-A54CC035A316}" destId="{C32FFEDF-2CFB-4770-86C3-854428CE2FBA}" srcOrd="1" destOrd="0" presId="urn:microsoft.com/office/officeart/2005/8/layout/hList1"/>
    <dgm:cxn modelId="{C6143CF9-3CAC-40BC-9E15-05C996736F0D}" type="presParOf" srcId="{1E0C86E3-B4F0-406F-BF4B-4F3BA1FBBCFD}" destId="{60F8B5DD-EC38-4A93-98EE-B3AF62AEC8BC}" srcOrd="3" destOrd="0" presId="urn:microsoft.com/office/officeart/2005/8/layout/hList1"/>
    <dgm:cxn modelId="{4AA5D34C-50EC-4036-893C-E832C164A9C0}" type="presParOf" srcId="{1E0C86E3-B4F0-406F-BF4B-4F3BA1FBBCFD}" destId="{E1ED879D-C41A-4AF7-8637-70396301B642}" srcOrd="4" destOrd="0" presId="urn:microsoft.com/office/officeart/2005/8/layout/hList1"/>
    <dgm:cxn modelId="{6AA127D9-EE0B-47D0-A35B-189DB26463AA}" type="presParOf" srcId="{E1ED879D-C41A-4AF7-8637-70396301B642}" destId="{34B11075-69CD-445C-B11E-19901A749B64}" srcOrd="0" destOrd="0" presId="urn:microsoft.com/office/officeart/2005/8/layout/hList1"/>
    <dgm:cxn modelId="{E0C865E1-2C1C-423D-BF06-8E9463496830}" type="presParOf" srcId="{E1ED879D-C41A-4AF7-8637-70396301B642}" destId="{C56352B1-F741-4F23-89BE-6B3AF09F2A5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C95AC9-62A5-48C4-A99F-646A78F5620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EBD0F0C5-04D3-42E0-9837-301C0B53556A}">
      <dgm:prSet phldrT="[Text]" custT="1"/>
      <dgm:spPr/>
      <dgm:t>
        <a:bodyPr/>
        <a:lstStyle/>
        <a:p>
          <a:r>
            <a:rPr lang="en-US" sz="5000"/>
            <a:t>When?</a:t>
          </a:r>
        </a:p>
      </dgm:t>
    </dgm:pt>
    <dgm:pt modelId="{42585BBE-AF89-4F92-AE6C-41574822B60D}" type="parTrans" cxnId="{5FB589A0-1245-44AB-9541-8D3B21D95F5B}">
      <dgm:prSet/>
      <dgm:spPr/>
      <dgm:t>
        <a:bodyPr/>
        <a:lstStyle/>
        <a:p>
          <a:endParaRPr lang="en-US"/>
        </a:p>
      </dgm:t>
    </dgm:pt>
    <dgm:pt modelId="{C06B9700-215D-45CC-B8F6-40E455908A8C}" type="sibTrans" cxnId="{5FB589A0-1245-44AB-9541-8D3B21D95F5B}">
      <dgm:prSet/>
      <dgm:spPr/>
      <dgm:t>
        <a:bodyPr/>
        <a:lstStyle/>
        <a:p>
          <a:endParaRPr lang="en-US"/>
        </a:p>
      </dgm:t>
    </dgm:pt>
    <dgm:pt modelId="{42759A46-47A8-42CC-8955-D61F8834887F}">
      <dgm:prSet phldrT="[Text]" custT="1"/>
      <dgm:spPr/>
      <dgm:t>
        <a:bodyPr/>
        <a:lstStyle/>
        <a:p>
          <a:r>
            <a:rPr lang="en-GB" sz="1400"/>
            <a:t>Check </a:t>
          </a:r>
          <a:r>
            <a:rPr lang="en-GB" sz="1400" b="1"/>
            <a:t>bank, school and religious holidays </a:t>
          </a:r>
          <a:r>
            <a:rPr lang="en-GB" sz="1400"/>
            <a:t>(remember to check this locally for international events)</a:t>
          </a:r>
          <a:endParaRPr lang="en-US" sz="1400"/>
        </a:p>
      </dgm:t>
    </dgm:pt>
    <dgm:pt modelId="{503134DD-5A6D-43DA-B589-3471C9EEC4B6}" type="parTrans" cxnId="{51B0577B-47BA-49D8-87A5-C87FB7BEDC82}">
      <dgm:prSet/>
      <dgm:spPr/>
      <dgm:t>
        <a:bodyPr/>
        <a:lstStyle/>
        <a:p>
          <a:endParaRPr lang="en-US"/>
        </a:p>
      </dgm:t>
    </dgm:pt>
    <dgm:pt modelId="{3C89DC1A-4EBD-423B-979F-0E485093B86C}" type="sibTrans" cxnId="{51B0577B-47BA-49D8-87A5-C87FB7BEDC82}">
      <dgm:prSet/>
      <dgm:spPr/>
      <dgm:t>
        <a:bodyPr/>
        <a:lstStyle/>
        <a:p>
          <a:endParaRPr lang="en-US"/>
        </a:p>
      </dgm:t>
    </dgm:pt>
    <dgm:pt modelId="{674B1C66-49D9-4529-89B1-2E40076C083C}">
      <dgm:prSet phldrT="[Text]" custT="1"/>
      <dgm:spPr/>
      <dgm:t>
        <a:bodyPr/>
        <a:lstStyle/>
        <a:p>
          <a:r>
            <a:rPr lang="en-US" sz="4800"/>
            <a:t>Where?</a:t>
          </a:r>
        </a:p>
      </dgm:t>
    </dgm:pt>
    <dgm:pt modelId="{71551975-9655-42F4-A5BF-8788E971B0BE}" type="parTrans" cxnId="{4212BB72-DC28-44AC-8A9B-C4063E40284C}">
      <dgm:prSet/>
      <dgm:spPr/>
      <dgm:t>
        <a:bodyPr/>
        <a:lstStyle/>
        <a:p>
          <a:endParaRPr lang="en-US"/>
        </a:p>
      </dgm:t>
    </dgm:pt>
    <dgm:pt modelId="{5998598F-663C-451E-A07B-245D84B8E0B7}" type="sibTrans" cxnId="{4212BB72-DC28-44AC-8A9B-C4063E40284C}">
      <dgm:prSet/>
      <dgm:spPr/>
      <dgm:t>
        <a:bodyPr/>
        <a:lstStyle/>
        <a:p>
          <a:endParaRPr lang="en-US"/>
        </a:p>
      </dgm:t>
    </dgm:pt>
    <dgm:pt modelId="{C5C30A50-2084-4DFF-B77E-337C6D59DB1E}">
      <dgm:prSet phldrT="[Text]" custT="1"/>
      <dgm:spPr/>
      <dgm:t>
        <a:bodyPr/>
        <a:lstStyle/>
        <a:p>
          <a:pPr algn="l"/>
          <a:r>
            <a:rPr lang="en-GB" sz="1400"/>
            <a:t>Will the event take place </a:t>
          </a:r>
          <a:r>
            <a:rPr lang="en-GB" sz="1400" b="1"/>
            <a:t>at LBS </a:t>
          </a:r>
          <a:r>
            <a:rPr lang="en-GB" sz="1400"/>
            <a:t>or at an </a:t>
          </a:r>
          <a:r>
            <a:rPr lang="en-GB" sz="1400" b="1"/>
            <a:t>external venue?</a:t>
          </a:r>
          <a:endParaRPr lang="en-US" sz="1400" b="1"/>
        </a:p>
      </dgm:t>
    </dgm:pt>
    <dgm:pt modelId="{C458C161-9DED-42F9-9E62-2229183FBD43}" type="parTrans" cxnId="{7CC27323-722F-4D7D-95E2-3E0457BFFD80}">
      <dgm:prSet/>
      <dgm:spPr/>
      <dgm:t>
        <a:bodyPr/>
        <a:lstStyle/>
        <a:p>
          <a:endParaRPr lang="en-US"/>
        </a:p>
      </dgm:t>
    </dgm:pt>
    <dgm:pt modelId="{EF2D7421-120E-406D-945C-2189E78F780B}" type="sibTrans" cxnId="{7CC27323-722F-4D7D-95E2-3E0457BFFD80}">
      <dgm:prSet/>
      <dgm:spPr/>
      <dgm:t>
        <a:bodyPr/>
        <a:lstStyle/>
        <a:p>
          <a:endParaRPr lang="en-US"/>
        </a:p>
      </dgm:t>
    </dgm:pt>
    <dgm:pt modelId="{0E68743C-90B0-4338-A985-C298D7A21D33}">
      <dgm:prSet phldrT="[Text]" custT="1"/>
      <dgm:spPr/>
      <dgm:t>
        <a:bodyPr/>
        <a:lstStyle/>
        <a:p>
          <a:r>
            <a:rPr lang="en-US" sz="5000"/>
            <a:t>How?</a:t>
          </a:r>
        </a:p>
      </dgm:t>
    </dgm:pt>
    <dgm:pt modelId="{5D13169B-FF77-4FA9-91F8-76C396F1B99A}" type="parTrans" cxnId="{141D1AE2-B305-42F1-AA38-044177B31883}">
      <dgm:prSet/>
      <dgm:spPr/>
      <dgm:t>
        <a:bodyPr/>
        <a:lstStyle/>
        <a:p>
          <a:endParaRPr lang="en-US"/>
        </a:p>
      </dgm:t>
    </dgm:pt>
    <dgm:pt modelId="{8825C7D8-D902-45BB-A0AE-FD03260A1071}" type="sibTrans" cxnId="{141D1AE2-B305-42F1-AA38-044177B31883}">
      <dgm:prSet/>
      <dgm:spPr/>
      <dgm:t>
        <a:bodyPr/>
        <a:lstStyle/>
        <a:p>
          <a:endParaRPr lang="en-US"/>
        </a:p>
      </dgm:t>
    </dgm:pt>
    <dgm:pt modelId="{555F8D84-CF73-4FA4-B419-CDBBA485D7A2}">
      <dgm:prSet phldrT="[Text]" custT="1"/>
      <dgm:spPr/>
      <dgm:t>
        <a:bodyPr/>
        <a:lstStyle/>
        <a:p>
          <a:r>
            <a:rPr lang="en-GB" sz="1400"/>
            <a:t>What r</a:t>
          </a:r>
          <a:r>
            <a:rPr lang="en-GB" sz="1400" b="1"/>
            <a:t>esources</a:t>
          </a:r>
          <a:r>
            <a:rPr lang="en-GB" sz="1400"/>
            <a:t> do you have in place to make this happen? What additional support may you need?</a:t>
          </a:r>
          <a:endParaRPr lang="en-US" sz="1400"/>
        </a:p>
      </dgm:t>
    </dgm:pt>
    <dgm:pt modelId="{8323C990-E0E7-4793-B4D3-12BA7456AF3A}" type="parTrans" cxnId="{BF27F51D-5C87-4DCE-96D2-3D1010DF5E13}">
      <dgm:prSet/>
      <dgm:spPr/>
      <dgm:t>
        <a:bodyPr/>
        <a:lstStyle/>
        <a:p>
          <a:endParaRPr lang="en-US"/>
        </a:p>
      </dgm:t>
    </dgm:pt>
    <dgm:pt modelId="{0CD1E8D5-9635-4F13-972E-7481DC887264}" type="sibTrans" cxnId="{BF27F51D-5C87-4DCE-96D2-3D1010DF5E13}">
      <dgm:prSet/>
      <dgm:spPr/>
      <dgm:t>
        <a:bodyPr/>
        <a:lstStyle/>
        <a:p>
          <a:endParaRPr lang="en-US"/>
        </a:p>
      </dgm:t>
    </dgm:pt>
    <dgm:pt modelId="{C85A1E07-E987-475D-9830-9435A645B172}">
      <dgm:prSet phldrT="[Text]" custT="1"/>
      <dgm:spPr/>
      <dgm:t>
        <a:bodyPr/>
        <a:lstStyle/>
        <a:p>
          <a:pPr algn="l"/>
          <a:r>
            <a:rPr lang="en-GB" sz="1400"/>
            <a:t>If an external venue, ensure </a:t>
          </a:r>
          <a:r>
            <a:rPr lang="en-GB" sz="1400" b="1"/>
            <a:t>good transport links</a:t>
          </a:r>
          <a:r>
            <a:rPr lang="en-GB" sz="1400"/>
            <a:t>. Is the location </a:t>
          </a:r>
          <a:r>
            <a:rPr lang="en-GB" sz="1400" b="1"/>
            <a:t>easily accessible </a:t>
          </a:r>
          <a:r>
            <a:rPr lang="en-GB" sz="1400"/>
            <a:t>for your attendees?</a:t>
          </a:r>
          <a:endParaRPr lang="en-US" sz="1400"/>
        </a:p>
      </dgm:t>
    </dgm:pt>
    <dgm:pt modelId="{CF9583A7-F0A6-4CB8-A4BF-42DE012555AC}" type="parTrans" cxnId="{0B46E8C6-14C7-4BAC-B988-BC8A31D924B3}">
      <dgm:prSet/>
      <dgm:spPr/>
      <dgm:t>
        <a:bodyPr/>
        <a:lstStyle/>
        <a:p>
          <a:endParaRPr lang="en-US"/>
        </a:p>
      </dgm:t>
    </dgm:pt>
    <dgm:pt modelId="{5A89E5A6-FC02-4EFA-A84E-9790BA39C15F}" type="sibTrans" cxnId="{0B46E8C6-14C7-4BAC-B988-BC8A31D924B3}">
      <dgm:prSet/>
      <dgm:spPr/>
      <dgm:t>
        <a:bodyPr/>
        <a:lstStyle/>
        <a:p>
          <a:endParaRPr lang="en-US"/>
        </a:p>
      </dgm:t>
    </dgm:pt>
    <dgm:pt modelId="{153BF92C-8BF1-4133-946D-EC4B5B57E392}">
      <dgm:prSet phldrT="[Text]" custT="1"/>
      <dgm:spPr/>
      <dgm:t>
        <a:bodyPr/>
        <a:lstStyle/>
        <a:p>
          <a:pPr algn="l"/>
          <a:r>
            <a:rPr lang="en-GB" sz="1400"/>
            <a:t>Do you have the </a:t>
          </a:r>
          <a:r>
            <a:rPr lang="en-GB" sz="1400" b="1"/>
            <a:t>right spaces </a:t>
          </a:r>
          <a:r>
            <a:rPr lang="en-GB" sz="1400"/>
            <a:t>for the size and format of your event? </a:t>
          </a:r>
          <a:endParaRPr lang="en-US" sz="1400"/>
        </a:p>
      </dgm:t>
    </dgm:pt>
    <dgm:pt modelId="{3A98B0CE-3163-4F16-8A92-F1ACED08B9DD}" type="parTrans" cxnId="{DAF7A594-0F42-449C-9866-84B055A3D8F6}">
      <dgm:prSet/>
      <dgm:spPr/>
      <dgm:t>
        <a:bodyPr/>
        <a:lstStyle/>
        <a:p>
          <a:endParaRPr lang="en-US"/>
        </a:p>
      </dgm:t>
    </dgm:pt>
    <dgm:pt modelId="{51004518-9E49-4BA0-9A4B-81E46BA1EC59}" type="sibTrans" cxnId="{DAF7A594-0F42-449C-9866-84B055A3D8F6}">
      <dgm:prSet/>
      <dgm:spPr/>
      <dgm:t>
        <a:bodyPr/>
        <a:lstStyle/>
        <a:p>
          <a:endParaRPr lang="en-US"/>
        </a:p>
      </dgm:t>
    </dgm:pt>
    <dgm:pt modelId="{C18AEB40-058B-4B47-A790-B45438AC60FD}">
      <dgm:prSet phldrT="[Text]" custT="1"/>
      <dgm:spPr/>
      <dgm:t>
        <a:bodyPr/>
        <a:lstStyle/>
        <a:p>
          <a:pPr algn="l"/>
          <a:r>
            <a:rPr lang="en-GB" sz="1400"/>
            <a:t>Does it fit with your budget, brand, preferred dates?</a:t>
          </a:r>
          <a:endParaRPr lang="en-US" sz="1400"/>
        </a:p>
      </dgm:t>
    </dgm:pt>
    <dgm:pt modelId="{ADBF89F4-DD38-4AE9-AC43-B8FF67CA08A7}" type="parTrans" cxnId="{939A4407-F932-47D2-96C9-7841726D89AC}">
      <dgm:prSet/>
      <dgm:spPr/>
      <dgm:t>
        <a:bodyPr/>
        <a:lstStyle/>
        <a:p>
          <a:endParaRPr lang="en-US"/>
        </a:p>
      </dgm:t>
    </dgm:pt>
    <dgm:pt modelId="{2B8C505D-BE35-4838-89E3-F962C5A9E0FE}" type="sibTrans" cxnId="{939A4407-F932-47D2-96C9-7841726D89AC}">
      <dgm:prSet/>
      <dgm:spPr/>
      <dgm:t>
        <a:bodyPr/>
        <a:lstStyle/>
        <a:p>
          <a:endParaRPr lang="en-US"/>
        </a:p>
      </dgm:t>
    </dgm:pt>
    <dgm:pt modelId="{6EC6EEFA-85D5-400A-B3DC-516A430D61F5}">
      <dgm:prSet phldrT="[Text]" custT="1"/>
      <dgm:spPr/>
      <dgm:t>
        <a:bodyPr/>
        <a:lstStyle/>
        <a:p>
          <a:pPr algn="l"/>
          <a:r>
            <a:rPr lang="en-GB" sz="1400"/>
            <a:t>Check the venue’s </a:t>
          </a:r>
          <a:r>
            <a:rPr lang="en-GB" sz="1400" b="1"/>
            <a:t>sustainability </a:t>
          </a:r>
          <a:r>
            <a:rPr lang="en-GB" sz="1400" b="0"/>
            <a:t>and </a:t>
          </a:r>
          <a:r>
            <a:rPr lang="en-GB" sz="1400" b="1"/>
            <a:t>accessibility </a:t>
          </a:r>
          <a:r>
            <a:rPr lang="en-GB" sz="1400"/>
            <a:t>credentials</a:t>
          </a:r>
          <a:endParaRPr lang="en-US" sz="1400"/>
        </a:p>
      </dgm:t>
    </dgm:pt>
    <dgm:pt modelId="{C9C76606-E5C9-4D00-BAE9-2874D9AA8990}" type="parTrans" cxnId="{A89D1D45-81B8-4FD1-91FF-DCC7E86AD7C8}">
      <dgm:prSet/>
      <dgm:spPr/>
      <dgm:t>
        <a:bodyPr/>
        <a:lstStyle/>
        <a:p>
          <a:endParaRPr lang="en-US"/>
        </a:p>
      </dgm:t>
    </dgm:pt>
    <dgm:pt modelId="{9B05E2DC-5572-4AE9-BF3B-3FFE0E6EBB28}" type="sibTrans" cxnId="{A89D1D45-81B8-4FD1-91FF-DCC7E86AD7C8}">
      <dgm:prSet/>
      <dgm:spPr/>
      <dgm:t>
        <a:bodyPr/>
        <a:lstStyle/>
        <a:p>
          <a:endParaRPr lang="en-US"/>
        </a:p>
      </dgm:t>
    </dgm:pt>
    <dgm:pt modelId="{BE408746-3447-4AD0-87E0-C25FF9AF319A}">
      <dgm:prSet custT="1"/>
      <dgm:spPr/>
      <dgm:t>
        <a:bodyPr/>
        <a:lstStyle/>
        <a:p>
          <a:endParaRPr lang="en-US" sz="1400"/>
        </a:p>
      </dgm:t>
    </dgm:pt>
    <dgm:pt modelId="{D3B8303B-39DD-473B-AC85-36230CD0C2CA}" type="parTrans" cxnId="{C60E8A34-1091-49E5-8908-763E46A16870}">
      <dgm:prSet/>
      <dgm:spPr/>
      <dgm:t>
        <a:bodyPr/>
        <a:lstStyle/>
        <a:p>
          <a:endParaRPr lang="en-US"/>
        </a:p>
      </dgm:t>
    </dgm:pt>
    <dgm:pt modelId="{1AEF2E98-1F10-4D4B-A318-EE88208831D6}" type="sibTrans" cxnId="{C60E8A34-1091-49E5-8908-763E46A16870}">
      <dgm:prSet/>
      <dgm:spPr/>
      <dgm:t>
        <a:bodyPr/>
        <a:lstStyle/>
        <a:p>
          <a:endParaRPr lang="en-US"/>
        </a:p>
      </dgm:t>
    </dgm:pt>
    <dgm:pt modelId="{DDDDD3A6-B18A-42E2-99E9-0D5C5622AB91}">
      <dgm:prSet custT="1"/>
      <dgm:spPr/>
      <dgm:t>
        <a:bodyPr/>
        <a:lstStyle/>
        <a:p>
          <a:r>
            <a:rPr lang="en-GB" sz="1400"/>
            <a:t>Check for </a:t>
          </a:r>
          <a:r>
            <a:rPr lang="en-GB" sz="1400" b="1"/>
            <a:t>clashes</a:t>
          </a:r>
          <a:r>
            <a:rPr lang="en-GB" sz="1400"/>
            <a:t> with other UK-based and International conferences on a similar theme / topic</a:t>
          </a:r>
          <a:endParaRPr lang="en-US" sz="1400"/>
        </a:p>
      </dgm:t>
    </dgm:pt>
    <dgm:pt modelId="{14EFCB36-EE77-4E92-8E4E-23F21B96D6F7}" type="parTrans" cxnId="{DBB7CBDB-AE26-4F09-8393-22BB9A96E76F}">
      <dgm:prSet/>
      <dgm:spPr/>
      <dgm:t>
        <a:bodyPr/>
        <a:lstStyle/>
        <a:p>
          <a:endParaRPr lang="en-US"/>
        </a:p>
      </dgm:t>
    </dgm:pt>
    <dgm:pt modelId="{E17B8E5E-A354-4D3E-9301-3CC15C96746D}" type="sibTrans" cxnId="{DBB7CBDB-AE26-4F09-8393-22BB9A96E76F}">
      <dgm:prSet/>
      <dgm:spPr/>
      <dgm:t>
        <a:bodyPr/>
        <a:lstStyle/>
        <a:p>
          <a:endParaRPr lang="en-US"/>
        </a:p>
      </dgm:t>
    </dgm:pt>
    <dgm:pt modelId="{82708A82-BB8F-406B-9CF5-D5E81412897F}">
      <dgm:prSet custT="1"/>
      <dgm:spPr/>
      <dgm:t>
        <a:bodyPr/>
        <a:lstStyle/>
        <a:p>
          <a:endParaRPr lang="en-US" sz="1400"/>
        </a:p>
      </dgm:t>
    </dgm:pt>
    <dgm:pt modelId="{C28BC36D-0B28-4C89-880D-746317273BA0}" type="parTrans" cxnId="{631C4807-304D-4273-BE58-512E2D18EC5D}">
      <dgm:prSet/>
      <dgm:spPr/>
      <dgm:t>
        <a:bodyPr/>
        <a:lstStyle/>
        <a:p>
          <a:endParaRPr lang="en-US"/>
        </a:p>
      </dgm:t>
    </dgm:pt>
    <dgm:pt modelId="{9482F7DD-036E-4511-A12C-BA007CBAC164}" type="sibTrans" cxnId="{631C4807-304D-4273-BE58-512E2D18EC5D}">
      <dgm:prSet/>
      <dgm:spPr/>
      <dgm:t>
        <a:bodyPr/>
        <a:lstStyle/>
        <a:p>
          <a:endParaRPr lang="en-US"/>
        </a:p>
      </dgm:t>
    </dgm:pt>
    <dgm:pt modelId="{0C321D81-664A-44D3-914E-4DEEF6BFDC19}">
      <dgm:prSet custT="1"/>
      <dgm:spPr/>
      <dgm:t>
        <a:bodyPr/>
        <a:lstStyle/>
        <a:p>
          <a:r>
            <a:rPr lang="en-GB" sz="1400"/>
            <a:t>Take into account LBS’s </a:t>
          </a:r>
          <a:r>
            <a:rPr lang="en-GB" sz="1400" b="1"/>
            <a:t>term dates </a:t>
          </a:r>
          <a:r>
            <a:rPr lang="en-GB" sz="1400" b="0"/>
            <a:t>and c</a:t>
          </a:r>
          <a:r>
            <a:rPr lang="en-US" sz="1400" b="0"/>
            <a:t>heck </a:t>
          </a:r>
          <a:r>
            <a:rPr lang="en-US" sz="1400"/>
            <a:t>on </a:t>
          </a:r>
          <a:r>
            <a:rPr lang="en-US" sz="1400" b="1"/>
            <a:t>other LBS activities </a:t>
          </a:r>
          <a:r>
            <a:rPr lang="en-US" sz="1400"/>
            <a:t>that could coincide with your event </a:t>
          </a:r>
          <a:r>
            <a:rPr lang="en-US" sz="1400">
              <a:solidFill>
                <a:schemeClr val="tx1"/>
              </a:solidFill>
            </a:rPr>
            <a:t>– </a:t>
          </a:r>
          <a:r>
            <a:rPr lang="en-US" sz="1400">
              <a:solidFill>
                <a:schemeClr val="tx1"/>
              </a:solidFill>
              <a:hlinkClick xmlns:r="http://schemas.openxmlformats.org/officeDocument/2006/relationships" r:id="rId1" action="ppaction://hlinksldjump"/>
            </a:rPr>
            <a:t>more info here</a:t>
          </a:r>
          <a:endParaRPr lang="en-US" sz="1400" b="1">
            <a:solidFill>
              <a:schemeClr val="tx1"/>
            </a:solidFill>
          </a:endParaRPr>
        </a:p>
      </dgm:t>
    </dgm:pt>
    <dgm:pt modelId="{12EB458F-CAB4-4189-9056-1499D7F8065C}" type="parTrans" cxnId="{250E2C38-93C1-4AC0-9A77-CEC13A00E22F}">
      <dgm:prSet/>
      <dgm:spPr/>
      <dgm:t>
        <a:bodyPr/>
        <a:lstStyle/>
        <a:p>
          <a:endParaRPr lang="en-US"/>
        </a:p>
      </dgm:t>
    </dgm:pt>
    <dgm:pt modelId="{EB2A69C3-6852-4EE0-A865-D36F070DC104}" type="sibTrans" cxnId="{250E2C38-93C1-4AC0-9A77-CEC13A00E22F}">
      <dgm:prSet/>
      <dgm:spPr/>
      <dgm:t>
        <a:bodyPr/>
        <a:lstStyle/>
        <a:p>
          <a:endParaRPr lang="en-US"/>
        </a:p>
      </dgm:t>
    </dgm:pt>
    <dgm:pt modelId="{1782C6C1-2842-4ACB-B22D-A6E5B5D79F02}">
      <dgm:prSet phldrT="[Text]" custT="1"/>
      <dgm:spPr/>
      <dgm:t>
        <a:bodyPr/>
        <a:lstStyle/>
        <a:p>
          <a:pPr algn="l"/>
          <a:endParaRPr lang="en-US" sz="1400"/>
        </a:p>
      </dgm:t>
    </dgm:pt>
    <dgm:pt modelId="{A53A6C91-A851-4646-89CC-65CB0119207B}" type="parTrans" cxnId="{3860944E-101D-4836-8D7F-481AE2F29625}">
      <dgm:prSet/>
      <dgm:spPr/>
      <dgm:t>
        <a:bodyPr/>
        <a:lstStyle/>
        <a:p>
          <a:endParaRPr lang="en-US"/>
        </a:p>
      </dgm:t>
    </dgm:pt>
    <dgm:pt modelId="{51BB9495-8900-44AA-B0D7-E8207F852302}" type="sibTrans" cxnId="{3860944E-101D-4836-8D7F-481AE2F29625}">
      <dgm:prSet/>
      <dgm:spPr/>
      <dgm:t>
        <a:bodyPr/>
        <a:lstStyle/>
        <a:p>
          <a:endParaRPr lang="en-US"/>
        </a:p>
      </dgm:t>
    </dgm:pt>
    <dgm:pt modelId="{96917BEF-6A0A-485C-9463-6F2EB8865892}">
      <dgm:prSet phldrT="[Text]" custT="1"/>
      <dgm:spPr/>
      <dgm:t>
        <a:bodyPr/>
        <a:lstStyle/>
        <a:p>
          <a:pPr algn="l"/>
          <a:endParaRPr lang="en-US" sz="1400"/>
        </a:p>
      </dgm:t>
    </dgm:pt>
    <dgm:pt modelId="{A25543EC-0E59-40CC-971B-B161572FA320}" type="parTrans" cxnId="{4D08557B-0258-417C-B65F-85C9F619632A}">
      <dgm:prSet/>
      <dgm:spPr/>
      <dgm:t>
        <a:bodyPr/>
        <a:lstStyle/>
        <a:p>
          <a:endParaRPr lang="en-US"/>
        </a:p>
      </dgm:t>
    </dgm:pt>
    <dgm:pt modelId="{7742EF68-8271-414B-B0F0-50F406F3678A}" type="sibTrans" cxnId="{4D08557B-0258-417C-B65F-85C9F619632A}">
      <dgm:prSet/>
      <dgm:spPr/>
      <dgm:t>
        <a:bodyPr/>
        <a:lstStyle/>
        <a:p>
          <a:endParaRPr lang="en-US"/>
        </a:p>
      </dgm:t>
    </dgm:pt>
    <dgm:pt modelId="{9EAE320F-B0D8-4F8A-9969-9C35CC5F996D}">
      <dgm:prSet phldrT="[Text]" custT="1"/>
      <dgm:spPr/>
      <dgm:t>
        <a:bodyPr/>
        <a:lstStyle/>
        <a:p>
          <a:endParaRPr lang="en-US" sz="1400"/>
        </a:p>
      </dgm:t>
    </dgm:pt>
    <dgm:pt modelId="{5C221931-828F-4C7F-B4EA-85C665DD6B4E}" type="parTrans" cxnId="{85854B37-B340-4358-9F19-B8576AA7D3D5}">
      <dgm:prSet/>
      <dgm:spPr/>
      <dgm:t>
        <a:bodyPr/>
        <a:lstStyle/>
        <a:p>
          <a:endParaRPr lang="en-US"/>
        </a:p>
      </dgm:t>
    </dgm:pt>
    <dgm:pt modelId="{F182546C-F533-48E3-B1FA-65B368F0A3D1}" type="sibTrans" cxnId="{85854B37-B340-4358-9F19-B8576AA7D3D5}">
      <dgm:prSet/>
      <dgm:spPr/>
      <dgm:t>
        <a:bodyPr/>
        <a:lstStyle/>
        <a:p>
          <a:endParaRPr lang="en-US"/>
        </a:p>
      </dgm:t>
    </dgm:pt>
    <dgm:pt modelId="{D6E00F27-7DF5-4DF6-BCB0-FA72B5019CA0}">
      <dgm:prSet phldrT="[Text]" custT="1"/>
      <dgm:spPr/>
      <dgm:t>
        <a:bodyPr/>
        <a:lstStyle/>
        <a:p>
          <a:r>
            <a:rPr lang="en-US" sz="1400"/>
            <a:t>What is your </a:t>
          </a:r>
          <a:r>
            <a:rPr lang="en-US" sz="1400" b="1"/>
            <a:t>budget</a:t>
          </a:r>
          <a:r>
            <a:rPr lang="en-US" sz="1400"/>
            <a:t>? Is this realistic and sufficient to achieve what you need?</a:t>
          </a:r>
        </a:p>
      </dgm:t>
    </dgm:pt>
    <dgm:pt modelId="{BC3A6286-DD92-4364-AB78-2DA49CDF3F77}" type="parTrans" cxnId="{BB565143-EBAF-4BC4-A1E2-D37CF64C3DB2}">
      <dgm:prSet/>
      <dgm:spPr/>
      <dgm:t>
        <a:bodyPr/>
        <a:lstStyle/>
        <a:p>
          <a:endParaRPr lang="en-US"/>
        </a:p>
      </dgm:t>
    </dgm:pt>
    <dgm:pt modelId="{BAB4D729-1617-41D4-B9EE-E261FE4363A8}" type="sibTrans" cxnId="{BB565143-EBAF-4BC4-A1E2-D37CF64C3DB2}">
      <dgm:prSet/>
      <dgm:spPr/>
      <dgm:t>
        <a:bodyPr/>
        <a:lstStyle/>
        <a:p>
          <a:endParaRPr lang="en-US"/>
        </a:p>
      </dgm:t>
    </dgm:pt>
    <dgm:pt modelId="{84E54566-7C4A-48D6-B541-E83507103FF6}">
      <dgm:prSet phldrT="[Text]" custT="1"/>
      <dgm:spPr/>
      <dgm:t>
        <a:bodyPr/>
        <a:lstStyle/>
        <a:p>
          <a:r>
            <a:rPr lang="en-GB" sz="1400"/>
            <a:t>How will </a:t>
          </a:r>
          <a:r>
            <a:rPr lang="en-GB" sz="1400" b="1"/>
            <a:t>you target your audience</a:t>
          </a:r>
          <a:r>
            <a:rPr lang="en-GB" sz="1400"/>
            <a:t> and ensure that you have the right people in the room?</a:t>
          </a:r>
          <a:endParaRPr lang="en-US" sz="1400"/>
        </a:p>
      </dgm:t>
    </dgm:pt>
    <dgm:pt modelId="{5508BC7E-A668-4C7D-87FC-7808F53CC8F4}" type="parTrans" cxnId="{BF90890F-0985-4036-B620-D94DA9C6AFC9}">
      <dgm:prSet/>
      <dgm:spPr/>
      <dgm:t>
        <a:bodyPr/>
        <a:lstStyle/>
        <a:p>
          <a:endParaRPr lang="en-US"/>
        </a:p>
      </dgm:t>
    </dgm:pt>
    <dgm:pt modelId="{81B961A6-249A-4299-8E02-971A4C0B8270}" type="sibTrans" cxnId="{BF90890F-0985-4036-B620-D94DA9C6AFC9}">
      <dgm:prSet/>
      <dgm:spPr/>
      <dgm:t>
        <a:bodyPr/>
        <a:lstStyle/>
        <a:p>
          <a:endParaRPr lang="en-US"/>
        </a:p>
      </dgm:t>
    </dgm:pt>
    <dgm:pt modelId="{3B52A07D-5A35-4BFA-B9D3-5B3CBE6B5DE8}">
      <dgm:prSet phldrT="[Text]" custT="1"/>
      <dgm:spPr/>
      <dgm:t>
        <a:bodyPr/>
        <a:lstStyle/>
        <a:p>
          <a:r>
            <a:rPr lang="en-GB" sz="1400"/>
            <a:t>How will people sign up to attend? Will you </a:t>
          </a:r>
          <a:r>
            <a:rPr lang="en-GB" sz="1400" b="1"/>
            <a:t>charge</a:t>
          </a:r>
          <a:r>
            <a:rPr lang="en-GB" sz="1400"/>
            <a:t> for tickets?</a:t>
          </a:r>
          <a:endParaRPr lang="en-US" sz="1400"/>
        </a:p>
      </dgm:t>
    </dgm:pt>
    <dgm:pt modelId="{E6C3EACE-63D0-4441-8819-78236B4B3584}" type="parTrans" cxnId="{80717F8C-2001-4D19-8DE7-B487BC2BA0D8}">
      <dgm:prSet/>
      <dgm:spPr/>
      <dgm:t>
        <a:bodyPr/>
        <a:lstStyle/>
        <a:p>
          <a:endParaRPr lang="en-US"/>
        </a:p>
      </dgm:t>
    </dgm:pt>
    <dgm:pt modelId="{F3448D89-4CD0-4791-8EBE-440740028D4B}" type="sibTrans" cxnId="{80717F8C-2001-4D19-8DE7-B487BC2BA0D8}">
      <dgm:prSet/>
      <dgm:spPr/>
      <dgm:t>
        <a:bodyPr/>
        <a:lstStyle/>
        <a:p>
          <a:endParaRPr lang="en-US"/>
        </a:p>
      </dgm:t>
    </dgm:pt>
    <dgm:pt modelId="{563D94D5-EC06-4D0E-83E1-0B66E97BA9FA}">
      <dgm:prSet phldrT="[Text]" custT="1"/>
      <dgm:spPr/>
      <dgm:t>
        <a:bodyPr/>
        <a:lstStyle/>
        <a:p>
          <a:r>
            <a:rPr lang="en-US" sz="1400"/>
            <a:t>How will you specifically </a:t>
          </a:r>
          <a:r>
            <a:rPr lang="en-US" sz="1400" b="1"/>
            <a:t>measure your success</a:t>
          </a:r>
          <a:r>
            <a:rPr lang="en-US" sz="1400"/>
            <a:t>?</a:t>
          </a:r>
        </a:p>
      </dgm:t>
    </dgm:pt>
    <dgm:pt modelId="{20781845-A11F-428A-81FC-520D09E197A4}" type="parTrans" cxnId="{A93D2803-A2CE-4BCB-B335-0DE1497E7A46}">
      <dgm:prSet/>
      <dgm:spPr/>
      <dgm:t>
        <a:bodyPr/>
        <a:lstStyle/>
        <a:p>
          <a:endParaRPr lang="en-US"/>
        </a:p>
      </dgm:t>
    </dgm:pt>
    <dgm:pt modelId="{918F5129-7FA5-4894-A34A-3BFA36EC5C71}" type="sibTrans" cxnId="{A93D2803-A2CE-4BCB-B335-0DE1497E7A46}">
      <dgm:prSet/>
      <dgm:spPr/>
      <dgm:t>
        <a:bodyPr/>
        <a:lstStyle/>
        <a:p>
          <a:endParaRPr lang="en-US"/>
        </a:p>
      </dgm:t>
    </dgm:pt>
    <dgm:pt modelId="{5C4C006A-2FC3-4A76-BA86-BE566926E961}">
      <dgm:prSet phldrT="[Text]" custT="1"/>
      <dgm:spPr/>
      <dgm:t>
        <a:bodyPr/>
        <a:lstStyle/>
        <a:p>
          <a:endParaRPr lang="en-US" sz="1400"/>
        </a:p>
      </dgm:t>
    </dgm:pt>
    <dgm:pt modelId="{5BE3308E-09ED-4B74-96E2-CA45B371E570}" type="parTrans" cxnId="{5C45EE9B-5FB5-41BD-8418-857DA87FAFC8}">
      <dgm:prSet/>
      <dgm:spPr/>
      <dgm:t>
        <a:bodyPr/>
        <a:lstStyle/>
        <a:p>
          <a:endParaRPr lang="en-US"/>
        </a:p>
      </dgm:t>
    </dgm:pt>
    <dgm:pt modelId="{BD4A83C4-4566-43C6-9262-B85275B0EBFF}" type="sibTrans" cxnId="{5C45EE9B-5FB5-41BD-8418-857DA87FAFC8}">
      <dgm:prSet/>
      <dgm:spPr/>
      <dgm:t>
        <a:bodyPr/>
        <a:lstStyle/>
        <a:p>
          <a:endParaRPr lang="en-US"/>
        </a:p>
      </dgm:t>
    </dgm:pt>
    <dgm:pt modelId="{CD6DAEBE-ED84-48DD-8DF9-439EC38A0AC5}">
      <dgm:prSet phldrT="[Text]" custT="1"/>
      <dgm:spPr/>
      <dgm:t>
        <a:bodyPr/>
        <a:lstStyle/>
        <a:p>
          <a:endParaRPr lang="en-US" sz="1400"/>
        </a:p>
      </dgm:t>
    </dgm:pt>
    <dgm:pt modelId="{70B71673-2EAB-4856-A29E-B9852B80D908}" type="parTrans" cxnId="{2B5484A1-8F21-4FAF-A8D0-21526A6E2230}">
      <dgm:prSet/>
      <dgm:spPr/>
      <dgm:t>
        <a:bodyPr/>
        <a:lstStyle/>
        <a:p>
          <a:endParaRPr lang="en-US"/>
        </a:p>
      </dgm:t>
    </dgm:pt>
    <dgm:pt modelId="{F5A43C41-7186-4104-BB1B-AE7B8C847A5E}" type="sibTrans" cxnId="{2B5484A1-8F21-4FAF-A8D0-21526A6E2230}">
      <dgm:prSet/>
      <dgm:spPr/>
      <dgm:t>
        <a:bodyPr/>
        <a:lstStyle/>
        <a:p>
          <a:endParaRPr lang="en-US"/>
        </a:p>
      </dgm:t>
    </dgm:pt>
    <dgm:pt modelId="{5AE767E4-EC71-414A-975F-D1F96329A165}">
      <dgm:prSet phldrT="[Text]" custT="1"/>
      <dgm:spPr/>
      <dgm:t>
        <a:bodyPr/>
        <a:lstStyle/>
        <a:p>
          <a:endParaRPr lang="en-US" sz="1400"/>
        </a:p>
      </dgm:t>
    </dgm:pt>
    <dgm:pt modelId="{B175D286-DECC-432E-922A-F0EF6766551B}" type="parTrans" cxnId="{AE54F164-B913-4A67-97B0-6C950F4B1D2A}">
      <dgm:prSet/>
      <dgm:spPr/>
      <dgm:t>
        <a:bodyPr/>
        <a:lstStyle/>
        <a:p>
          <a:endParaRPr lang="en-US"/>
        </a:p>
      </dgm:t>
    </dgm:pt>
    <dgm:pt modelId="{1DEB23DE-2E06-4C83-A1C3-94AD03DB6A32}" type="sibTrans" cxnId="{AE54F164-B913-4A67-97B0-6C950F4B1D2A}">
      <dgm:prSet/>
      <dgm:spPr/>
      <dgm:t>
        <a:bodyPr/>
        <a:lstStyle/>
        <a:p>
          <a:endParaRPr lang="en-US"/>
        </a:p>
      </dgm:t>
    </dgm:pt>
    <dgm:pt modelId="{4F792EC5-B36E-451F-A8A7-EFCD56F035A9}">
      <dgm:prSet phldrT="[Text]" custT="1"/>
      <dgm:spPr/>
      <dgm:t>
        <a:bodyPr/>
        <a:lstStyle/>
        <a:p>
          <a:endParaRPr lang="en-US" sz="1400"/>
        </a:p>
      </dgm:t>
    </dgm:pt>
    <dgm:pt modelId="{3AA1ECD5-46EA-497B-8605-521D90889564}" type="parTrans" cxnId="{5774C8DF-7FA6-4B82-BB32-4DB1894E0D5C}">
      <dgm:prSet/>
      <dgm:spPr/>
      <dgm:t>
        <a:bodyPr/>
        <a:lstStyle/>
        <a:p>
          <a:endParaRPr lang="en-US"/>
        </a:p>
      </dgm:t>
    </dgm:pt>
    <dgm:pt modelId="{353E4CE0-46FE-4F82-ABB9-60E75794A17C}" type="sibTrans" cxnId="{5774C8DF-7FA6-4B82-BB32-4DB1894E0D5C}">
      <dgm:prSet/>
      <dgm:spPr/>
      <dgm:t>
        <a:bodyPr/>
        <a:lstStyle/>
        <a:p>
          <a:endParaRPr lang="en-US"/>
        </a:p>
      </dgm:t>
    </dgm:pt>
    <dgm:pt modelId="{43FE3238-045A-4736-BFE9-860E11AC3B38}">
      <dgm:prSet phldrT="[Text]" custT="1"/>
      <dgm:spPr/>
      <dgm:t>
        <a:bodyPr/>
        <a:lstStyle/>
        <a:p>
          <a:pPr algn="l"/>
          <a:endParaRPr lang="en-US" sz="1400"/>
        </a:p>
      </dgm:t>
    </dgm:pt>
    <dgm:pt modelId="{860A2BD7-8E2F-44BA-9222-9325B9E06805}" type="parTrans" cxnId="{9ECC83E7-207A-4752-A626-61B01355332C}">
      <dgm:prSet/>
      <dgm:spPr/>
      <dgm:t>
        <a:bodyPr/>
        <a:lstStyle/>
        <a:p>
          <a:endParaRPr lang="en-US"/>
        </a:p>
      </dgm:t>
    </dgm:pt>
    <dgm:pt modelId="{BEBA3B3C-1EDB-4B3E-8ED1-ED175EB431A5}" type="sibTrans" cxnId="{9ECC83E7-207A-4752-A626-61B01355332C}">
      <dgm:prSet/>
      <dgm:spPr/>
      <dgm:t>
        <a:bodyPr/>
        <a:lstStyle/>
        <a:p>
          <a:endParaRPr lang="en-US"/>
        </a:p>
      </dgm:t>
    </dgm:pt>
    <dgm:pt modelId="{CE37BAAC-6655-466B-BC5D-3FA06FAC8ECC}">
      <dgm:prSet phldrT="[Text]" custT="1"/>
      <dgm:spPr/>
      <dgm:t>
        <a:bodyPr/>
        <a:lstStyle/>
        <a:p>
          <a:pPr algn="l"/>
          <a:endParaRPr lang="en-US" sz="1400"/>
        </a:p>
      </dgm:t>
    </dgm:pt>
    <dgm:pt modelId="{80F0E2E0-AB1D-45CF-ACCF-049D130CE05D}" type="parTrans" cxnId="{98936583-C2F7-4232-9F62-5763DFCC2C1D}">
      <dgm:prSet/>
      <dgm:spPr/>
      <dgm:t>
        <a:bodyPr/>
        <a:lstStyle/>
        <a:p>
          <a:endParaRPr lang="en-US"/>
        </a:p>
      </dgm:t>
    </dgm:pt>
    <dgm:pt modelId="{8A618001-105C-4DCC-AACD-20BFBB3CEF32}" type="sibTrans" cxnId="{98936583-C2F7-4232-9F62-5763DFCC2C1D}">
      <dgm:prSet/>
      <dgm:spPr/>
      <dgm:t>
        <a:bodyPr/>
        <a:lstStyle/>
        <a:p>
          <a:endParaRPr lang="en-US"/>
        </a:p>
      </dgm:t>
    </dgm:pt>
    <dgm:pt modelId="{F20F7B94-C348-41ED-953C-1510B358F248}">
      <dgm:prSet custT="1"/>
      <dgm:spPr/>
      <dgm:t>
        <a:bodyPr/>
        <a:lstStyle/>
        <a:p>
          <a:r>
            <a:rPr lang="en-US" sz="1400">
              <a:solidFill>
                <a:schemeClr val="tx1"/>
              </a:solidFill>
            </a:rPr>
            <a:t>For virtual and hybrid events, consider </a:t>
          </a:r>
          <a:r>
            <a:rPr lang="en-US" sz="1400" b="1">
              <a:solidFill>
                <a:schemeClr val="tx1"/>
              </a:solidFill>
            </a:rPr>
            <a:t>local time zones </a:t>
          </a:r>
          <a:r>
            <a:rPr lang="en-US" sz="1400">
              <a:solidFill>
                <a:schemeClr val="tx1"/>
              </a:solidFill>
            </a:rPr>
            <a:t>in countries that people will be watching from</a:t>
          </a:r>
        </a:p>
      </dgm:t>
    </dgm:pt>
    <dgm:pt modelId="{804224D8-8870-41C2-A566-D1963A55647F}" type="parTrans" cxnId="{05134FC5-1F16-4927-A8DE-96979CE81361}">
      <dgm:prSet/>
      <dgm:spPr/>
      <dgm:t>
        <a:bodyPr/>
        <a:lstStyle/>
        <a:p>
          <a:endParaRPr lang="en-US"/>
        </a:p>
      </dgm:t>
    </dgm:pt>
    <dgm:pt modelId="{4B8D1309-771A-49B0-9467-B0F87C96FB74}" type="sibTrans" cxnId="{05134FC5-1F16-4927-A8DE-96979CE81361}">
      <dgm:prSet/>
      <dgm:spPr/>
      <dgm:t>
        <a:bodyPr/>
        <a:lstStyle/>
        <a:p>
          <a:endParaRPr lang="en-US"/>
        </a:p>
      </dgm:t>
    </dgm:pt>
    <dgm:pt modelId="{A636BF5A-D702-49FA-9CFA-FC635E12B258}">
      <dgm:prSet custT="1"/>
      <dgm:spPr/>
      <dgm:t>
        <a:bodyPr/>
        <a:lstStyle/>
        <a:p>
          <a:endParaRPr lang="en-US" sz="1400" b="1"/>
        </a:p>
      </dgm:t>
    </dgm:pt>
    <dgm:pt modelId="{F2BD6C8B-C55B-4CC2-85BA-4A6F08AAA89D}" type="parTrans" cxnId="{453F8E52-D228-4D7E-B3F3-AFD8175627F3}">
      <dgm:prSet/>
      <dgm:spPr/>
      <dgm:t>
        <a:bodyPr/>
        <a:lstStyle/>
        <a:p>
          <a:endParaRPr lang="en-US"/>
        </a:p>
      </dgm:t>
    </dgm:pt>
    <dgm:pt modelId="{DEF2D7DF-F0B1-43B2-993D-F4834EEDC49C}" type="sibTrans" cxnId="{453F8E52-D228-4D7E-B3F3-AFD8175627F3}">
      <dgm:prSet/>
      <dgm:spPr/>
      <dgm:t>
        <a:bodyPr/>
        <a:lstStyle/>
        <a:p>
          <a:endParaRPr lang="en-US"/>
        </a:p>
      </dgm:t>
    </dgm:pt>
    <dgm:pt modelId="{CE4AA8A3-7805-4F8F-AB31-58DFA61C9852}" type="pres">
      <dgm:prSet presAssocID="{60C95AC9-62A5-48C4-A99F-646A78F56203}" presName="Name0" presStyleCnt="0">
        <dgm:presLayoutVars>
          <dgm:dir/>
          <dgm:animLvl val="lvl"/>
          <dgm:resizeHandles val="exact"/>
        </dgm:presLayoutVars>
      </dgm:prSet>
      <dgm:spPr/>
    </dgm:pt>
    <dgm:pt modelId="{166EF8C3-2B18-4C61-98E0-ABAAAA2A43CE}" type="pres">
      <dgm:prSet presAssocID="{EBD0F0C5-04D3-42E0-9837-301C0B53556A}" presName="composite" presStyleCnt="0"/>
      <dgm:spPr/>
    </dgm:pt>
    <dgm:pt modelId="{45583062-C5A4-483F-93B7-2776F19C72AA}" type="pres">
      <dgm:prSet presAssocID="{EBD0F0C5-04D3-42E0-9837-301C0B53556A}" presName="parTx" presStyleLbl="alignNode1" presStyleIdx="0" presStyleCnt="3">
        <dgm:presLayoutVars>
          <dgm:chMax val="0"/>
          <dgm:chPref val="0"/>
          <dgm:bulletEnabled val="1"/>
        </dgm:presLayoutVars>
      </dgm:prSet>
      <dgm:spPr/>
    </dgm:pt>
    <dgm:pt modelId="{33EE05F1-AB13-4703-A4E1-ADAF43EC4B91}" type="pres">
      <dgm:prSet presAssocID="{EBD0F0C5-04D3-42E0-9837-301C0B53556A}" presName="desTx" presStyleLbl="alignAccFollowNode1" presStyleIdx="0" presStyleCnt="3">
        <dgm:presLayoutVars>
          <dgm:bulletEnabled val="1"/>
        </dgm:presLayoutVars>
      </dgm:prSet>
      <dgm:spPr/>
    </dgm:pt>
    <dgm:pt modelId="{9A163BAC-C731-43CF-B2BD-312F6637522E}" type="pres">
      <dgm:prSet presAssocID="{C06B9700-215D-45CC-B8F6-40E455908A8C}" presName="space" presStyleCnt="0"/>
      <dgm:spPr/>
    </dgm:pt>
    <dgm:pt modelId="{7EC34BBC-6F88-45C2-8E1E-8A99FF4C58ED}" type="pres">
      <dgm:prSet presAssocID="{674B1C66-49D9-4529-89B1-2E40076C083C}" presName="composite" presStyleCnt="0"/>
      <dgm:spPr/>
    </dgm:pt>
    <dgm:pt modelId="{4547B98F-05E0-4E48-9B9A-60078957B589}" type="pres">
      <dgm:prSet presAssocID="{674B1C66-49D9-4529-89B1-2E40076C083C}" presName="parTx" presStyleLbl="alignNode1" presStyleIdx="1" presStyleCnt="3">
        <dgm:presLayoutVars>
          <dgm:chMax val="0"/>
          <dgm:chPref val="0"/>
          <dgm:bulletEnabled val="1"/>
        </dgm:presLayoutVars>
      </dgm:prSet>
      <dgm:spPr/>
    </dgm:pt>
    <dgm:pt modelId="{878374A0-8FF7-4789-A6AE-68C0378A1F3C}" type="pres">
      <dgm:prSet presAssocID="{674B1C66-49D9-4529-89B1-2E40076C083C}" presName="desTx" presStyleLbl="alignAccFollowNode1" presStyleIdx="1" presStyleCnt="3">
        <dgm:presLayoutVars>
          <dgm:bulletEnabled val="1"/>
        </dgm:presLayoutVars>
      </dgm:prSet>
      <dgm:spPr/>
    </dgm:pt>
    <dgm:pt modelId="{85B7F43C-1EA8-4F5D-B75B-6EA23557A756}" type="pres">
      <dgm:prSet presAssocID="{5998598F-663C-451E-A07B-245D84B8E0B7}" presName="space" presStyleCnt="0"/>
      <dgm:spPr/>
    </dgm:pt>
    <dgm:pt modelId="{BC96F8CD-52CC-4023-8426-BB21EE7710E5}" type="pres">
      <dgm:prSet presAssocID="{0E68743C-90B0-4338-A985-C298D7A21D33}" presName="composite" presStyleCnt="0"/>
      <dgm:spPr/>
    </dgm:pt>
    <dgm:pt modelId="{2896DFF4-E0F3-4C8A-8623-986389299D6D}" type="pres">
      <dgm:prSet presAssocID="{0E68743C-90B0-4338-A985-C298D7A21D33}" presName="parTx" presStyleLbl="alignNode1" presStyleIdx="2" presStyleCnt="3">
        <dgm:presLayoutVars>
          <dgm:chMax val="0"/>
          <dgm:chPref val="0"/>
          <dgm:bulletEnabled val="1"/>
        </dgm:presLayoutVars>
      </dgm:prSet>
      <dgm:spPr/>
    </dgm:pt>
    <dgm:pt modelId="{B073F03A-B470-45E7-A056-78DC3DE50EED}" type="pres">
      <dgm:prSet presAssocID="{0E68743C-90B0-4338-A985-C298D7A21D33}" presName="desTx" presStyleLbl="alignAccFollowNode1" presStyleIdx="2" presStyleCnt="3">
        <dgm:presLayoutVars>
          <dgm:bulletEnabled val="1"/>
        </dgm:presLayoutVars>
      </dgm:prSet>
      <dgm:spPr/>
    </dgm:pt>
  </dgm:ptLst>
  <dgm:cxnLst>
    <dgm:cxn modelId="{A93D2803-A2CE-4BCB-B335-0DE1497E7A46}" srcId="{0E68743C-90B0-4338-A985-C298D7A21D33}" destId="{563D94D5-EC06-4D0E-83E1-0B66E97BA9FA}" srcOrd="8" destOrd="0" parTransId="{20781845-A11F-428A-81FC-520D09E197A4}" sibTransId="{918F5129-7FA5-4894-A34A-3BFA36EC5C71}"/>
    <dgm:cxn modelId="{939A4407-F932-47D2-96C9-7841726D89AC}" srcId="{674B1C66-49D9-4529-89B1-2E40076C083C}" destId="{C18AEB40-058B-4B47-A790-B45438AC60FD}" srcOrd="6" destOrd="0" parTransId="{ADBF89F4-DD38-4AE9-AC43-B8FF67CA08A7}" sibTransId="{2B8C505D-BE35-4838-89E3-F962C5A9E0FE}"/>
    <dgm:cxn modelId="{631C4807-304D-4273-BE58-512E2D18EC5D}" srcId="{EBD0F0C5-04D3-42E0-9837-301C0B53556A}" destId="{82708A82-BB8F-406B-9CF5-D5E81412897F}" srcOrd="3" destOrd="0" parTransId="{C28BC36D-0B28-4C89-880D-746317273BA0}" sibTransId="{9482F7DD-036E-4511-A12C-BA007CBAC164}"/>
    <dgm:cxn modelId="{79B7210A-FA5E-4493-9725-554468C132F0}" type="presOf" srcId="{F20F7B94-C348-41ED-953C-1510B358F248}" destId="{33EE05F1-AB13-4703-A4E1-ADAF43EC4B91}" srcOrd="0" destOrd="6" presId="urn:microsoft.com/office/officeart/2005/8/layout/hList1"/>
    <dgm:cxn modelId="{3908690C-0DAF-44EC-AF30-55D02AF344D2}" type="presOf" srcId="{CE37BAAC-6655-466B-BC5D-3FA06FAC8ECC}" destId="{878374A0-8FF7-4789-A6AE-68C0378A1F3C}" srcOrd="0" destOrd="5" presId="urn:microsoft.com/office/officeart/2005/8/layout/hList1"/>
    <dgm:cxn modelId="{72A8FE0E-888D-4194-9D61-B87F1E2027C0}" type="presOf" srcId="{3B52A07D-5A35-4BFA-B9D3-5B3CBE6B5DE8}" destId="{B073F03A-B470-45E7-A056-78DC3DE50EED}" srcOrd="0" destOrd="6" presId="urn:microsoft.com/office/officeart/2005/8/layout/hList1"/>
    <dgm:cxn modelId="{BF90890F-0985-4036-B620-D94DA9C6AFC9}" srcId="{0E68743C-90B0-4338-A985-C298D7A21D33}" destId="{84E54566-7C4A-48D6-B541-E83507103FF6}" srcOrd="4" destOrd="0" parTransId="{5508BC7E-A668-4C7D-87FC-7808F53CC8F4}" sibTransId="{81B961A6-249A-4299-8E02-971A4C0B8270}"/>
    <dgm:cxn modelId="{0953C917-8221-4AA7-8A50-E7C18040B397}" type="presOf" srcId="{9EAE320F-B0D8-4F8A-9969-9C35CC5F996D}" destId="{B073F03A-B470-45E7-A056-78DC3DE50EED}" srcOrd="0" destOrd="9" presId="urn:microsoft.com/office/officeart/2005/8/layout/hList1"/>
    <dgm:cxn modelId="{4B00711C-E7B6-4988-ABE8-16C84F08F6AF}" type="presOf" srcId="{CD6DAEBE-ED84-48DD-8DF9-439EC38A0AC5}" destId="{B073F03A-B470-45E7-A056-78DC3DE50EED}" srcOrd="0" destOrd="3" presId="urn:microsoft.com/office/officeart/2005/8/layout/hList1"/>
    <dgm:cxn modelId="{B476571D-2B8B-4DC7-B2CE-2712BE5B21C3}" type="presOf" srcId="{6EC6EEFA-85D5-400A-B3DC-516A430D61F5}" destId="{878374A0-8FF7-4789-A6AE-68C0378A1F3C}" srcOrd="0" destOrd="8" presId="urn:microsoft.com/office/officeart/2005/8/layout/hList1"/>
    <dgm:cxn modelId="{BF27F51D-5C87-4DCE-96D2-3D1010DF5E13}" srcId="{0E68743C-90B0-4338-A985-C298D7A21D33}" destId="{555F8D84-CF73-4FA4-B419-CDBBA485D7A2}" srcOrd="0" destOrd="0" parTransId="{8323C990-E0E7-4793-B4D3-12BA7456AF3A}" sibTransId="{0CD1E8D5-9635-4F13-972E-7481DC887264}"/>
    <dgm:cxn modelId="{7CC27323-722F-4D7D-95E2-3E0457BFFD80}" srcId="{674B1C66-49D9-4529-89B1-2E40076C083C}" destId="{C5C30A50-2084-4DFF-B77E-337C6D59DB1E}" srcOrd="0" destOrd="0" parTransId="{C458C161-9DED-42F9-9E62-2229183FBD43}" sibTransId="{EF2D7421-120E-406D-945C-2189E78F780B}"/>
    <dgm:cxn modelId="{8A589826-A538-42C7-A582-4C14405FF011}" type="presOf" srcId="{C5C30A50-2084-4DFF-B77E-337C6D59DB1E}" destId="{878374A0-8FF7-4789-A6AE-68C0378A1F3C}" srcOrd="0" destOrd="0" presId="urn:microsoft.com/office/officeart/2005/8/layout/hList1"/>
    <dgm:cxn modelId="{8471912A-30C9-4521-92CD-581F4181AF93}" type="presOf" srcId="{5C4C006A-2FC3-4A76-BA86-BE566926E961}" destId="{B073F03A-B470-45E7-A056-78DC3DE50EED}" srcOrd="0" destOrd="1" presId="urn:microsoft.com/office/officeart/2005/8/layout/hList1"/>
    <dgm:cxn modelId="{C60E8A34-1091-49E5-8908-763E46A16870}" srcId="{EBD0F0C5-04D3-42E0-9837-301C0B53556A}" destId="{BE408746-3447-4AD0-87E0-C25FF9AF319A}" srcOrd="1" destOrd="0" parTransId="{D3B8303B-39DD-473B-AC85-36230CD0C2CA}" sibTransId="{1AEF2E98-1F10-4D4B-A318-EE88208831D6}"/>
    <dgm:cxn modelId="{6AA31D36-B9B8-44D3-888B-047456A47897}" type="presOf" srcId="{84E54566-7C4A-48D6-B541-E83507103FF6}" destId="{B073F03A-B470-45E7-A056-78DC3DE50EED}" srcOrd="0" destOrd="4" presId="urn:microsoft.com/office/officeart/2005/8/layout/hList1"/>
    <dgm:cxn modelId="{85854B37-B340-4358-9F19-B8576AA7D3D5}" srcId="{0E68743C-90B0-4338-A985-C298D7A21D33}" destId="{9EAE320F-B0D8-4F8A-9969-9C35CC5F996D}" srcOrd="9" destOrd="0" parTransId="{5C221931-828F-4C7F-B4EA-85C665DD6B4E}" sibTransId="{F182546C-F533-48E3-B1FA-65B368F0A3D1}"/>
    <dgm:cxn modelId="{250E2C38-93C1-4AC0-9A77-CEC13A00E22F}" srcId="{EBD0F0C5-04D3-42E0-9837-301C0B53556A}" destId="{0C321D81-664A-44D3-914E-4DEEF6BFDC19}" srcOrd="4" destOrd="0" parTransId="{12EB458F-CAB4-4189-9056-1499D7F8065C}" sibTransId="{EB2A69C3-6852-4EE0-A865-D36F070DC104}"/>
    <dgm:cxn modelId="{88DD4B43-74DF-495E-A271-8CC41CEAB454}" type="presOf" srcId="{5AE767E4-EC71-414A-975F-D1F96329A165}" destId="{B073F03A-B470-45E7-A056-78DC3DE50EED}" srcOrd="0" destOrd="5" presId="urn:microsoft.com/office/officeart/2005/8/layout/hList1"/>
    <dgm:cxn modelId="{BB565143-EBAF-4BC4-A1E2-D37CF64C3DB2}" srcId="{0E68743C-90B0-4338-A985-C298D7A21D33}" destId="{D6E00F27-7DF5-4DF6-BCB0-FA72B5019CA0}" srcOrd="2" destOrd="0" parTransId="{BC3A6286-DD92-4364-AB78-2DA49CDF3F77}" sibTransId="{BAB4D729-1617-41D4-B9EE-E261FE4363A8}"/>
    <dgm:cxn modelId="{AE54F164-B913-4A67-97B0-6C950F4B1D2A}" srcId="{0E68743C-90B0-4338-A985-C298D7A21D33}" destId="{5AE767E4-EC71-414A-975F-D1F96329A165}" srcOrd="5" destOrd="0" parTransId="{B175D286-DECC-432E-922A-F0EF6766551B}" sibTransId="{1DEB23DE-2E06-4C83-A1C3-94AD03DB6A32}"/>
    <dgm:cxn modelId="{A89D1D45-81B8-4FD1-91FF-DCC7E86AD7C8}" srcId="{674B1C66-49D9-4529-89B1-2E40076C083C}" destId="{6EC6EEFA-85D5-400A-B3DC-516A430D61F5}" srcOrd="8" destOrd="0" parTransId="{C9C76606-E5C9-4D00-BAE9-2874D9AA8990}" sibTransId="{9B05E2DC-5572-4AE9-BF3B-3FFE0E6EBB28}"/>
    <dgm:cxn modelId="{71A3EF4A-94B3-4634-8355-B87C7FCF2220}" type="presOf" srcId="{42759A46-47A8-42CC-8955-D61F8834887F}" destId="{33EE05F1-AB13-4703-A4E1-ADAF43EC4B91}" srcOrd="0" destOrd="0" presId="urn:microsoft.com/office/officeart/2005/8/layout/hList1"/>
    <dgm:cxn modelId="{0A87374B-86F6-4EE4-A1AB-1F0AF98585AE}" type="presOf" srcId="{43FE3238-045A-4736-BFE9-860E11AC3B38}" destId="{878374A0-8FF7-4789-A6AE-68C0378A1F3C}" srcOrd="0" destOrd="7" presId="urn:microsoft.com/office/officeart/2005/8/layout/hList1"/>
    <dgm:cxn modelId="{E5A6226D-8ED9-4096-AAE1-FC00336D1AA1}" type="presOf" srcId="{DDDDD3A6-B18A-42E2-99E9-0D5C5622AB91}" destId="{33EE05F1-AB13-4703-A4E1-ADAF43EC4B91}" srcOrd="0" destOrd="2" presId="urn:microsoft.com/office/officeart/2005/8/layout/hList1"/>
    <dgm:cxn modelId="{3860944E-101D-4836-8D7F-481AE2F29625}" srcId="{674B1C66-49D9-4529-89B1-2E40076C083C}" destId="{1782C6C1-2842-4ACB-B22D-A6E5B5D79F02}" srcOrd="1" destOrd="0" parTransId="{A53A6C91-A851-4646-89CC-65CB0119207B}" sibTransId="{51BB9495-8900-44AA-B0D7-E8207F852302}"/>
    <dgm:cxn modelId="{453F8E52-D228-4D7E-B3F3-AFD8175627F3}" srcId="{EBD0F0C5-04D3-42E0-9837-301C0B53556A}" destId="{A636BF5A-D702-49FA-9CFA-FC635E12B258}" srcOrd="5" destOrd="0" parTransId="{F2BD6C8B-C55B-4CC2-85BA-4A6F08AAA89D}" sibTransId="{DEF2D7DF-F0B1-43B2-993D-F4834EEDC49C}"/>
    <dgm:cxn modelId="{4212BB72-DC28-44AC-8A9B-C4063E40284C}" srcId="{60C95AC9-62A5-48C4-A99F-646A78F56203}" destId="{674B1C66-49D9-4529-89B1-2E40076C083C}" srcOrd="1" destOrd="0" parTransId="{71551975-9655-42F4-A5BF-8788E971B0BE}" sibTransId="{5998598F-663C-451E-A07B-245D84B8E0B7}"/>
    <dgm:cxn modelId="{F5C14957-6B6D-473B-92C2-5236697E30B0}" type="presOf" srcId="{153BF92C-8BF1-4133-946D-EC4B5B57E392}" destId="{878374A0-8FF7-4789-A6AE-68C0378A1F3C}" srcOrd="0" destOrd="4" presId="urn:microsoft.com/office/officeart/2005/8/layout/hList1"/>
    <dgm:cxn modelId="{66184258-CB6E-4208-8BA4-42C37CC7B75A}" type="presOf" srcId="{BE408746-3447-4AD0-87E0-C25FF9AF319A}" destId="{33EE05F1-AB13-4703-A4E1-ADAF43EC4B91}" srcOrd="0" destOrd="1" presId="urn:microsoft.com/office/officeart/2005/8/layout/hList1"/>
    <dgm:cxn modelId="{4D08557B-0258-417C-B65F-85C9F619632A}" srcId="{674B1C66-49D9-4529-89B1-2E40076C083C}" destId="{96917BEF-6A0A-485C-9463-6F2EB8865892}" srcOrd="3" destOrd="0" parTransId="{A25543EC-0E59-40CC-971B-B161572FA320}" sibTransId="{7742EF68-8271-414B-B0F0-50F406F3678A}"/>
    <dgm:cxn modelId="{51B0577B-47BA-49D8-87A5-C87FB7BEDC82}" srcId="{EBD0F0C5-04D3-42E0-9837-301C0B53556A}" destId="{42759A46-47A8-42CC-8955-D61F8834887F}" srcOrd="0" destOrd="0" parTransId="{503134DD-5A6D-43DA-B589-3471C9EEC4B6}" sibTransId="{3C89DC1A-4EBD-423B-979F-0E485093B86C}"/>
    <dgm:cxn modelId="{6F86CB81-FD4B-4B59-AF89-6ACF4A5DF1A6}" type="presOf" srcId="{1782C6C1-2842-4ACB-B22D-A6E5B5D79F02}" destId="{878374A0-8FF7-4789-A6AE-68C0378A1F3C}" srcOrd="0" destOrd="1" presId="urn:microsoft.com/office/officeart/2005/8/layout/hList1"/>
    <dgm:cxn modelId="{98936583-C2F7-4232-9F62-5763DFCC2C1D}" srcId="{674B1C66-49D9-4529-89B1-2E40076C083C}" destId="{CE37BAAC-6655-466B-BC5D-3FA06FAC8ECC}" srcOrd="5" destOrd="0" parTransId="{80F0E2E0-AB1D-45CF-ACCF-049D130CE05D}" sibTransId="{8A618001-105C-4DCC-AACD-20BFBB3CEF32}"/>
    <dgm:cxn modelId="{1409B284-5D6F-4E3E-92CF-1E3717549310}" type="presOf" srcId="{A636BF5A-D702-49FA-9CFA-FC635E12B258}" destId="{33EE05F1-AB13-4703-A4E1-ADAF43EC4B91}" srcOrd="0" destOrd="5" presId="urn:microsoft.com/office/officeart/2005/8/layout/hList1"/>
    <dgm:cxn modelId="{CA3CC385-E076-4668-9D9C-5963CB6B0FD9}" type="presOf" srcId="{4F792EC5-B36E-451F-A8A7-EFCD56F035A9}" destId="{B073F03A-B470-45E7-A056-78DC3DE50EED}" srcOrd="0" destOrd="7" presId="urn:microsoft.com/office/officeart/2005/8/layout/hList1"/>
    <dgm:cxn modelId="{143DA18A-10CE-43AD-95BE-A5AB0BED1C1F}" type="presOf" srcId="{EBD0F0C5-04D3-42E0-9837-301C0B53556A}" destId="{45583062-C5A4-483F-93B7-2776F19C72AA}" srcOrd="0" destOrd="0" presId="urn:microsoft.com/office/officeart/2005/8/layout/hList1"/>
    <dgm:cxn modelId="{80717F8C-2001-4D19-8DE7-B487BC2BA0D8}" srcId="{0E68743C-90B0-4338-A985-C298D7A21D33}" destId="{3B52A07D-5A35-4BFA-B9D3-5B3CBE6B5DE8}" srcOrd="6" destOrd="0" parTransId="{E6C3EACE-63D0-4441-8819-78236B4B3584}" sibTransId="{F3448D89-4CD0-4791-8EBE-440740028D4B}"/>
    <dgm:cxn modelId="{DAF7A594-0F42-449C-9866-84B055A3D8F6}" srcId="{674B1C66-49D9-4529-89B1-2E40076C083C}" destId="{153BF92C-8BF1-4133-946D-EC4B5B57E392}" srcOrd="4" destOrd="0" parTransId="{3A98B0CE-3163-4F16-8A92-F1ACED08B9DD}" sibTransId="{51004518-9E49-4BA0-9A4B-81E46BA1EC59}"/>
    <dgm:cxn modelId="{5C45EE9B-5FB5-41BD-8418-857DA87FAFC8}" srcId="{0E68743C-90B0-4338-A985-C298D7A21D33}" destId="{5C4C006A-2FC3-4A76-BA86-BE566926E961}" srcOrd="1" destOrd="0" parTransId="{5BE3308E-09ED-4B74-96E2-CA45B371E570}" sibTransId="{BD4A83C4-4566-43C6-9262-B85275B0EBFF}"/>
    <dgm:cxn modelId="{5FB589A0-1245-44AB-9541-8D3B21D95F5B}" srcId="{60C95AC9-62A5-48C4-A99F-646A78F56203}" destId="{EBD0F0C5-04D3-42E0-9837-301C0B53556A}" srcOrd="0" destOrd="0" parTransId="{42585BBE-AF89-4F92-AE6C-41574822B60D}" sibTransId="{C06B9700-215D-45CC-B8F6-40E455908A8C}"/>
    <dgm:cxn modelId="{2B5484A1-8F21-4FAF-A8D0-21526A6E2230}" srcId="{0E68743C-90B0-4338-A985-C298D7A21D33}" destId="{CD6DAEBE-ED84-48DD-8DF9-439EC38A0AC5}" srcOrd="3" destOrd="0" parTransId="{70B71673-2EAB-4856-A29E-B9852B80D908}" sibTransId="{F5A43C41-7186-4104-BB1B-AE7B8C847A5E}"/>
    <dgm:cxn modelId="{D8F174A2-4A7C-4BB7-B51D-29355C1A7F6C}" type="presOf" srcId="{674B1C66-49D9-4529-89B1-2E40076C083C}" destId="{4547B98F-05E0-4E48-9B9A-60078957B589}" srcOrd="0" destOrd="0" presId="urn:microsoft.com/office/officeart/2005/8/layout/hList1"/>
    <dgm:cxn modelId="{200548A4-DAE9-4D67-AE49-77F56A0B363A}" type="presOf" srcId="{0E68743C-90B0-4338-A985-C298D7A21D33}" destId="{2896DFF4-E0F3-4C8A-8623-986389299D6D}" srcOrd="0" destOrd="0" presId="urn:microsoft.com/office/officeart/2005/8/layout/hList1"/>
    <dgm:cxn modelId="{BDA982AC-5386-4901-A60E-9E01FC655EB7}" type="presOf" srcId="{96917BEF-6A0A-485C-9463-6F2EB8865892}" destId="{878374A0-8FF7-4789-A6AE-68C0378A1F3C}" srcOrd="0" destOrd="3" presId="urn:microsoft.com/office/officeart/2005/8/layout/hList1"/>
    <dgm:cxn modelId="{9D099CB3-6A08-45FD-A22A-7DE6290B1462}" type="presOf" srcId="{82708A82-BB8F-406B-9CF5-D5E81412897F}" destId="{33EE05F1-AB13-4703-A4E1-ADAF43EC4B91}" srcOrd="0" destOrd="3" presId="urn:microsoft.com/office/officeart/2005/8/layout/hList1"/>
    <dgm:cxn modelId="{277336BA-0846-44EA-82BF-98E89061584C}" type="presOf" srcId="{0C321D81-664A-44D3-914E-4DEEF6BFDC19}" destId="{33EE05F1-AB13-4703-A4E1-ADAF43EC4B91}" srcOrd="0" destOrd="4" presId="urn:microsoft.com/office/officeart/2005/8/layout/hList1"/>
    <dgm:cxn modelId="{8A3610C2-5C59-4698-9D40-F5F5769A3E3D}" type="presOf" srcId="{563D94D5-EC06-4D0E-83E1-0B66E97BA9FA}" destId="{B073F03A-B470-45E7-A056-78DC3DE50EED}" srcOrd="0" destOrd="8" presId="urn:microsoft.com/office/officeart/2005/8/layout/hList1"/>
    <dgm:cxn modelId="{05134FC5-1F16-4927-A8DE-96979CE81361}" srcId="{EBD0F0C5-04D3-42E0-9837-301C0B53556A}" destId="{F20F7B94-C348-41ED-953C-1510B358F248}" srcOrd="6" destOrd="0" parTransId="{804224D8-8870-41C2-A566-D1963A55647F}" sibTransId="{4B8D1309-771A-49B0-9467-B0F87C96FB74}"/>
    <dgm:cxn modelId="{0B46E8C6-14C7-4BAC-B988-BC8A31D924B3}" srcId="{674B1C66-49D9-4529-89B1-2E40076C083C}" destId="{C85A1E07-E987-475D-9830-9435A645B172}" srcOrd="2" destOrd="0" parTransId="{CF9583A7-F0A6-4CB8-A4BF-42DE012555AC}" sibTransId="{5A89E5A6-FC02-4EFA-A84E-9790BA39C15F}"/>
    <dgm:cxn modelId="{88E33CC8-7D05-4490-AFF5-5685D9ADED12}" type="presOf" srcId="{C85A1E07-E987-475D-9830-9435A645B172}" destId="{878374A0-8FF7-4789-A6AE-68C0378A1F3C}" srcOrd="0" destOrd="2" presId="urn:microsoft.com/office/officeart/2005/8/layout/hList1"/>
    <dgm:cxn modelId="{3C81BFCD-13FE-418D-A056-5B0990756730}" type="presOf" srcId="{D6E00F27-7DF5-4DF6-BCB0-FA72B5019CA0}" destId="{B073F03A-B470-45E7-A056-78DC3DE50EED}" srcOrd="0" destOrd="2" presId="urn:microsoft.com/office/officeart/2005/8/layout/hList1"/>
    <dgm:cxn modelId="{DBB7CBDB-AE26-4F09-8393-22BB9A96E76F}" srcId="{EBD0F0C5-04D3-42E0-9837-301C0B53556A}" destId="{DDDDD3A6-B18A-42E2-99E9-0D5C5622AB91}" srcOrd="2" destOrd="0" parTransId="{14EFCB36-EE77-4E92-8E4E-23F21B96D6F7}" sibTransId="{E17B8E5E-A354-4D3E-9301-3CC15C96746D}"/>
    <dgm:cxn modelId="{5774C8DF-7FA6-4B82-BB32-4DB1894E0D5C}" srcId="{0E68743C-90B0-4338-A985-C298D7A21D33}" destId="{4F792EC5-B36E-451F-A8A7-EFCD56F035A9}" srcOrd="7" destOrd="0" parTransId="{3AA1ECD5-46EA-497B-8605-521D90889564}" sibTransId="{353E4CE0-46FE-4F82-ABB9-60E75794A17C}"/>
    <dgm:cxn modelId="{141D1AE2-B305-42F1-AA38-044177B31883}" srcId="{60C95AC9-62A5-48C4-A99F-646A78F56203}" destId="{0E68743C-90B0-4338-A985-C298D7A21D33}" srcOrd="2" destOrd="0" parTransId="{5D13169B-FF77-4FA9-91F8-76C396F1B99A}" sibTransId="{8825C7D8-D902-45BB-A0AE-FD03260A1071}"/>
    <dgm:cxn modelId="{9ECC83E7-207A-4752-A626-61B01355332C}" srcId="{674B1C66-49D9-4529-89B1-2E40076C083C}" destId="{43FE3238-045A-4736-BFE9-860E11AC3B38}" srcOrd="7" destOrd="0" parTransId="{860A2BD7-8E2F-44BA-9222-9325B9E06805}" sibTransId="{BEBA3B3C-1EDB-4B3E-8ED1-ED175EB431A5}"/>
    <dgm:cxn modelId="{6355C0EC-9D26-44F4-9C9E-41BA658F0FB4}" type="presOf" srcId="{60C95AC9-62A5-48C4-A99F-646A78F56203}" destId="{CE4AA8A3-7805-4F8F-AB31-58DFA61C9852}" srcOrd="0" destOrd="0" presId="urn:microsoft.com/office/officeart/2005/8/layout/hList1"/>
    <dgm:cxn modelId="{106616EF-6C7C-4801-B250-4F15B885CE47}" type="presOf" srcId="{C18AEB40-058B-4B47-A790-B45438AC60FD}" destId="{878374A0-8FF7-4789-A6AE-68C0378A1F3C}" srcOrd="0" destOrd="6" presId="urn:microsoft.com/office/officeart/2005/8/layout/hList1"/>
    <dgm:cxn modelId="{1C129CFB-CE52-4444-8EF6-5D9F64B31207}" type="presOf" srcId="{555F8D84-CF73-4FA4-B419-CDBBA485D7A2}" destId="{B073F03A-B470-45E7-A056-78DC3DE50EED}" srcOrd="0" destOrd="0" presId="urn:microsoft.com/office/officeart/2005/8/layout/hList1"/>
    <dgm:cxn modelId="{2E870967-7087-471D-ACF0-9750409D8B6E}" type="presParOf" srcId="{CE4AA8A3-7805-4F8F-AB31-58DFA61C9852}" destId="{166EF8C3-2B18-4C61-98E0-ABAAAA2A43CE}" srcOrd="0" destOrd="0" presId="urn:microsoft.com/office/officeart/2005/8/layout/hList1"/>
    <dgm:cxn modelId="{FECE9F42-F083-4E94-8078-19751318F7C3}" type="presParOf" srcId="{166EF8C3-2B18-4C61-98E0-ABAAAA2A43CE}" destId="{45583062-C5A4-483F-93B7-2776F19C72AA}" srcOrd="0" destOrd="0" presId="urn:microsoft.com/office/officeart/2005/8/layout/hList1"/>
    <dgm:cxn modelId="{F7E74A20-E3AB-46C9-B858-E4AA8C4B624B}" type="presParOf" srcId="{166EF8C3-2B18-4C61-98E0-ABAAAA2A43CE}" destId="{33EE05F1-AB13-4703-A4E1-ADAF43EC4B91}" srcOrd="1" destOrd="0" presId="urn:microsoft.com/office/officeart/2005/8/layout/hList1"/>
    <dgm:cxn modelId="{1CB0A916-4B0C-4AF7-84DF-B13C202623BC}" type="presParOf" srcId="{CE4AA8A3-7805-4F8F-AB31-58DFA61C9852}" destId="{9A163BAC-C731-43CF-B2BD-312F6637522E}" srcOrd="1" destOrd="0" presId="urn:microsoft.com/office/officeart/2005/8/layout/hList1"/>
    <dgm:cxn modelId="{61D8F711-65BE-4CE2-9503-ED21EEB3BBDE}" type="presParOf" srcId="{CE4AA8A3-7805-4F8F-AB31-58DFA61C9852}" destId="{7EC34BBC-6F88-45C2-8E1E-8A99FF4C58ED}" srcOrd="2" destOrd="0" presId="urn:microsoft.com/office/officeart/2005/8/layout/hList1"/>
    <dgm:cxn modelId="{374251E9-5B58-4EAE-AE2D-574381381F64}" type="presParOf" srcId="{7EC34BBC-6F88-45C2-8E1E-8A99FF4C58ED}" destId="{4547B98F-05E0-4E48-9B9A-60078957B589}" srcOrd="0" destOrd="0" presId="urn:microsoft.com/office/officeart/2005/8/layout/hList1"/>
    <dgm:cxn modelId="{774B4FF0-1F40-418F-B826-492AF5C22DBF}" type="presParOf" srcId="{7EC34BBC-6F88-45C2-8E1E-8A99FF4C58ED}" destId="{878374A0-8FF7-4789-A6AE-68C0378A1F3C}" srcOrd="1" destOrd="0" presId="urn:microsoft.com/office/officeart/2005/8/layout/hList1"/>
    <dgm:cxn modelId="{20EF96B0-8CB8-40AA-992A-09BC33F4C1C9}" type="presParOf" srcId="{CE4AA8A3-7805-4F8F-AB31-58DFA61C9852}" destId="{85B7F43C-1EA8-4F5D-B75B-6EA23557A756}" srcOrd="3" destOrd="0" presId="urn:microsoft.com/office/officeart/2005/8/layout/hList1"/>
    <dgm:cxn modelId="{993F2201-2EB7-4198-9469-3ED367B5E637}" type="presParOf" srcId="{CE4AA8A3-7805-4F8F-AB31-58DFA61C9852}" destId="{BC96F8CD-52CC-4023-8426-BB21EE7710E5}" srcOrd="4" destOrd="0" presId="urn:microsoft.com/office/officeart/2005/8/layout/hList1"/>
    <dgm:cxn modelId="{9380A39B-C52D-4380-92A2-49AD106E105B}" type="presParOf" srcId="{BC96F8CD-52CC-4023-8426-BB21EE7710E5}" destId="{2896DFF4-E0F3-4C8A-8623-986389299D6D}" srcOrd="0" destOrd="0" presId="urn:microsoft.com/office/officeart/2005/8/layout/hList1"/>
    <dgm:cxn modelId="{8323A3BD-D651-4FBC-86E0-1BA04248D0F2}" type="presParOf" srcId="{BC96F8CD-52CC-4023-8426-BB21EE7710E5}" destId="{B073F03A-B470-45E7-A056-78DC3DE50EE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9A0784F-8D49-439E-9394-4DF604BC31B3}" type="doc">
      <dgm:prSet loTypeId="urn:microsoft.com/office/officeart/2005/8/layout/hProcess9" loCatId="process" qsTypeId="urn:microsoft.com/office/officeart/2005/8/quickstyle/simple1" qsCatId="simple" csTypeId="urn:microsoft.com/office/officeart/2005/8/colors/accent1_2" csCatId="accent1" phldr="1"/>
      <dgm:spPr/>
    </dgm:pt>
    <dgm:pt modelId="{EB6069D4-1655-4025-8A82-AF99F22B9127}">
      <dgm:prSet phldrT="[Text]" custT="1"/>
      <dgm:spPr/>
      <dgm:t>
        <a:bodyPr/>
        <a:lstStyle/>
        <a:p>
          <a:r>
            <a:rPr lang="en-US" sz="2400" b="1" dirty="0"/>
            <a:t>1. Book space</a:t>
          </a:r>
        </a:p>
        <a:p>
          <a:pPr rtl="0"/>
          <a:r>
            <a:rPr lang="en-US" sz="1800" b="0" dirty="0"/>
            <a:t>- Complete crib </a:t>
          </a:r>
          <a:r>
            <a:rPr lang="en-US" sz="1800" b="0" dirty="0">
              <a:latin typeface="Arial" panose="020B0604020202020204"/>
            </a:rPr>
            <a:t>sheet and book 3 weeks before</a:t>
          </a:r>
        </a:p>
      </dgm:t>
    </dgm:pt>
    <dgm:pt modelId="{D24547B6-15A1-49B2-8CB0-2190B406BADA}" type="parTrans" cxnId="{BAF38E36-F410-428E-8BB7-4D66E70C56C3}">
      <dgm:prSet/>
      <dgm:spPr/>
      <dgm:t>
        <a:bodyPr/>
        <a:lstStyle/>
        <a:p>
          <a:endParaRPr lang="en-US"/>
        </a:p>
      </dgm:t>
    </dgm:pt>
    <dgm:pt modelId="{446F3915-57A2-4C22-9492-DEF69D121D48}" type="sibTrans" cxnId="{BAF38E36-F410-428E-8BB7-4D66E70C56C3}">
      <dgm:prSet/>
      <dgm:spPr/>
      <dgm:t>
        <a:bodyPr/>
        <a:lstStyle/>
        <a:p>
          <a:endParaRPr lang="en-US"/>
        </a:p>
      </dgm:t>
    </dgm:pt>
    <dgm:pt modelId="{3CF2E348-88D5-435F-B5E7-91403AFA8998}">
      <dgm:prSet phldrT="[Text]" custT="1"/>
      <dgm:spPr/>
      <dgm:t>
        <a:bodyPr/>
        <a:lstStyle/>
        <a:p>
          <a:r>
            <a:rPr lang="en-US" sz="2400" b="1"/>
            <a:t>2. Book catering</a:t>
          </a:r>
        </a:p>
        <a:p>
          <a:r>
            <a:rPr lang="en-US" sz="1800" b="0"/>
            <a:t>- Meet with the catering team if necessary to discuss requirements</a:t>
          </a:r>
        </a:p>
      </dgm:t>
    </dgm:pt>
    <dgm:pt modelId="{64D1E0D7-771D-4803-B723-47057A34E748}" type="parTrans" cxnId="{E950345A-7987-4982-ABF8-8788119A532F}">
      <dgm:prSet/>
      <dgm:spPr/>
      <dgm:t>
        <a:bodyPr/>
        <a:lstStyle/>
        <a:p>
          <a:endParaRPr lang="en-US"/>
        </a:p>
      </dgm:t>
    </dgm:pt>
    <dgm:pt modelId="{D7821C4A-4F49-41D4-A2B3-4FB5C860BF5C}" type="sibTrans" cxnId="{E950345A-7987-4982-ABF8-8788119A532F}">
      <dgm:prSet/>
      <dgm:spPr/>
      <dgm:t>
        <a:bodyPr/>
        <a:lstStyle/>
        <a:p>
          <a:endParaRPr lang="en-US"/>
        </a:p>
      </dgm:t>
    </dgm:pt>
    <dgm:pt modelId="{79D7AA3F-486E-46CC-88FF-64D589E683EE}">
      <dgm:prSet phldrT="[Text]" custT="1"/>
      <dgm:spPr/>
      <dgm:t>
        <a:bodyPr/>
        <a:lstStyle/>
        <a:p>
          <a:r>
            <a:rPr lang="en-US" sz="2000" b="1" dirty="0"/>
            <a:t>3. If required, complete event information sheet</a:t>
          </a:r>
        </a:p>
        <a:p>
          <a:r>
            <a:rPr lang="en-US" sz="2000" b="0" dirty="0"/>
            <a:t>- </a:t>
          </a:r>
          <a:r>
            <a:rPr lang="en-US" sz="1600" b="0" dirty="0"/>
            <a:t>Contact Campus Services/AV teams with any questions to help you complete this</a:t>
          </a:r>
          <a:endParaRPr lang="en-US" sz="1800" b="0" dirty="0"/>
        </a:p>
      </dgm:t>
    </dgm:pt>
    <dgm:pt modelId="{7A37417F-6FD3-49B7-817A-5839DC6DFC77}" type="parTrans" cxnId="{ED2A699E-CD82-4919-A83F-B91EFADA18E1}">
      <dgm:prSet/>
      <dgm:spPr/>
      <dgm:t>
        <a:bodyPr/>
        <a:lstStyle/>
        <a:p>
          <a:endParaRPr lang="en-US"/>
        </a:p>
      </dgm:t>
    </dgm:pt>
    <dgm:pt modelId="{31E36048-242D-45AE-86AA-ACB18DA2843C}" type="sibTrans" cxnId="{ED2A699E-CD82-4919-A83F-B91EFADA18E1}">
      <dgm:prSet/>
      <dgm:spPr/>
      <dgm:t>
        <a:bodyPr/>
        <a:lstStyle/>
        <a:p>
          <a:endParaRPr lang="en-US"/>
        </a:p>
      </dgm:t>
    </dgm:pt>
    <dgm:pt modelId="{4147A7F6-87C0-4368-9C6B-AB88618E22F5}">
      <dgm:prSet phldrT="[Text]" custT="1"/>
      <dgm:spPr/>
      <dgm:t>
        <a:bodyPr/>
        <a:lstStyle/>
        <a:p>
          <a:r>
            <a:rPr lang="en-US" sz="2400" b="1" dirty="0"/>
            <a:t>4. If required, attend Key Events meeting</a:t>
          </a:r>
        </a:p>
        <a:p>
          <a:r>
            <a:rPr lang="en-US" sz="1800" b="0" dirty="0"/>
            <a:t>(two weeks out from event)</a:t>
          </a:r>
        </a:p>
      </dgm:t>
    </dgm:pt>
    <dgm:pt modelId="{D779A8A2-8F48-4D3F-9110-EF30960B5FAD}" type="parTrans" cxnId="{505C2CC7-BC23-49ED-8B63-209FFF5D915F}">
      <dgm:prSet/>
      <dgm:spPr/>
      <dgm:t>
        <a:bodyPr/>
        <a:lstStyle/>
        <a:p>
          <a:endParaRPr lang="en-US"/>
        </a:p>
      </dgm:t>
    </dgm:pt>
    <dgm:pt modelId="{A2B3135D-06AA-496A-8F94-F2615BFBC836}" type="sibTrans" cxnId="{505C2CC7-BC23-49ED-8B63-209FFF5D915F}">
      <dgm:prSet/>
      <dgm:spPr/>
      <dgm:t>
        <a:bodyPr/>
        <a:lstStyle/>
        <a:p>
          <a:endParaRPr lang="en-US"/>
        </a:p>
      </dgm:t>
    </dgm:pt>
    <dgm:pt modelId="{936F1BCF-6E22-429D-B855-9A6898D54310}" type="pres">
      <dgm:prSet presAssocID="{39A0784F-8D49-439E-9394-4DF604BC31B3}" presName="CompostProcess" presStyleCnt="0">
        <dgm:presLayoutVars>
          <dgm:dir/>
          <dgm:resizeHandles val="exact"/>
        </dgm:presLayoutVars>
      </dgm:prSet>
      <dgm:spPr/>
    </dgm:pt>
    <dgm:pt modelId="{4FA69485-B331-43AF-AF52-C3E3B27D5823}" type="pres">
      <dgm:prSet presAssocID="{39A0784F-8D49-439E-9394-4DF604BC31B3}" presName="arrow" presStyleLbl="bgShp" presStyleIdx="0" presStyleCnt="1"/>
      <dgm:spPr/>
    </dgm:pt>
    <dgm:pt modelId="{E909F07C-E877-4FA6-9BA8-8DBD3FE58500}" type="pres">
      <dgm:prSet presAssocID="{39A0784F-8D49-439E-9394-4DF604BC31B3}" presName="linearProcess" presStyleCnt="0"/>
      <dgm:spPr/>
    </dgm:pt>
    <dgm:pt modelId="{69EB6399-5D7E-4BC0-AA2B-FBE014A9D520}" type="pres">
      <dgm:prSet presAssocID="{EB6069D4-1655-4025-8A82-AF99F22B9127}" presName="textNode" presStyleLbl="node1" presStyleIdx="0" presStyleCnt="4">
        <dgm:presLayoutVars>
          <dgm:bulletEnabled val="1"/>
        </dgm:presLayoutVars>
      </dgm:prSet>
      <dgm:spPr/>
    </dgm:pt>
    <dgm:pt modelId="{99CB79A9-BEEA-4893-9471-94EAE50FEFD6}" type="pres">
      <dgm:prSet presAssocID="{446F3915-57A2-4C22-9492-DEF69D121D48}" presName="sibTrans" presStyleCnt="0"/>
      <dgm:spPr/>
    </dgm:pt>
    <dgm:pt modelId="{CCBB4573-5ED0-4CC4-8566-58E6579CB4A2}" type="pres">
      <dgm:prSet presAssocID="{3CF2E348-88D5-435F-B5E7-91403AFA8998}" presName="textNode" presStyleLbl="node1" presStyleIdx="1" presStyleCnt="4">
        <dgm:presLayoutVars>
          <dgm:bulletEnabled val="1"/>
        </dgm:presLayoutVars>
      </dgm:prSet>
      <dgm:spPr/>
    </dgm:pt>
    <dgm:pt modelId="{954425CD-F312-4EE4-A9A3-FFA081F0EE44}" type="pres">
      <dgm:prSet presAssocID="{D7821C4A-4F49-41D4-A2B3-4FB5C860BF5C}" presName="sibTrans" presStyleCnt="0"/>
      <dgm:spPr/>
    </dgm:pt>
    <dgm:pt modelId="{5FCE598C-59AF-4C76-A82E-6A1DF3AB11F6}" type="pres">
      <dgm:prSet presAssocID="{79D7AA3F-486E-46CC-88FF-64D589E683EE}" presName="textNode" presStyleLbl="node1" presStyleIdx="2" presStyleCnt="4">
        <dgm:presLayoutVars>
          <dgm:bulletEnabled val="1"/>
        </dgm:presLayoutVars>
      </dgm:prSet>
      <dgm:spPr/>
    </dgm:pt>
    <dgm:pt modelId="{67D85C60-2744-438E-9C20-25E613FC7DBB}" type="pres">
      <dgm:prSet presAssocID="{31E36048-242D-45AE-86AA-ACB18DA2843C}" presName="sibTrans" presStyleCnt="0"/>
      <dgm:spPr/>
    </dgm:pt>
    <dgm:pt modelId="{2E3C08D5-092D-46D5-812B-7AE42B94115E}" type="pres">
      <dgm:prSet presAssocID="{4147A7F6-87C0-4368-9C6B-AB88618E22F5}" presName="textNode" presStyleLbl="node1" presStyleIdx="3" presStyleCnt="4">
        <dgm:presLayoutVars>
          <dgm:bulletEnabled val="1"/>
        </dgm:presLayoutVars>
      </dgm:prSet>
      <dgm:spPr/>
    </dgm:pt>
  </dgm:ptLst>
  <dgm:cxnLst>
    <dgm:cxn modelId="{BAF38E36-F410-428E-8BB7-4D66E70C56C3}" srcId="{39A0784F-8D49-439E-9394-4DF604BC31B3}" destId="{EB6069D4-1655-4025-8A82-AF99F22B9127}" srcOrd="0" destOrd="0" parTransId="{D24547B6-15A1-49B2-8CB0-2190B406BADA}" sibTransId="{446F3915-57A2-4C22-9492-DEF69D121D48}"/>
    <dgm:cxn modelId="{E950345A-7987-4982-ABF8-8788119A532F}" srcId="{39A0784F-8D49-439E-9394-4DF604BC31B3}" destId="{3CF2E348-88D5-435F-B5E7-91403AFA8998}" srcOrd="1" destOrd="0" parTransId="{64D1E0D7-771D-4803-B723-47057A34E748}" sibTransId="{D7821C4A-4F49-41D4-A2B3-4FB5C860BF5C}"/>
    <dgm:cxn modelId="{ED2A699E-CD82-4919-A83F-B91EFADA18E1}" srcId="{39A0784F-8D49-439E-9394-4DF604BC31B3}" destId="{79D7AA3F-486E-46CC-88FF-64D589E683EE}" srcOrd="2" destOrd="0" parTransId="{7A37417F-6FD3-49B7-817A-5839DC6DFC77}" sibTransId="{31E36048-242D-45AE-86AA-ACB18DA2843C}"/>
    <dgm:cxn modelId="{52EB679F-D3BA-412F-AD17-D6817BBCF613}" type="presOf" srcId="{39A0784F-8D49-439E-9394-4DF604BC31B3}" destId="{936F1BCF-6E22-429D-B855-9A6898D54310}" srcOrd="0" destOrd="0" presId="urn:microsoft.com/office/officeart/2005/8/layout/hProcess9"/>
    <dgm:cxn modelId="{AA9550B5-0F7B-4453-9A06-7CFAF1440490}" type="presOf" srcId="{EB6069D4-1655-4025-8A82-AF99F22B9127}" destId="{69EB6399-5D7E-4BC0-AA2B-FBE014A9D520}" srcOrd="0" destOrd="0" presId="urn:microsoft.com/office/officeart/2005/8/layout/hProcess9"/>
    <dgm:cxn modelId="{CE699AC6-917F-4161-B417-B9E15046AF02}" type="presOf" srcId="{3CF2E348-88D5-435F-B5E7-91403AFA8998}" destId="{CCBB4573-5ED0-4CC4-8566-58E6579CB4A2}" srcOrd="0" destOrd="0" presId="urn:microsoft.com/office/officeart/2005/8/layout/hProcess9"/>
    <dgm:cxn modelId="{505C2CC7-BC23-49ED-8B63-209FFF5D915F}" srcId="{39A0784F-8D49-439E-9394-4DF604BC31B3}" destId="{4147A7F6-87C0-4368-9C6B-AB88618E22F5}" srcOrd="3" destOrd="0" parTransId="{D779A8A2-8F48-4D3F-9110-EF30960B5FAD}" sibTransId="{A2B3135D-06AA-496A-8F94-F2615BFBC836}"/>
    <dgm:cxn modelId="{77E8D1D2-5CB7-4393-82A5-53FD981E39F5}" type="presOf" srcId="{4147A7F6-87C0-4368-9C6B-AB88618E22F5}" destId="{2E3C08D5-092D-46D5-812B-7AE42B94115E}" srcOrd="0" destOrd="0" presId="urn:microsoft.com/office/officeart/2005/8/layout/hProcess9"/>
    <dgm:cxn modelId="{A26A04DC-55A9-4C82-84BE-AA798B6CC47C}" type="presOf" srcId="{79D7AA3F-486E-46CC-88FF-64D589E683EE}" destId="{5FCE598C-59AF-4C76-A82E-6A1DF3AB11F6}" srcOrd="0" destOrd="0" presId="urn:microsoft.com/office/officeart/2005/8/layout/hProcess9"/>
    <dgm:cxn modelId="{1B6684D4-5978-472A-AE05-4959A9E31346}" type="presParOf" srcId="{936F1BCF-6E22-429D-B855-9A6898D54310}" destId="{4FA69485-B331-43AF-AF52-C3E3B27D5823}" srcOrd="0" destOrd="0" presId="urn:microsoft.com/office/officeart/2005/8/layout/hProcess9"/>
    <dgm:cxn modelId="{20737FC3-F8F9-46C9-95CE-ABA17E73D4EC}" type="presParOf" srcId="{936F1BCF-6E22-429D-B855-9A6898D54310}" destId="{E909F07C-E877-4FA6-9BA8-8DBD3FE58500}" srcOrd="1" destOrd="0" presId="urn:microsoft.com/office/officeart/2005/8/layout/hProcess9"/>
    <dgm:cxn modelId="{AF621F2E-3D47-4EA3-AB68-A04BE436FD38}" type="presParOf" srcId="{E909F07C-E877-4FA6-9BA8-8DBD3FE58500}" destId="{69EB6399-5D7E-4BC0-AA2B-FBE014A9D520}" srcOrd="0" destOrd="0" presId="urn:microsoft.com/office/officeart/2005/8/layout/hProcess9"/>
    <dgm:cxn modelId="{25B077B8-093E-46D0-A32F-E863B8F1B473}" type="presParOf" srcId="{E909F07C-E877-4FA6-9BA8-8DBD3FE58500}" destId="{99CB79A9-BEEA-4893-9471-94EAE50FEFD6}" srcOrd="1" destOrd="0" presId="urn:microsoft.com/office/officeart/2005/8/layout/hProcess9"/>
    <dgm:cxn modelId="{1402D3BA-7133-48E4-9E37-7F786D830B5B}" type="presParOf" srcId="{E909F07C-E877-4FA6-9BA8-8DBD3FE58500}" destId="{CCBB4573-5ED0-4CC4-8566-58E6579CB4A2}" srcOrd="2" destOrd="0" presId="urn:microsoft.com/office/officeart/2005/8/layout/hProcess9"/>
    <dgm:cxn modelId="{A56A7118-4786-4174-A873-B1A0B94018B7}" type="presParOf" srcId="{E909F07C-E877-4FA6-9BA8-8DBD3FE58500}" destId="{954425CD-F312-4EE4-A9A3-FFA081F0EE44}" srcOrd="3" destOrd="0" presId="urn:microsoft.com/office/officeart/2005/8/layout/hProcess9"/>
    <dgm:cxn modelId="{319A5C83-C60A-4464-85E7-513CE2102AFA}" type="presParOf" srcId="{E909F07C-E877-4FA6-9BA8-8DBD3FE58500}" destId="{5FCE598C-59AF-4C76-A82E-6A1DF3AB11F6}" srcOrd="4" destOrd="0" presId="urn:microsoft.com/office/officeart/2005/8/layout/hProcess9"/>
    <dgm:cxn modelId="{F18A59A6-F4E6-4B4D-9465-F57A1417EDA2}" type="presParOf" srcId="{E909F07C-E877-4FA6-9BA8-8DBD3FE58500}" destId="{67D85C60-2744-438E-9C20-25E613FC7DBB}" srcOrd="5" destOrd="0" presId="urn:microsoft.com/office/officeart/2005/8/layout/hProcess9"/>
    <dgm:cxn modelId="{44966C48-99D3-4DD3-AEE7-68AF9F654D10}" type="presParOf" srcId="{E909F07C-E877-4FA6-9BA8-8DBD3FE58500}" destId="{2E3C08D5-092D-46D5-812B-7AE42B94115E}"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783982-28EB-43A2-88FB-6B344B538552}">
      <dsp:nvSpPr>
        <dsp:cNvPr id="0" name=""/>
        <dsp:cNvSpPr/>
      </dsp:nvSpPr>
      <dsp:spPr>
        <a:xfrm>
          <a:off x="7961" y="346849"/>
          <a:ext cx="2964583" cy="118583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0" tIns="203200" rIns="355600" bIns="203200" numCol="1" spcCol="1270" anchor="ctr" anchorCtr="0">
          <a:noAutofit/>
        </a:bodyPr>
        <a:lstStyle/>
        <a:p>
          <a:pPr marL="0" lvl="0" indent="0" algn="ctr" defTabSz="2222500">
            <a:lnSpc>
              <a:spcPct val="90000"/>
            </a:lnSpc>
            <a:spcBef>
              <a:spcPct val="0"/>
            </a:spcBef>
            <a:spcAft>
              <a:spcPct val="35000"/>
            </a:spcAft>
            <a:buNone/>
          </a:pPr>
          <a:r>
            <a:rPr lang="en-US" sz="5000" kern="1200"/>
            <a:t>Why?</a:t>
          </a:r>
        </a:p>
      </dsp:txBody>
      <dsp:txXfrm>
        <a:off x="7961" y="346849"/>
        <a:ext cx="2964583" cy="1185833"/>
      </dsp:txXfrm>
    </dsp:sp>
    <dsp:sp modelId="{2D73DAEF-9468-4534-9EC4-625F71FEFEFD}">
      <dsp:nvSpPr>
        <dsp:cNvPr id="0" name=""/>
        <dsp:cNvSpPr/>
      </dsp:nvSpPr>
      <dsp:spPr>
        <a:xfrm>
          <a:off x="7961" y="1532683"/>
          <a:ext cx="2964583" cy="374692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a:t>Before doing anything else, ensure that you </a:t>
          </a:r>
          <a:r>
            <a:rPr lang="en-GB" sz="1400" b="1" kern="1200"/>
            <a:t>are clear about the purpose of the event and what you want to achieve</a:t>
          </a:r>
          <a:endParaRPr lang="en-US" sz="1400" b="1" kern="1200"/>
        </a:p>
        <a:p>
          <a:pPr marL="114300" lvl="1" indent="-114300" algn="l" defTabSz="622300">
            <a:lnSpc>
              <a:spcPct val="90000"/>
            </a:lnSpc>
            <a:spcBef>
              <a:spcPct val="0"/>
            </a:spcBef>
            <a:spcAft>
              <a:spcPct val="15000"/>
            </a:spcAft>
            <a:buChar char="•"/>
          </a:pPr>
          <a:endParaRPr lang="en-US" sz="1400" b="1" kern="1200"/>
        </a:p>
        <a:p>
          <a:pPr marL="114300" lvl="1" indent="-114300" algn="l" defTabSz="622300">
            <a:lnSpc>
              <a:spcPct val="90000"/>
            </a:lnSpc>
            <a:spcBef>
              <a:spcPct val="0"/>
            </a:spcBef>
            <a:spcAft>
              <a:spcPct val="15000"/>
            </a:spcAft>
            <a:buChar char="•"/>
          </a:pPr>
          <a:r>
            <a:rPr lang="en-US" sz="1400" kern="1200"/>
            <a:t>Consider how you will measure success. </a:t>
          </a:r>
          <a:r>
            <a:rPr lang="en-US" sz="1400" b="1" kern="1200"/>
            <a:t>Set clear objectives </a:t>
          </a:r>
          <a:r>
            <a:rPr lang="en-US" sz="1400" kern="1200"/>
            <a:t>and </a:t>
          </a:r>
          <a:r>
            <a:rPr lang="en-US" sz="1400" b="1" kern="1200"/>
            <a:t>measurable KPIs</a:t>
          </a:r>
        </a:p>
        <a:p>
          <a:pPr marL="114300" lvl="1" indent="-114300" algn="l" defTabSz="622300">
            <a:lnSpc>
              <a:spcPct val="90000"/>
            </a:lnSpc>
            <a:spcBef>
              <a:spcPct val="0"/>
            </a:spcBef>
            <a:spcAft>
              <a:spcPct val="15000"/>
            </a:spcAft>
            <a:buChar char="•"/>
          </a:pPr>
          <a:endParaRPr lang="en-US" sz="1400" b="1" kern="1200"/>
        </a:p>
        <a:p>
          <a:pPr marL="114300" lvl="1" indent="-114300" algn="l" defTabSz="622300">
            <a:lnSpc>
              <a:spcPct val="90000"/>
            </a:lnSpc>
            <a:spcBef>
              <a:spcPct val="0"/>
            </a:spcBef>
            <a:spcAft>
              <a:spcPct val="15000"/>
            </a:spcAft>
            <a:buChar char="•"/>
          </a:pPr>
          <a:r>
            <a:rPr lang="en-GB" sz="1400" kern="1200"/>
            <a:t>Also ask yourself the question - </a:t>
          </a:r>
          <a:r>
            <a:rPr lang="en-GB" sz="1400" b="1" kern="1200"/>
            <a:t>is an event the best format </a:t>
          </a:r>
          <a:r>
            <a:rPr lang="en-GB" sz="1400" kern="1200"/>
            <a:t>/ channel to achieve these goals?</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b="1" kern="1200"/>
            <a:t>Why would your audience want to attend? </a:t>
          </a:r>
          <a:r>
            <a:rPr lang="en-GB" sz="1400" kern="1200"/>
            <a:t>Ensure that you keep their needs &amp; motivations in mind at all times during the event planning</a:t>
          </a:r>
          <a:endParaRPr lang="en-US" sz="1400" kern="1200"/>
        </a:p>
      </dsp:txBody>
      <dsp:txXfrm>
        <a:off x="7961" y="1532683"/>
        <a:ext cx="2964583" cy="3746924"/>
      </dsp:txXfrm>
    </dsp:sp>
    <dsp:sp modelId="{B7CD94EC-B5E9-4F88-BE9B-16CE65B3ACE8}">
      <dsp:nvSpPr>
        <dsp:cNvPr id="0" name=""/>
        <dsp:cNvSpPr/>
      </dsp:nvSpPr>
      <dsp:spPr>
        <a:xfrm>
          <a:off x="3387586" y="346849"/>
          <a:ext cx="2964583" cy="118583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0" tIns="203200" rIns="355600" bIns="203200" numCol="1" spcCol="1270" anchor="ctr" anchorCtr="0">
          <a:noAutofit/>
        </a:bodyPr>
        <a:lstStyle/>
        <a:p>
          <a:pPr marL="0" lvl="0" indent="0" algn="ctr" defTabSz="2222500">
            <a:lnSpc>
              <a:spcPct val="90000"/>
            </a:lnSpc>
            <a:spcBef>
              <a:spcPct val="0"/>
            </a:spcBef>
            <a:spcAft>
              <a:spcPct val="35000"/>
            </a:spcAft>
            <a:buNone/>
          </a:pPr>
          <a:r>
            <a:rPr lang="en-US" sz="5000" kern="1200"/>
            <a:t>Who?</a:t>
          </a:r>
        </a:p>
      </dsp:txBody>
      <dsp:txXfrm>
        <a:off x="3387586" y="346849"/>
        <a:ext cx="2964583" cy="1185833"/>
      </dsp:txXfrm>
    </dsp:sp>
    <dsp:sp modelId="{C32FFEDF-2CFB-4770-86C3-854428CE2FBA}">
      <dsp:nvSpPr>
        <dsp:cNvPr id="0" name=""/>
        <dsp:cNvSpPr/>
      </dsp:nvSpPr>
      <dsp:spPr>
        <a:xfrm>
          <a:off x="3387586" y="1532683"/>
          <a:ext cx="2964583" cy="374692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a:t>Define your </a:t>
          </a:r>
          <a:r>
            <a:rPr lang="en-GB" sz="1400" b="1" kern="1200"/>
            <a:t>target audience</a:t>
          </a:r>
          <a:r>
            <a:rPr lang="en-GB" sz="1400" kern="1200"/>
            <a:t>: who do you want in the room, and why?</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kern="1200"/>
            <a:t>What is the size of your invitation list and </a:t>
          </a:r>
          <a:r>
            <a:rPr lang="en-GB" sz="1400" b="1" kern="1200"/>
            <a:t>how many </a:t>
          </a:r>
          <a:r>
            <a:rPr lang="en-GB" sz="1400" kern="1200"/>
            <a:t>do you expect to register and attend (allowing for no show rate)?</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b="0" kern="1200"/>
            <a:t>Who will you invite to </a:t>
          </a:r>
          <a:r>
            <a:rPr lang="en-GB" sz="1400" b="1" kern="1200"/>
            <a:t>speak </a:t>
          </a:r>
          <a:r>
            <a:rPr lang="en-GB" sz="1400" kern="1200"/>
            <a:t>at the event?</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US" sz="1400" kern="1200"/>
            <a:t>Have you considered </a:t>
          </a:r>
          <a:r>
            <a:rPr lang="en-US" sz="1400" b="1" kern="1200"/>
            <a:t>all School audiences</a:t>
          </a:r>
          <a:r>
            <a:rPr lang="en-US" sz="1400" kern="1200"/>
            <a:t>? Current and prospective students, alumni, Exec Ed participants, corporate/HR partners, recruiters, staff, faculty</a:t>
          </a:r>
        </a:p>
      </dsp:txBody>
      <dsp:txXfrm>
        <a:off x="3387586" y="1532683"/>
        <a:ext cx="2964583" cy="3746924"/>
      </dsp:txXfrm>
    </dsp:sp>
    <dsp:sp modelId="{34B11075-69CD-445C-B11E-19901A749B64}">
      <dsp:nvSpPr>
        <dsp:cNvPr id="0" name=""/>
        <dsp:cNvSpPr/>
      </dsp:nvSpPr>
      <dsp:spPr>
        <a:xfrm>
          <a:off x="6765330" y="346849"/>
          <a:ext cx="2964583" cy="118583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0" tIns="203200" rIns="355600" bIns="203200" numCol="1" spcCol="1270" anchor="ctr" anchorCtr="0">
          <a:noAutofit/>
        </a:bodyPr>
        <a:lstStyle/>
        <a:p>
          <a:pPr marL="0" lvl="0" indent="0" algn="ctr" defTabSz="2222500">
            <a:lnSpc>
              <a:spcPct val="90000"/>
            </a:lnSpc>
            <a:spcBef>
              <a:spcPct val="0"/>
            </a:spcBef>
            <a:spcAft>
              <a:spcPct val="35000"/>
            </a:spcAft>
            <a:buNone/>
          </a:pPr>
          <a:r>
            <a:rPr lang="en-US" sz="5000" kern="1200"/>
            <a:t>What?</a:t>
          </a:r>
        </a:p>
      </dsp:txBody>
      <dsp:txXfrm>
        <a:off x="6765330" y="346849"/>
        <a:ext cx="2964583" cy="1185833"/>
      </dsp:txXfrm>
    </dsp:sp>
    <dsp:sp modelId="{C56352B1-F741-4F23-89BE-6B3AF09F2A54}">
      <dsp:nvSpPr>
        <dsp:cNvPr id="0" name=""/>
        <dsp:cNvSpPr/>
      </dsp:nvSpPr>
      <dsp:spPr>
        <a:xfrm>
          <a:off x="6765330" y="1532683"/>
          <a:ext cx="2964583" cy="374692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b="0" kern="1200"/>
            <a:t>What</a:t>
          </a:r>
          <a:r>
            <a:rPr lang="en-GB" sz="1400" b="1" kern="1200"/>
            <a:t> format </a:t>
          </a:r>
          <a:r>
            <a:rPr lang="en-GB" sz="1400" kern="1200"/>
            <a:t>will best fit this event and the audience you are trying to appeal to and enable you to achieve your objectives?</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kern="1200"/>
            <a:t>Should it be </a:t>
          </a:r>
          <a:r>
            <a:rPr lang="en-GB" sz="1400" b="1" kern="1200"/>
            <a:t>in-person</a:t>
          </a:r>
          <a:r>
            <a:rPr lang="en-GB" sz="1400" kern="1200"/>
            <a:t> only, </a:t>
          </a:r>
          <a:r>
            <a:rPr lang="en-GB" sz="1400" b="1" kern="1200"/>
            <a:t>virtual</a:t>
          </a:r>
          <a:r>
            <a:rPr lang="en-GB" sz="1400" kern="1200"/>
            <a:t>, or </a:t>
          </a:r>
          <a:r>
            <a:rPr lang="en-GB" sz="1400" b="1" kern="1200"/>
            <a:t>hybrid</a:t>
          </a:r>
          <a:r>
            <a:rPr lang="en-GB" sz="1400" kern="1200"/>
            <a:t>?</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kern="1200"/>
            <a:t>What is the</a:t>
          </a:r>
          <a:r>
            <a:rPr lang="en-GB" sz="1400" b="1" kern="1200"/>
            <a:t> content</a:t>
          </a:r>
          <a:r>
            <a:rPr lang="en-GB" sz="1400" kern="1200"/>
            <a:t>? Is it compelling?</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kern="1200"/>
            <a:t>What are the </a:t>
          </a:r>
          <a:r>
            <a:rPr lang="en-GB" sz="1400" b="1" kern="1200"/>
            <a:t>key things </a:t>
          </a:r>
          <a:r>
            <a:rPr lang="en-GB" sz="1400" kern="1200"/>
            <a:t>you want attendees to walk away with? What do you want them to think, feel, do?</a:t>
          </a:r>
          <a:endParaRPr lang="en-US" sz="1400" kern="1200"/>
        </a:p>
      </dsp:txBody>
      <dsp:txXfrm>
        <a:off x="6765330" y="1532683"/>
        <a:ext cx="2964583" cy="37469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583062-C5A4-483F-93B7-2776F19C72AA}">
      <dsp:nvSpPr>
        <dsp:cNvPr id="0" name=""/>
        <dsp:cNvSpPr/>
      </dsp:nvSpPr>
      <dsp:spPr>
        <a:xfrm>
          <a:off x="3038" y="130343"/>
          <a:ext cx="2962540" cy="118501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0" tIns="203200" rIns="355600" bIns="203200" numCol="1" spcCol="1270" anchor="ctr" anchorCtr="0">
          <a:noAutofit/>
        </a:bodyPr>
        <a:lstStyle/>
        <a:p>
          <a:pPr marL="0" lvl="0" indent="0" algn="ctr" defTabSz="2222500">
            <a:lnSpc>
              <a:spcPct val="90000"/>
            </a:lnSpc>
            <a:spcBef>
              <a:spcPct val="0"/>
            </a:spcBef>
            <a:spcAft>
              <a:spcPct val="35000"/>
            </a:spcAft>
            <a:buNone/>
          </a:pPr>
          <a:r>
            <a:rPr lang="en-US" sz="5000" kern="1200"/>
            <a:t>When?</a:t>
          </a:r>
        </a:p>
      </dsp:txBody>
      <dsp:txXfrm>
        <a:off x="3038" y="130343"/>
        <a:ext cx="2962540" cy="1185016"/>
      </dsp:txXfrm>
    </dsp:sp>
    <dsp:sp modelId="{33EE05F1-AB13-4703-A4E1-ADAF43EC4B91}">
      <dsp:nvSpPr>
        <dsp:cNvPr id="0" name=""/>
        <dsp:cNvSpPr/>
      </dsp:nvSpPr>
      <dsp:spPr>
        <a:xfrm>
          <a:off x="3038" y="1315359"/>
          <a:ext cx="2962540" cy="414768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a:t>Check </a:t>
          </a:r>
          <a:r>
            <a:rPr lang="en-GB" sz="1400" b="1" kern="1200"/>
            <a:t>bank, school and religious holidays </a:t>
          </a:r>
          <a:r>
            <a:rPr lang="en-GB" sz="1400" kern="1200"/>
            <a:t>(remember to check this locally for international events)</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kern="1200"/>
            <a:t>Check for </a:t>
          </a:r>
          <a:r>
            <a:rPr lang="en-GB" sz="1400" b="1" kern="1200"/>
            <a:t>clashes</a:t>
          </a:r>
          <a:r>
            <a:rPr lang="en-GB" sz="1400" kern="1200"/>
            <a:t> with other UK-based and International conferences on a similar theme / topic</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kern="1200"/>
            <a:t>Take into account LBS’s </a:t>
          </a:r>
          <a:r>
            <a:rPr lang="en-GB" sz="1400" b="1" kern="1200"/>
            <a:t>term dates </a:t>
          </a:r>
          <a:r>
            <a:rPr lang="en-GB" sz="1400" b="0" kern="1200"/>
            <a:t>and c</a:t>
          </a:r>
          <a:r>
            <a:rPr lang="en-US" sz="1400" b="0" kern="1200"/>
            <a:t>heck </a:t>
          </a:r>
          <a:r>
            <a:rPr lang="en-US" sz="1400" kern="1200"/>
            <a:t>on </a:t>
          </a:r>
          <a:r>
            <a:rPr lang="en-US" sz="1400" b="1" kern="1200"/>
            <a:t>other LBS activities </a:t>
          </a:r>
          <a:r>
            <a:rPr lang="en-US" sz="1400" kern="1200"/>
            <a:t>that could coincide with your event </a:t>
          </a:r>
          <a:r>
            <a:rPr lang="en-US" sz="1400" kern="1200">
              <a:solidFill>
                <a:schemeClr val="tx1"/>
              </a:solidFill>
            </a:rPr>
            <a:t>– </a:t>
          </a:r>
          <a:r>
            <a:rPr lang="en-US" sz="1400" kern="1200">
              <a:solidFill>
                <a:schemeClr val="tx1"/>
              </a:solidFill>
              <a:hlinkClick xmlns:r="http://schemas.openxmlformats.org/officeDocument/2006/relationships" r:id="" action="ppaction://hlinksldjump"/>
            </a:rPr>
            <a:t>more info here</a:t>
          </a:r>
          <a:endParaRPr lang="en-US" sz="1400" b="1" kern="1200">
            <a:solidFill>
              <a:schemeClr val="tx1"/>
            </a:solidFill>
          </a:endParaRPr>
        </a:p>
        <a:p>
          <a:pPr marL="114300" lvl="1" indent="-114300" algn="l" defTabSz="622300">
            <a:lnSpc>
              <a:spcPct val="90000"/>
            </a:lnSpc>
            <a:spcBef>
              <a:spcPct val="0"/>
            </a:spcBef>
            <a:spcAft>
              <a:spcPct val="15000"/>
            </a:spcAft>
            <a:buChar char="•"/>
          </a:pPr>
          <a:endParaRPr lang="en-US" sz="1400" b="1" kern="1200"/>
        </a:p>
        <a:p>
          <a:pPr marL="114300" lvl="1" indent="-114300" algn="l" defTabSz="622300">
            <a:lnSpc>
              <a:spcPct val="90000"/>
            </a:lnSpc>
            <a:spcBef>
              <a:spcPct val="0"/>
            </a:spcBef>
            <a:spcAft>
              <a:spcPct val="15000"/>
            </a:spcAft>
            <a:buChar char="•"/>
          </a:pPr>
          <a:r>
            <a:rPr lang="en-US" sz="1400" kern="1200">
              <a:solidFill>
                <a:schemeClr val="tx1"/>
              </a:solidFill>
            </a:rPr>
            <a:t>For virtual and hybrid events, consider </a:t>
          </a:r>
          <a:r>
            <a:rPr lang="en-US" sz="1400" b="1" kern="1200">
              <a:solidFill>
                <a:schemeClr val="tx1"/>
              </a:solidFill>
            </a:rPr>
            <a:t>local time zones </a:t>
          </a:r>
          <a:r>
            <a:rPr lang="en-US" sz="1400" kern="1200">
              <a:solidFill>
                <a:schemeClr val="tx1"/>
              </a:solidFill>
            </a:rPr>
            <a:t>in countries that people will be watching from</a:t>
          </a:r>
        </a:p>
      </dsp:txBody>
      <dsp:txXfrm>
        <a:off x="3038" y="1315359"/>
        <a:ext cx="2962540" cy="4147684"/>
      </dsp:txXfrm>
    </dsp:sp>
    <dsp:sp modelId="{4547B98F-05E0-4E48-9B9A-60078957B589}">
      <dsp:nvSpPr>
        <dsp:cNvPr id="0" name=""/>
        <dsp:cNvSpPr/>
      </dsp:nvSpPr>
      <dsp:spPr>
        <a:xfrm>
          <a:off x="3380334" y="130343"/>
          <a:ext cx="2962540" cy="118501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376" tIns="195072" rIns="341376" bIns="195072" numCol="1" spcCol="1270" anchor="ctr" anchorCtr="0">
          <a:noAutofit/>
        </a:bodyPr>
        <a:lstStyle/>
        <a:p>
          <a:pPr marL="0" lvl="0" indent="0" algn="ctr" defTabSz="2133600">
            <a:lnSpc>
              <a:spcPct val="90000"/>
            </a:lnSpc>
            <a:spcBef>
              <a:spcPct val="0"/>
            </a:spcBef>
            <a:spcAft>
              <a:spcPct val="35000"/>
            </a:spcAft>
            <a:buNone/>
          </a:pPr>
          <a:r>
            <a:rPr lang="en-US" sz="4800" kern="1200"/>
            <a:t>Where?</a:t>
          </a:r>
        </a:p>
      </dsp:txBody>
      <dsp:txXfrm>
        <a:off x="3380334" y="130343"/>
        <a:ext cx="2962540" cy="1185016"/>
      </dsp:txXfrm>
    </dsp:sp>
    <dsp:sp modelId="{878374A0-8FF7-4789-A6AE-68C0378A1F3C}">
      <dsp:nvSpPr>
        <dsp:cNvPr id="0" name=""/>
        <dsp:cNvSpPr/>
      </dsp:nvSpPr>
      <dsp:spPr>
        <a:xfrm>
          <a:off x="3380334" y="1315359"/>
          <a:ext cx="2962540" cy="414768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a:t>Will the event take place </a:t>
          </a:r>
          <a:r>
            <a:rPr lang="en-GB" sz="1400" b="1" kern="1200"/>
            <a:t>at LBS </a:t>
          </a:r>
          <a:r>
            <a:rPr lang="en-GB" sz="1400" kern="1200"/>
            <a:t>or at an </a:t>
          </a:r>
          <a:r>
            <a:rPr lang="en-GB" sz="1400" b="1" kern="1200"/>
            <a:t>external venue?</a:t>
          </a:r>
          <a:endParaRPr lang="en-US" sz="1400" b="1"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kern="1200"/>
            <a:t>If an external venue, ensure </a:t>
          </a:r>
          <a:r>
            <a:rPr lang="en-GB" sz="1400" b="1" kern="1200"/>
            <a:t>good transport links</a:t>
          </a:r>
          <a:r>
            <a:rPr lang="en-GB" sz="1400" kern="1200"/>
            <a:t>. Is the location </a:t>
          </a:r>
          <a:r>
            <a:rPr lang="en-GB" sz="1400" b="1" kern="1200"/>
            <a:t>easily accessible </a:t>
          </a:r>
          <a:r>
            <a:rPr lang="en-GB" sz="1400" kern="1200"/>
            <a:t>for your attendees?</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kern="1200"/>
            <a:t>Do you have the </a:t>
          </a:r>
          <a:r>
            <a:rPr lang="en-GB" sz="1400" b="1" kern="1200"/>
            <a:t>right spaces </a:t>
          </a:r>
          <a:r>
            <a:rPr lang="en-GB" sz="1400" kern="1200"/>
            <a:t>for the size and format of your event? </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kern="1200"/>
            <a:t>Does it fit with your budget, brand, preferred dates?</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kern="1200"/>
            <a:t>Check the venue’s </a:t>
          </a:r>
          <a:r>
            <a:rPr lang="en-GB" sz="1400" b="1" kern="1200"/>
            <a:t>sustainability </a:t>
          </a:r>
          <a:r>
            <a:rPr lang="en-GB" sz="1400" b="0" kern="1200"/>
            <a:t>and </a:t>
          </a:r>
          <a:r>
            <a:rPr lang="en-GB" sz="1400" b="1" kern="1200"/>
            <a:t>accessibility </a:t>
          </a:r>
          <a:r>
            <a:rPr lang="en-GB" sz="1400" kern="1200"/>
            <a:t>credentials</a:t>
          </a:r>
          <a:endParaRPr lang="en-US" sz="1400" kern="1200"/>
        </a:p>
      </dsp:txBody>
      <dsp:txXfrm>
        <a:off x="3380334" y="1315359"/>
        <a:ext cx="2962540" cy="4147684"/>
      </dsp:txXfrm>
    </dsp:sp>
    <dsp:sp modelId="{2896DFF4-E0F3-4C8A-8623-986389299D6D}">
      <dsp:nvSpPr>
        <dsp:cNvPr id="0" name=""/>
        <dsp:cNvSpPr/>
      </dsp:nvSpPr>
      <dsp:spPr>
        <a:xfrm>
          <a:off x="6757630" y="130343"/>
          <a:ext cx="2962540" cy="118501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0" tIns="203200" rIns="355600" bIns="203200" numCol="1" spcCol="1270" anchor="ctr" anchorCtr="0">
          <a:noAutofit/>
        </a:bodyPr>
        <a:lstStyle/>
        <a:p>
          <a:pPr marL="0" lvl="0" indent="0" algn="ctr" defTabSz="2222500">
            <a:lnSpc>
              <a:spcPct val="90000"/>
            </a:lnSpc>
            <a:spcBef>
              <a:spcPct val="0"/>
            </a:spcBef>
            <a:spcAft>
              <a:spcPct val="35000"/>
            </a:spcAft>
            <a:buNone/>
          </a:pPr>
          <a:r>
            <a:rPr lang="en-US" sz="5000" kern="1200"/>
            <a:t>How?</a:t>
          </a:r>
        </a:p>
      </dsp:txBody>
      <dsp:txXfrm>
        <a:off x="6757630" y="130343"/>
        <a:ext cx="2962540" cy="1185016"/>
      </dsp:txXfrm>
    </dsp:sp>
    <dsp:sp modelId="{B073F03A-B470-45E7-A056-78DC3DE50EED}">
      <dsp:nvSpPr>
        <dsp:cNvPr id="0" name=""/>
        <dsp:cNvSpPr/>
      </dsp:nvSpPr>
      <dsp:spPr>
        <a:xfrm>
          <a:off x="6757630" y="1315359"/>
          <a:ext cx="2962540" cy="414768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a:t>What r</a:t>
          </a:r>
          <a:r>
            <a:rPr lang="en-GB" sz="1400" b="1" kern="1200"/>
            <a:t>esources</a:t>
          </a:r>
          <a:r>
            <a:rPr lang="en-GB" sz="1400" kern="1200"/>
            <a:t> do you have in place to make this happen? What additional support may you need?</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US" sz="1400" kern="1200"/>
            <a:t>What is your </a:t>
          </a:r>
          <a:r>
            <a:rPr lang="en-US" sz="1400" b="1" kern="1200"/>
            <a:t>budget</a:t>
          </a:r>
          <a:r>
            <a:rPr lang="en-US" sz="1400" kern="1200"/>
            <a:t>? Is this realistic and sufficient to achieve what you need?</a:t>
          </a:r>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kern="1200"/>
            <a:t>How will </a:t>
          </a:r>
          <a:r>
            <a:rPr lang="en-GB" sz="1400" b="1" kern="1200"/>
            <a:t>you target your audience</a:t>
          </a:r>
          <a:r>
            <a:rPr lang="en-GB" sz="1400" kern="1200"/>
            <a:t> and ensure that you have the right people in the room?</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GB" sz="1400" kern="1200"/>
            <a:t>How will people sign up to attend? Will you </a:t>
          </a:r>
          <a:r>
            <a:rPr lang="en-GB" sz="1400" b="1" kern="1200"/>
            <a:t>charge</a:t>
          </a:r>
          <a:r>
            <a:rPr lang="en-GB" sz="1400" kern="1200"/>
            <a:t> for tickets?</a:t>
          </a:r>
          <a:endParaRPr lang="en-US" sz="14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US" sz="1400" kern="1200"/>
            <a:t>How will you specifically </a:t>
          </a:r>
          <a:r>
            <a:rPr lang="en-US" sz="1400" b="1" kern="1200"/>
            <a:t>measure your success</a:t>
          </a:r>
          <a:r>
            <a:rPr lang="en-US" sz="1400" kern="1200"/>
            <a:t>?</a:t>
          </a:r>
        </a:p>
        <a:p>
          <a:pPr marL="114300" lvl="1" indent="-114300" algn="l" defTabSz="622300">
            <a:lnSpc>
              <a:spcPct val="90000"/>
            </a:lnSpc>
            <a:spcBef>
              <a:spcPct val="0"/>
            </a:spcBef>
            <a:spcAft>
              <a:spcPct val="15000"/>
            </a:spcAft>
            <a:buChar char="•"/>
          </a:pPr>
          <a:endParaRPr lang="en-US" sz="1400" kern="1200"/>
        </a:p>
      </dsp:txBody>
      <dsp:txXfrm>
        <a:off x="6757630" y="1315359"/>
        <a:ext cx="2962540" cy="41476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A69485-B331-43AF-AF52-C3E3B27D5823}">
      <dsp:nvSpPr>
        <dsp:cNvPr id="0" name=""/>
        <dsp:cNvSpPr/>
      </dsp:nvSpPr>
      <dsp:spPr>
        <a:xfrm>
          <a:off x="884006" y="0"/>
          <a:ext cx="10018736" cy="5418667"/>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EB6399-5D7E-4BC0-AA2B-FBE014A9D520}">
      <dsp:nvSpPr>
        <dsp:cNvPr id="0" name=""/>
        <dsp:cNvSpPr/>
      </dsp:nvSpPr>
      <dsp:spPr>
        <a:xfrm>
          <a:off x="4028" y="1625600"/>
          <a:ext cx="2617487" cy="216746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1. Book space</a:t>
          </a:r>
        </a:p>
        <a:p>
          <a:pPr marL="0" lvl="0" indent="0" algn="ctr" defTabSz="1066800" rtl="0">
            <a:lnSpc>
              <a:spcPct val="90000"/>
            </a:lnSpc>
            <a:spcBef>
              <a:spcPct val="0"/>
            </a:spcBef>
            <a:spcAft>
              <a:spcPct val="35000"/>
            </a:spcAft>
            <a:buNone/>
          </a:pPr>
          <a:r>
            <a:rPr lang="en-US" sz="1800" b="0" kern="1200" dirty="0"/>
            <a:t>- Complete crib </a:t>
          </a:r>
          <a:r>
            <a:rPr lang="en-US" sz="1800" b="0" kern="1200" dirty="0">
              <a:latin typeface="Arial" panose="020B0604020202020204"/>
            </a:rPr>
            <a:t>sheet and book 3 weeks before</a:t>
          </a:r>
        </a:p>
      </dsp:txBody>
      <dsp:txXfrm>
        <a:off x="109835" y="1731407"/>
        <a:ext cx="2405873" cy="1955852"/>
      </dsp:txXfrm>
    </dsp:sp>
    <dsp:sp modelId="{CCBB4573-5ED0-4CC4-8566-58E6579CB4A2}">
      <dsp:nvSpPr>
        <dsp:cNvPr id="0" name=""/>
        <dsp:cNvSpPr/>
      </dsp:nvSpPr>
      <dsp:spPr>
        <a:xfrm>
          <a:off x="3057763" y="1625600"/>
          <a:ext cx="2617487" cy="216746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2. Book catering</a:t>
          </a:r>
        </a:p>
        <a:p>
          <a:pPr marL="0" lvl="0" indent="0" algn="ctr" defTabSz="1066800">
            <a:lnSpc>
              <a:spcPct val="90000"/>
            </a:lnSpc>
            <a:spcBef>
              <a:spcPct val="0"/>
            </a:spcBef>
            <a:spcAft>
              <a:spcPct val="35000"/>
            </a:spcAft>
            <a:buNone/>
          </a:pPr>
          <a:r>
            <a:rPr lang="en-US" sz="1800" b="0" kern="1200"/>
            <a:t>- Meet with the catering team if necessary to discuss requirements</a:t>
          </a:r>
        </a:p>
      </dsp:txBody>
      <dsp:txXfrm>
        <a:off x="3163570" y="1731407"/>
        <a:ext cx="2405873" cy="1955852"/>
      </dsp:txXfrm>
    </dsp:sp>
    <dsp:sp modelId="{5FCE598C-59AF-4C76-A82E-6A1DF3AB11F6}">
      <dsp:nvSpPr>
        <dsp:cNvPr id="0" name=""/>
        <dsp:cNvSpPr/>
      </dsp:nvSpPr>
      <dsp:spPr>
        <a:xfrm>
          <a:off x="6111498" y="1625600"/>
          <a:ext cx="2617487" cy="216746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3. If required, complete event information sheet</a:t>
          </a:r>
        </a:p>
        <a:p>
          <a:pPr marL="0" lvl="0" indent="0" algn="ctr" defTabSz="889000">
            <a:lnSpc>
              <a:spcPct val="90000"/>
            </a:lnSpc>
            <a:spcBef>
              <a:spcPct val="0"/>
            </a:spcBef>
            <a:spcAft>
              <a:spcPct val="35000"/>
            </a:spcAft>
            <a:buNone/>
          </a:pPr>
          <a:r>
            <a:rPr lang="en-US" sz="2000" b="0" kern="1200" dirty="0"/>
            <a:t>- </a:t>
          </a:r>
          <a:r>
            <a:rPr lang="en-US" sz="1600" b="0" kern="1200" dirty="0"/>
            <a:t>Contact Campus Services/AV teams with any questions to help you complete this</a:t>
          </a:r>
          <a:endParaRPr lang="en-US" sz="1800" b="0" kern="1200" dirty="0"/>
        </a:p>
      </dsp:txBody>
      <dsp:txXfrm>
        <a:off x="6217305" y="1731407"/>
        <a:ext cx="2405873" cy="1955852"/>
      </dsp:txXfrm>
    </dsp:sp>
    <dsp:sp modelId="{2E3C08D5-092D-46D5-812B-7AE42B94115E}">
      <dsp:nvSpPr>
        <dsp:cNvPr id="0" name=""/>
        <dsp:cNvSpPr/>
      </dsp:nvSpPr>
      <dsp:spPr>
        <a:xfrm>
          <a:off x="9165233" y="1625600"/>
          <a:ext cx="2617487" cy="216746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4. If required, attend Key Events meeting</a:t>
          </a:r>
        </a:p>
        <a:p>
          <a:pPr marL="0" lvl="0" indent="0" algn="ctr" defTabSz="1066800">
            <a:lnSpc>
              <a:spcPct val="90000"/>
            </a:lnSpc>
            <a:spcBef>
              <a:spcPct val="0"/>
            </a:spcBef>
            <a:spcAft>
              <a:spcPct val="35000"/>
            </a:spcAft>
            <a:buNone/>
          </a:pPr>
          <a:r>
            <a:rPr lang="en-US" sz="1800" b="0" kern="1200" dirty="0"/>
            <a:t>(two weeks out from event)</a:t>
          </a:r>
        </a:p>
      </dsp:txBody>
      <dsp:txXfrm>
        <a:off x="9271040" y="1731407"/>
        <a:ext cx="2405873" cy="1955852"/>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GB"/>
          </a:p>
        </p:txBody>
      </p:sp>
      <p:sp>
        <p:nvSpPr>
          <p:cNvPr id="3" name="Date Placeholder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B35162FB-0508-4A60-A704-7BF36C5CEADB}" type="datetimeFigureOut">
              <a:rPr lang="en-GB" smtClean="0"/>
              <a:t>03/03/2026</a:t>
            </a:fld>
            <a:endParaRPr lang="en-GB"/>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en-GB"/>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GB"/>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CE06F4B9-01A9-43AE-82AC-B3A8716619FC}" type="slidenum">
              <a:rPr lang="en-GB" smtClean="0"/>
              <a:t>‹#›</a:t>
            </a:fld>
            <a:endParaRPr lang="en-GB"/>
          </a:p>
        </p:txBody>
      </p:sp>
    </p:spTree>
    <p:extLst>
      <p:ext uri="{BB962C8B-B14F-4D97-AF65-F5344CB8AC3E}">
        <p14:creationId xmlns:p14="http://schemas.microsoft.com/office/powerpoint/2010/main" val="3584754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 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A3187-68B4-DC4E-8270-F8C9982E27D8}"/>
              </a:ext>
            </a:extLst>
          </p:cNvPr>
          <p:cNvSpPr>
            <a:spLocks noGrp="1"/>
          </p:cNvSpPr>
          <p:nvPr>
            <p:ph type="ctrTitle"/>
          </p:nvPr>
        </p:nvSpPr>
        <p:spPr>
          <a:xfrm>
            <a:off x="2209800" y="2060575"/>
            <a:ext cx="9144000" cy="2237291"/>
          </a:xfrm>
          <a:prstGeom prst="rect">
            <a:avLst/>
          </a:prstGeom>
        </p:spPr>
        <p:txBody>
          <a:bodyPr anchor="t" anchorCtr="0"/>
          <a:lstStyle>
            <a:lvl1pPr algn="r">
              <a:defRPr sz="6000" b="1">
                <a:solidFill>
                  <a:schemeClr val="bg1"/>
                </a:solidFill>
                <a:latin typeface="+mj-lt"/>
              </a:defRPr>
            </a:lvl1pPr>
          </a:lstStyle>
          <a:p>
            <a:r>
              <a:rPr lang="en-US"/>
              <a:t>Click to edit Master title style</a:t>
            </a:r>
          </a:p>
        </p:txBody>
      </p:sp>
      <p:sp>
        <p:nvSpPr>
          <p:cNvPr id="3" name="Subtitle 2">
            <a:extLst>
              <a:ext uri="{FF2B5EF4-FFF2-40B4-BE49-F238E27FC236}">
                <a16:creationId xmlns:a16="http://schemas.microsoft.com/office/drawing/2014/main" id="{9CD93A6C-FEA1-1244-999B-550BF558497B}"/>
              </a:ext>
            </a:extLst>
          </p:cNvPr>
          <p:cNvSpPr>
            <a:spLocks noGrp="1"/>
          </p:cNvSpPr>
          <p:nvPr>
            <p:ph type="subTitle" idx="1"/>
          </p:nvPr>
        </p:nvSpPr>
        <p:spPr>
          <a:xfrm>
            <a:off x="2209800" y="4450104"/>
            <a:ext cx="9144000" cy="930244"/>
          </a:xfrm>
        </p:spPr>
        <p:txBody>
          <a:bodyPr/>
          <a:lstStyle>
            <a:lvl1pPr marL="0" indent="0" algn="r">
              <a:buNone/>
              <a:defRPr sz="2400" b="0" i="0">
                <a:ln>
                  <a:noFill/>
                </a:ln>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4">
            <a:extLst>
              <a:ext uri="{FF2B5EF4-FFF2-40B4-BE49-F238E27FC236}">
                <a16:creationId xmlns:a16="http://schemas.microsoft.com/office/drawing/2014/main" id="{39B8E7AE-B642-3C4F-BAC7-5432B875E471}"/>
              </a:ext>
            </a:extLst>
          </p:cNvPr>
          <p:cNvSpPr txBox="1">
            <a:spLocks/>
          </p:cNvSpPr>
          <p:nvPr userDrawn="1"/>
        </p:nvSpPr>
        <p:spPr>
          <a:xfrm>
            <a:off x="407988" y="6176684"/>
            <a:ext cx="3403327" cy="410696"/>
          </a:xfrm>
          <a:prstGeom prst="rect">
            <a:avLst/>
          </a:prstGeom>
        </p:spPr>
        <p:txBody>
          <a:bodyPr lIns="0" anchor="b" anchorCtr="0">
            <a:normAutofit/>
          </a:bodyPr>
          <a:lstStyle>
            <a:lvl1pPr marL="0" indent="0" algn="l" defTabSz="914400" rtl="0" eaLnBrk="1" latinLnBrk="0" hangingPunct="1">
              <a:lnSpc>
                <a:spcPct val="90000"/>
              </a:lnSpc>
              <a:spcBef>
                <a:spcPts val="1000"/>
              </a:spcBef>
              <a:buFontTx/>
              <a:buNone/>
              <a:defRPr sz="1400" b="0" i="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Courier New" panose="02070309020205020404" pitchFamily="49" charset="0"/>
              <a:buChar char="o"/>
              <a:defRPr sz="2400" b="0" i="0" kern="1200">
                <a:solidFill>
                  <a:schemeClr val="tx1"/>
                </a:solidFill>
                <a:latin typeface="Montserrat" pitchFamily="2" charset="77"/>
                <a:ea typeface="+mn-ea"/>
                <a:cs typeface="+mn-cs"/>
              </a:defRPr>
            </a:lvl2pPr>
            <a:lvl3pPr marL="1257300" indent="-342900" algn="l" defTabSz="914400" rtl="0" eaLnBrk="1" latinLnBrk="0" hangingPunct="1">
              <a:lnSpc>
                <a:spcPct val="90000"/>
              </a:lnSpc>
              <a:spcBef>
                <a:spcPts val="500"/>
              </a:spcBef>
              <a:buFont typeface="Courier New" panose="02070309020205020404" pitchFamily="49" charset="0"/>
              <a:buChar char="o"/>
              <a:defRPr sz="2000" b="0" i="0" kern="1200">
                <a:solidFill>
                  <a:schemeClr val="tx1"/>
                </a:solidFill>
                <a:latin typeface="Montserrat" pitchFamily="2" charset="77"/>
                <a:ea typeface="+mn-ea"/>
                <a:cs typeface="+mn-cs"/>
              </a:defRPr>
            </a:lvl3pPr>
            <a:lvl4pPr marL="1657350" indent="-285750" algn="l" defTabSz="914400" rtl="0" eaLnBrk="1" latinLnBrk="0" hangingPunct="1">
              <a:lnSpc>
                <a:spcPct val="90000"/>
              </a:lnSpc>
              <a:spcBef>
                <a:spcPts val="500"/>
              </a:spcBef>
              <a:buFont typeface="Courier New" panose="02070309020205020404" pitchFamily="49" charset="0"/>
              <a:buChar char="o"/>
              <a:defRPr sz="1800" b="0" i="0" kern="1200">
                <a:solidFill>
                  <a:schemeClr val="tx1"/>
                </a:solidFill>
                <a:latin typeface="Montserrat" pitchFamily="2" charset="77"/>
                <a:ea typeface="+mn-ea"/>
                <a:cs typeface="+mn-cs"/>
              </a:defRPr>
            </a:lvl4pPr>
            <a:lvl5pPr marL="2114550" indent="-285750" algn="l" defTabSz="914400" rtl="0" eaLnBrk="1" latinLnBrk="0" hangingPunct="1">
              <a:lnSpc>
                <a:spcPct val="90000"/>
              </a:lnSpc>
              <a:spcBef>
                <a:spcPts val="500"/>
              </a:spcBef>
              <a:buFont typeface="Courier New" panose="02070309020205020404" pitchFamily="49" charset="0"/>
              <a:buChar char="o"/>
              <a:defRPr sz="16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Courier New" panose="02070309020205020404" pitchFamily="49" charset="0"/>
              <a:buChar char="o"/>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err="1">
                <a:solidFill>
                  <a:schemeClr val="bg1"/>
                </a:solidFill>
              </a:rPr>
              <a:t>london.edu</a:t>
            </a:r>
            <a:endParaRPr lang="en-US">
              <a:solidFill>
                <a:schemeClr val="bg1"/>
              </a:solidFill>
            </a:endParaRPr>
          </a:p>
        </p:txBody>
      </p:sp>
    </p:spTree>
    <p:extLst>
      <p:ext uri="{BB962C8B-B14F-4D97-AF65-F5344CB8AC3E}">
        <p14:creationId xmlns:p14="http://schemas.microsoft.com/office/powerpoint/2010/main" val="372504284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 Section divider smal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7239EBF3-A304-F04E-8342-F357FC8743A4}"/>
              </a:ext>
            </a:extLst>
          </p:cNvPr>
          <p:cNvSpPr>
            <a:spLocks noGrp="1"/>
          </p:cNvSpPr>
          <p:nvPr>
            <p:ph type="body" sz="quarter" idx="11" hasCustomPrompt="1"/>
          </p:nvPr>
        </p:nvSpPr>
        <p:spPr>
          <a:xfrm>
            <a:off x="3794760" y="2060575"/>
            <a:ext cx="7557452" cy="1992951"/>
          </a:xfrm>
        </p:spPr>
        <p:txBody>
          <a:bodyPr>
            <a:normAutofit/>
          </a:bodyPr>
          <a:lstStyle>
            <a:lvl1pPr marL="0" indent="0" algn="r">
              <a:buNone/>
              <a:defRPr sz="4800" b="1">
                <a:latin typeface="+mj-lt"/>
              </a:defRPr>
            </a:lvl1pPr>
          </a:lstStyle>
          <a:p>
            <a:pPr lvl="0"/>
            <a:r>
              <a:rPr lang="en-US"/>
              <a:t>Section divider</a:t>
            </a:r>
          </a:p>
        </p:txBody>
      </p:sp>
      <p:sp>
        <p:nvSpPr>
          <p:cNvPr id="11" name="Text Placeholder 10">
            <a:extLst>
              <a:ext uri="{FF2B5EF4-FFF2-40B4-BE49-F238E27FC236}">
                <a16:creationId xmlns:a16="http://schemas.microsoft.com/office/drawing/2014/main" id="{1DF027CF-36A4-7546-9746-B0EB00F2F8E8}"/>
              </a:ext>
            </a:extLst>
          </p:cNvPr>
          <p:cNvSpPr>
            <a:spLocks noGrp="1"/>
          </p:cNvSpPr>
          <p:nvPr>
            <p:ph type="body" sz="quarter" idx="12" hasCustomPrompt="1"/>
          </p:nvPr>
        </p:nvSpPr>
        <p:spPr>
          <a:xfrm>
            <a:off x="3794759" y="4437063"/>
            <a:ext cx="7557453" cy="738187"/>
          </a:xfrm>
        </p:spPr>
        <p:txBody>
          <a:bodyPr>
            <a:normAutofit/>
          </a:bodyPr>
          <a:lstStyle>
            <a:lvl1pPr marL="0" indent="0" algn="r">
              <a:buNone/>
              <a:defRPr sz="2400">
                <a:latin typeface="+mj-lt"/>
              </a:defRPr>
            </a:lvl1pPr>
            <a:lvl2pPr algn="r">
              <a:defRPr/>
            </a:lvl2pPr>
            <a:lvl3pPr algn="r">
              <a:defRPr/>
            </a:lvl3pPr>
            <a:lvl4pPr algn="r">
              <a:defRPr/>
            </a:lvl4pPr>
            <a:lvl5pPr algn="r">
              <a:defRPr/>
            </a:lvl5pPr>
          </a:lstStyle>
          <a:p>
            <a:pPr lvl="0"/>
            <a:r>
              <a:rPr lang="en-US"/>
              <a:t>Subtitle</a:t>
            </a:r>
          </a:p>
        </p:txBody>
      </p:sp>
      <p:sp>
        <p:nvSpPr>
          <p:cNvPr id="6" name="Text Placeholder 4">
            <a:extLst>
              <a:ext uri="{FF2B5EF4-FFF2-40B4-BE49-F238E27FC236}">
                <a16:creationId xmlns:a16="http://schemas.microsoft.com/office/drawing/2014/main" id="{E177AF0E-3FBF-3C49-AEA0-AE8DC8E194B9}"/>
              </a:ext>
            </a:extLst>
          </p:cNvPr>
          <p:cNvSpPr txBox="1">
            <a:spLocks/>
          </p:cNvSpPr>
          <p:nvPr userDrawn="1"/>
        </p:nvSpPr>
        <p:spPr>
          <a:xfrm>
            <a:off x="407988" y="6176684"/>
            <a:ext cx="3403327" cy="410696"/>
          </a:xfrm>
          <a:prstGeom prst="rect">
            <a:avLst/>
          </a:prstGeom>
        </p:spPr>
        <p:txBody>
          <a:bodyPr lIns="0" anchor="b" anchorCtr="0">
            <a:normAutofit/>
          </a:bodyPr>
          <a:lstStyle>
            <a:lvl1pPr marL="0" indent="0" algn="l" defTabSz="914400" rtl="0" eaLnBrk="1" latinLnBrk="0" hangingPunct="1">
              <a:lnSpc>
                <a:spcPct val="90000"/>
              </a:lnSpc>
              <a:spcBef>
                <a:spcPts val="1000"/>
              </a:spcBef>
              <a:buFontTx/>
              <a:buNone/>
              <a:defRPr sz="1400" b="0" i="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Courier New" panose="02070309020205020404" pitchFamily="49" charset="0"/>
              <a:buChar char="o"/>
              <a:defRPr sz="2400" b="0" i="0" kern="1200">
                <a:solidFill>
                  <a:schemeClr val="tx1"/>
                </a:solidFill>
                <a:latin typeface="Montserrat" pitchFamily="2" charset="77"/>
                <a:ea typeface="+mn-ea"/>
                <a:cs typeface="+mn-cs"/>
              </a:defRPr>
            </a:lvl2pPr>
            <a:lvl3pPr marL="1257300" indent="-342900" algn="l" defTabSz="914400" rtl="0" eaLnBrk="1" latinLnBrk="0" hangingPunct="1">
              <a:lnSpc>
                <a:spcPct val="90000"/>
              </a:lnSpc>
              <a:spcBef>
                <a:spcPts val="500"/>
              </a:spcBef>
              <a:buFont typeface="Courier New" panose="02070309020205020404" pitchFamily="49" charset="0"/>
              <a:buChar char="o"/>
              <a:defRPr sz="2000" b="0" i="0" kern="1200">
                <a:solidFill>
                  <a:schemeClr val="tx1"/>
                </a:solidFill>
                <a:latin typeface="Montserrat" pitchFamily="2" charset="77"/>
                <a:ea typeface="+mn-ea"/>
                <a:cs typeface="+mn-cs"/>
              </a:defRPr>
            </a:lvl3pPr>
            <a:lvl4pPr marL="1657350" indent="-285750" algn="l" defTabSz="914400" rtl="0" eaLnBrk="1" latinLnBrk="0" hangingPunct="1">
              <a:lnSpc>
                <a:spcPct val="90000"/>
              </a:lnSpc>
              <a:spcBef>
                <a:spcPts val="500"/>
              </a:spcBef>
              <a:buFont typeface="Courier New" panose="02070309020205020404" pitchFamily="49" charset="0"/>
              <a:buChar char="o"/>
              <a:defRPr sz="1800" b="0" i="0" kern="1200">
                <a:solidFill>
                  <a:schemeClr val="tx1"/>
                </a:solidFill>
                <a:latin typeface="Montserrat" pitchFamily="2" charset="77"/>
                <a:ea typeface="+mn-ea"/>
                <a:cs typeface="+mn-cs"/>
              </a:defRPr>
            </a:lvl4pPr>
            <a:lvl5pPr marL="2114550" indent="-285750" algn="l" defTabSz="914400" rtl="0" eaLnBrk="1" latinLnBrk="0" hangingPunct="1">
              <a:lnSpc>
                <a:spcPct val="90000"/>
              </a:lnSpc>
              <a:spcBef>
                <a:spcPts val="500"/>
              </a:spcBef>
              <a:buFont typeface="Courier New" panose="02070309020205020404" pitchFamily="49" charset="0"/>
              <a:buChar char="o"/>
              <a:defRPr sz="16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Courier New" panose="02070309020205020404" pitchFamily="49" charset="0"/>
              <a:buChar char="o"/>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err="1">
                <a:solidFill>
                  <a:schemeClr val="bg1"/>
                </a:solidFill>
              </a:rPr>
              <a:t>london.edu</a:t>
            </a:r>
            <a:endParaRPr lang="en-US">
              <a:solidFill>
                <a:schemeClr val="bg1"/>
              </a:solidFill>
            </a:endParaRPr>
          </a:p>
        </p:txBody>
      </p:sp>
    </p:spTree>
    <p:extLst>
      <p:ext uri="{BB962C8B-B14F-4D97-AF65-F5344CB8AC3E}">
        <p14:creationId xmlns:p14="http://schemas.microsoft.com/office/powerpoint/2010/main" val="335732062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Blank slid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DB84069-3119-6B4C-821D-3C2018FEF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281E6C-A841-2148-AC26-FF7B5B6890D3}"/>
              </a:ext>
            </a:extLst>
          </p:cNvPr>
          <p:cNvSpPr>
            <a:spLocks noGrp="1"/>
          </p:cNvSpPr>
          <p:nvPr>
            <p:ph type="sldNum" sz="quarter" idx="12"/>
          </p:nvPr>
        </p:nvSpPr>
        <p:spPr/>
        <p:txBody>
          <a:bodyPr/>
          <a:lstStyle/>
          <a:p>
            <a:fld id="{F97EA6E0-ACB3-C744-814F-68814E5220CF}" type="slidenum">
              <a:rPr lang="en-US" smtClean="0"/>
              <a:t>‹#›</a:t>
            </a:fld>
            <a:endParaRPr lang="en-US"/>
          </a:p>
        </p:txBody>
      </p:sp>
      <p:sp>
        <p:nvSpPr>
          <p:cNvPr id="9" name="Title 1">
            <a:extLst>
              <a:ext uri="{FF2B5EF4-FFF2-40B4-BE49-F238E27FC236}">
                <a16:creationId xmlns:a16="http://schemas.microsoft.com/office/drawing/2014/main" id="{1D2DE192-AF76-A84C-982C-D8F941152791}"/>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US"/>
              <a:t>Click to edit Master title style</a:t>
            </a:r>
          </a:p>
        </p:txBody>
      </p:sp>
      <p:sp>
        <p:nvSpPr>
          <p:cNvPr id="10" name="Text Placeholder 2">
            <a:extLst>
              <a:ext uri="{FF2B5EF4-FFF2-40B4-BE49-F238E27FC236}">
                <a16:creationId xmlns:a16="http://schemas.microsoft.com/office/drawing/2014/main" id="{D681F134-00E6-BF4B-BE6F-46F8D4DF2B01}"/>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US"/>
              <a:t>Click to edit Master text styles</a:t>
            </a:r>
          </a:p>
        </p:txBody>
      </p:sp>
    </p:spTree>
    <p:extLst>
      <p:ext uri="{BB962C8B-B14F-4D97-AF65-F5344CB8AC3E}">
        <p14:creationId xmlns:p14="http://schemas.microsoft.com/office/powerpoint/2010/main" val="1891865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Title and content ">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DB84069-3119-6B4C-821D-3C2018FEF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281E6C-A841-2148-AC26-FF7B5B6890D3}"/>
              </a:ext>
            </a:extLst>
          </p:cNvPr>
          <p:cNvSpPr>
            <a:spLocks noGrp="1"/>
          </p:cNvSpPr>
          <p:nvPr>
            <p:ph type="sldNum" sz="quarter" idx="12"/>
          </p:nvPr>
        </p:nvSpPr>
        <p:spPr/>
        <p:txBody>
          <a:bodyPr/>
          <a:lstStyle/>
          <a:p>
            <a:fld id="{F97EA6E0-ACB3-C744-814F-68814E5220CF}" type="slidenum">
              <a:rPr lang="en-US" smtClean="0"/>
              <a:t>‹#›</a:t>
            </a:fld>
            <a:endParaRPr lang="en-US"/>
          </a:p>
        </p:txBody>
      </p:sp>
      <p:sp>
        <p:nvSpPr>
          <p:cNvPr id="7" name="Text Placeholder 6">
            <a:extLst>
              <a:ext uri="{FF2B5EF4-FFF2-40B4-BE49-F238E27FC236}">
                <a16:creationId xmlns:a16="http://schemas.microsoft.com/office/drawing/2014/main" id="{A0946596-E589-F841-B981-52B93611944C}"/>
              </a:ext>
            </a:extLst>
          </p:cNvPr>
          <p:cNvSpPr>
            <a:spLocks noGrp="1"/>
          </p:cNvSpPr>
          <p:nvPr>
            <p:ph type="body" sz="quarter" idx="14"/>
          </p:nvPr>
        </p:nvSpPr>
        <p:spPr>
          <a:xfrm>
            <a:off x="407988" y="1268413"/>
            <a:ext cx="10944225" cy="4897437"/>
          </a:xfrm>
        </p:spPr>
        <p:txBody>
          <a:bodyPr lIns="0" tIns="72000" rIns="0" bIns="72000" numCol="1" spcCol="360000">
            <a:normAutofit/>
          </a:bodyPr>
          <a:lstStyle>
            <a:lvl1pPr marL="0" indent="0">
              <a:buNone/>
              <a:defRPr sz="16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Click to edit Master text styles</a:t>
            </a:r>
          </a:p>
        </p:txBody>
      </p:sp>
      <p:sp>
        <p:nvSpPr>
          <p:cNvPr id="12" name="Title 1">
            <a:extLst>
              <a:ext uri="{FF2B5EF4-FFF2-40B4-BE49-F238E27FC236}">
                <a16:creationId xmlns:a16="http://schemas.microsoft.com/office/drawing/2014/main" id="{E8DE5C75-2CE1-6E4F-90A0-4170955CB8CE}"/>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US"/>
              <a:t>Click to edit Master title style</a:t>
            </a:r>
          </a:p>
        </p:txBody>
      </p:sp>
      <p:sp>
        <p:nvSpPr>
          <p:cNvPr id="13" name="Text Placeholder 2">
            <a:extLst>
              <a:ext uri="{FF2B5EF4-FFF2-40B4-BE49-F238E27FC236}">
                <a16:creationId xmlns:a16="http://schemas.microsoft.com/office/drawing/2014/main" id="{8CD8E9BA-D352-3143-85E4-AB805A2C28DB}"/>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US"/>
              <a:t>Click to edit Master text styles</a:t>
            </a:r>
          </a:p>
        </p:txBody>
      </p:sp>
      <p:sp>
        <p:nvSpPr>
          <p:cNvPr id="2" name="Rectangle 1"/>
          <p:cNvSpPr/>
          <p:nvPr userDrawn="1"/>
        </p:nvSpPr>
        <p:spPr>
          <a:xfrm>
            <a:off x="275303" y="6303993"/>
            <a:ext cx="1170039" cy="3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62900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 Title and bullets content ">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DB84069-3119-6B4C-821D-3C2018FEF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281E6C-A841-2148-AC26-FF7B5B6890D3}"/>
              </a:ext>
            </a:extLst>
          </p:cNvPr>
          <p:cNvSpPr>
            <a:spLocks noGrp="1"/>
          </p:cNvSpPr>
          <p:nvPr>
            <p:ph type="sldNum" sz="quarter" idx="12"/>
          </p:nvPr>
        </p:nvSpPr>
        <p:spPr/>
        <p:txBody>
          <a:bodyPr/>
          <a:lstStyle/>
          <a:p>
            <a:fld id="{F97EA6E0-ACB3-C744-814F-68814E5220CF}" type="slidenum">
              <a:rPr lang="en-US" smtClean="0"/>
              <a:t>‹#›</a:t>
            </a:fld>
            <a:endParaRPr lang="en-US"/>
          </a:p>
        </p:txBody>
      </p:sp>
      <p:sp>
        <p:nvSpPr>
          <p:cNvPr id="12" name="Title 1">
            <a:extLst>
              <a:ext uri="{FF2B5EF4-FFF2-40B4-BE49-F238E27FC236}">
                <a16:creationId xmlns:a16="http://schemas.microsoft.com/office/drawing/2014/main" id="{0B0295C9-1AD1-324E-B5FE-BDEC825AFCA6}"/>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US"/>
              <a:t>Click to edit Master title style</a:t>
            </a:r>
          </a:p>
        </p:txBody>
      </p:sp>
      <p:sp>
        <p:nvSpPr>
          <p:cNvPr id="13" name="Text Placeholder 2">
            <a:extLst>
              <a:ext uri="{FF2B5EF4-FFF2-40B4-BE49-F238E27FC236}">
                <a16:creationId xmlns:a16="http://schemas.microsoft.com/office/drawing/2014/main" id="{C2008BAE-FDB4-1041-9A3F-DD7CF1248BE7}"/>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US"/>
              <a:t>Click to edit Master text styles</a:t>
            </a:r>
          </a:p>
        </p:txBody>
      </p:sp>
      <p:sp>
        <p:nvSpPr>
          <p:cNvPr id="14" name="Text Placeholder 6">
            <a:extLst>
              <a:ext uri="{FF2B5EF4-FFF2-40B4-BE49-F238E27FC236}">
                <a16:creationId xmlns:a16="http://schemas.microsoft.com/office/drawing/2014/main" id="{E3E711A2-8079-A94C-A4C6-85D381809726}"/>
              </a:ext>
            </a:extLst>
          </p:cNvPr>
          <p:cNvSpPr>
            <a:spLocks noGrp="1"/>
          </p:cNvSpPr>
          <p:nvPr>
            <p:ph type="body" sz="quarter" idx="14"/>
          </p:nvPr>
        </p:nvSpPr>
        <p:spPr>
          <a:xfrm>
            <a:off x="407988" y="1268413"/>
            <a:ext cx="10944225" cy="4897437"/>
          </a:xfrm>
        </p:spPr>
        <p:txBody>
          <a:bodyPr lIns="0" tIns="72000" rIns="0" bIns="72000" numCol="1" spcCol="360000">
            <a:normAutofit/>
          </a:bodyPr>
          <a:lstStyle>
            <a:lvl1pPr marL="285750" indent="-285750">
              <a:buFont typeface="Courier New" panose="02070309020205020404" pitchFamily="49" charset="0"/>
              <a:buChar char="o"/>
              <a:defRPr sz="16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Click to edit Master text styles</a:t>
            </a:r>
          </a:p>
        </p:txBody>
      </p:sp>
    </p:spTree>
    <p:extLst>
      <p:ext uri="{BB962C8B-B14F-4D97-AF65-F5344CB8AC3E}">
        <p14:creationId xmlns:p14="http://schemas.microsoft.com/office/powerpoint/2010/main" val="858440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 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53B81F-8947-7943-9391-E3BF0FB541FE}"/>
              </a:ext>
            </a:extLst>
          </p:cNvPr>
          <p:cNvSpPr>
            <a:spLocks noGrp="1"/>
          </p:cNvSpPr>
          <p:nvPr>
            <p:ph idx="1"/>
          </p:nvPr>
        </p:nvSpPr>
        <p:spPr>
          <a:xfrm>
            <a:off x="407988" y="1268413"/>
            <a:ext cx="10945812" cy="4897437"/>
          </a:xfrm>
        </p:spPr>
        <p:txBody>
          <a:bodyPr lIns="0" tIns="72000" rIns="0" bIns="72000">
            <a:normAutofit/>
          </a:bodyPr>
          <a:lstStyle>
            <a:lvl1pPr marL="0" indent="0">
              <a:buNone/>
              <a:defRPr sz="1600">
                <a:latin typeface="+mn-lt"/>
              </a:defRPr>
            </a:lvl1pPr>
            <a:lvl2pPr marL="457200" indent="0">
              <a:buNone/>
              <a:defRPr sz="1200">
                <a:latin typeface="+mn-lt"/>
              </a:defRPr>
            </a:lvl2pPr>
            <a:lvl3pPr marL="914400" indent="0">
              <a:buNone/>
              <a:defRPr sz="1200">
                <a:latin typeface="+mn-lt"/>
              </a:defRPr>
            </a:lvl3pPr>
            <a:lvl4pPr marL="1371600" indent="0">
              <a:buNone/>
              <a:defRPr sz="1200">
                <a:latin typeface="+mn-lt"/>
              </a:defRPr>
            </a:lvl4pPr>
            <a:lvl5pPr marL="1828800" indent="0">
              <a:buNone/>
              <a:defRPr sz="1200">
                <a:latin typeface="+mn-lt"/>
              </a:defRPr>
            </a:lvl5pPr>
            <a:lvl6pPr marL="2286000" indent="0">
              <a:buNone/>
              <a:defRPr sz="1200">
                <a:latin typeface="+mn-lt"/>
              </a:defRPr>
            </a:lvl6pPr>
          </a:lstStyle>
          <a:p>
            <a:pPr lvl="0"/>
            <a:r>
              <a:rPr lang="en-US"/>
              <a:t>Click to edit Master text styles</a:t>
            </a:r>
          </a:p>
        </p:txBody>
      </p:sp>
      <p:sp>
        <p:nvSpPr>
          <p:cNvPr id="5" name="Footer Placeholder 4">
            <a:extLst>
              <a:ext uri="{FF2B5EF4-FFF2-40B4-BE49-F238E27FC236}">
                <a16:creationId xmlns:a16="http://schemas.microsoft.com/office/drawing/2014/main" id="{2B6F1863-FE2B-3847-B8BE-AA19C95F6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423786-EC82-D244-8EA4-4E433357FD50}"/>
              </a:ext>
            </a:extLst>
          </p:cNvPr>
          <p:cNvSpPr>
            <a:spLocks noGrp="1"/>
          </p:cNvSpPr>
          <p:nvPr>
            <p:ph type="sldNum" sz="quarter" idx="12"/>
          </p:nvPr>
        </p:nvSpPr>
        <p:spPr/>
        <p:txBody>
          <a:bodyPr/>
          <a:lstStyle/>
          <a:p>
            <a:fld id="{F97EA6E0-ACB3-C744-814F-68814E5220CF}" type="slidenum">
              <a:rPr lang="en-US" smtClean="0"/>
              <a:t>‹#›</a:t>
            </a:fld>
            <a:endParaRPr lang="en-US"/>
          </a:p>
        </p:txBody>
      </p:sp>
      <p:sp>
        <p:nvSpPr>
          <p:cNvPr id="11" name="Title 1">
            <a:extLst>
              <a:ext uri="{FF2B5EF4-FFF2-40B4-BE49-F238E27FC236}">
                <a16:creationId xmlns:a16="http://schemas.microsoft.com/office/drawing/2014/main" id="{E3A5930E-8D75-AA4A-B6D8-DE63A7CFE8B8}"/>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US"/>
              <a:t>Click to edit Master title style</a:t>
            </a:r>
          </a:p>
        </p:txBody>
      </p:sp>
      <p:sp>
        <p:nvSpPr>
          <p:cNvPr id="12" name="Text Placeholder 2">
            <a:extLst>
              <a:ext uri="{FF2B5EF4-FFF2-40B4-BE49-F238E27FC236}">
                <a16:creationId xmlns:a16="http://schemas.microsoft.com/office/drawing/2014/main" id="{800D5514-CA9E-CA4D-9B5E-C5C6E1ACFF9A}"/>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US"/>
              <a:t>Click to edit Master text styles</a:t>
            </a:r>
          </a:p>
        </p:txBody>
      </p:sp>
    </p:spTree>
    <p:extLst>
      <p:ext uri="{BB962C8B-B14F-4D97-AF65-F5344CB8AC3E}">
        <p14:creationId xmlns:p14="http://schemas.microsoft.com/office/powerpoint/2010/main" val="946218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 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900E96-188B-0C4B-87FF-DACD057604D1}"/>
              </a:ext>
            </a:extLst>
          </p:cNvPr>
          <p:cNvSpPr>
            <a:spLocks noGrp="1"/>
          </p:cNvSpPr>
          <p:nvPr>
            <p:ph sz="half" idx="1"/>
          </p:nvPr>
        </p:nvSpPr>
        <p:spPr>
          <a:xfrm>
            <a:off x="407988" y="1268413"/>
            <a:ext cx="5400000" cy="4897437"/>
          </a:xfrm>
        </p:spPr>
        <p:txBody>
          <a:bodyPr/>
          <a:lstStyle>
            <a:lvl1pPr>
              <a:defRPr/>
            </a:lvl1pPr>
            <a:lvl2pPr>
              <a:defRPr/>
            </a:lvl2pPr>
            <a:lvl3pPr>
              <a:defRPr/>
            </a:lvl3pPr>
            <a:lvl4pPr>
              <a:defRPr/>
            </a:lvl4pPr>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CE236E-06BC-E04B-ADA3-6884696732FE}"/>
              </a:ext>
            </a:extLst>
          </p:cNvPr>
          <p:cNvSpPr>
            <a:spLocks noGrp="1"/>
          </p:cNvSpPr>
          <p:nvPr>
            <p:ph sz="half" idx="2"/>
          </p:nvPr>
        </p:nvSpPr>
        <p:spPr>
          <a:xfrm>
            <a:off x="5948263" y="1268413"/>
            <a:ext cx="5400000" cy="4897437"/>
          </a:xfrm>
        </p:spPr>
        <p:txBody>
          <a:bodyPr/>
          <a:lstStyle>
            <a:lvl1pPr>
              <a:defRPr/>
            </a:lvl1pPr>
            <a:lvl2pPr>
              <a:defRPr/>
            </a:lvl2pPr>
            <a:lvl3pPr>
              <a:defRPr/>
            </a:lvl3pPr>
            <a:lvl4pPr>
              <a:defRPr/>
            </a:lvl4pPr>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CB147C2-C695-A744-8D7E-823C9A35C3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F78481-ED1B-5843-934B-5B18805DDA86}"/>
              </a:ext>
            </a:extLst>
          </p:cNvPr>
          <p:cNvSpPr>
            <a:spLocks noGrp="1"/>
          </p:cNvSpPr>
          <p:nvPr>
            <p:ph type="sldNum" sz="quarter" idx="12"/>
          </p:nvPr>
        </p:nvSpPr>
        <p:spPr/>
        <p:txBody>
          <a:bodyPr/>
          <a:lstStyle/>
          <a:p>
            <a:fld id="{F97EA6E0-ACB3-C744-814F-68814E5220CF}" type="slidenum">
              <a:rPr lang="en-US" smtClean="0"/>
              <a:t>‹#›</a:t>
            </a:fld>
            <a:endParaRPr lang="en-US"/>
          </a:p>
        </p:txBody>
      </p:sp>
      <p:sp>
        <p:nvSpPr>
          <p:cNvPr id="10" name="Title 1">
            <a:extLst>
              <a:ext uri="{FF2B5EF4-FFF2-40B4-BE49-F238E27FC236}">
                <a16:creationId xmlns:a16="http://schemas.microsoft.com/office/drawing/2014/main" id="{793775E9-5C01-1742-9953-68C840F10E1F}"/>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US"/>
              <a:t>Click to edit Master title style</a:t>
            </a:r>
          </a:p>
        </p:txBody>
      </p:sp>
      <p:sp>
        <p:nvSpPr>
          <p:cNvPr id="13" name="Text Placeholder 2">
            <a:extLst>
              <a:ext uri="{FF2B5EF4-FFF2-40B4-BE49-F238E27FC236}">
                <a16:creationId xmlns:a16="http://schemas.microsoft.com/office/drawing/2014/main" id="{A63E2888-93BF-CD42-A0DA-0DFFDEA5BA2E}"/>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US"/>
              <a:t>Click to edit Master text styles</a:t>
            </a:r>
          </a:p>
        </p:txBody>
      </p:sp>
    </p:spTree>
    <p:extLst>
      <p:ext uri="{BB962C8B-B14F-4D97-AF65-F5344CB8AC3E}">
        <p14:creationId xmlns:p14="http://schemas.microsoft.com/office/powerpoint/2010/main" val="1520586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 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1B7143-21D9-DD48-BA3E-1227E17F979E}"/>
              </a:ext>
            </a:extLst>
          </p:cNvPr>
          <p:cNvSpPr>
            <a:spLocks noGrp="1"/>
          </p:cNvSpPr>
          <p:nvPr>
            <p:ph type="body" idx="1"/>
          </p:nvPr>
        </p:nvSpPr>
        <p:spPr>
          <a:xfrm>
            <a:off x="407988" y="1267199"/>
            <a:ext cx="5400000" cy="793375"/>
          </a:xfrm>
        </p:spPr>
        <p:txBody>
          <a:bodyPr anchor="t" anchorCtr="0"/>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D17054-5FCF-D840-90F8-57B10759E7CE}"/>
              </a:ext>
            </a:extLst>
          </p:cNvPr>
          <p:cNvSpPr>
            <a:spLocks noGrp="1"/>
          </p:cNvSpPr>
          <p:nvPr>
            <p:ph sz="half" idx="2"/>
          </p:nvPr>
        </p:nvSpPr>
        <p:spPr>
          <a:xfrm>
            <a:off x="407988" y="2060575"/>
            <a:ext cx="5400000" cy="4105275"/>
          </a:xfrm>
        </p:spPr>
        <p:txBody>
          <a:bodyPr/>
          <a:lstStyle>
            <a:lvl1pPr>
              <a:defRPr/>
            </a:lvl1pPr>
            <a:lvl2pPr>
              <a:defRPr/>
            </a:lvl2pPr>
            <a:lvl3pPr>
              <a:defRPr/>
            </a:lvl3pPr>
            <a:lvl4pPr>
              <a:defRPr/>
            </a:lvl4pPr>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B20495-9155-A445-81A0-0750077E8060}"/>
              </a:ext>
            </a:extLst>
          </p:cNvPr>
          <p:cNvSpPr>
            <a:spLocks noGrp="1"/>
          </p:cNvSpPr>
          <p:nvPr>
            <p:ph type="body" sz="quarter" idx="3"/>
          </p:nvPr>
        </p:nvSpPr>
        <p:spPr>
          <a:xfrm>
            <a:off x="5952213" y="1268413"/>
            <a:ext cx="5400000" cy="792161"/>
          </a:xfrm>
        </p:spPr>
        <p:txBody>
          <a:bodyPr anchor="t" anchorCtr="0"/>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79709A-9ADC-404E-AA36-BCB5A2FF6BB4}"/>
              </a:ext>
            </a:extLst>
          </p:cNvPr>
          <p:cNvSpPr>
            <a:spLocks noGrp="1"/>
          </p:cNvSpPr>
          <p:nvPr>
            <p:ph sz="quarter" idx="4"/>
          </p:nvPr>
        </p:nvSpPr>
        <p:spPr>
          <a:xfrm>
            <a:off x="5952213" y="2060575"/>
            <a:ext cx="5400000" cy="4105276"/>
          </a:xfrm>
        </p:spPr>
        <p:txBody>
          <a:bodyPr/>
          <a:lstStyle>
            <a:lvl1pPr>
              <a:defRPr/>
            </a:lvl1pPr>
            <a:lvl2pPr>
              <a:defRPr/>
            </a:lvl2pPr>
            <a:lvl3pPr>
              <a:defRPr/>
            </a:lvl3pPr>
            <a:lvl4pPr>
              <a:defRPr/>
            </a:lvl4pPr>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F3AA263B-CB05-2941-B069-FCD1CBB1A3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BDB269-3B65-174D-8508-02038C9F79B1}"/>
              </a:ext>
            </a:extLst>
          </p:cNvPr>
          <p:cNvSpPr>
            <a:spLocks noGrp="1"/>
          </p:cNvSpPr>
          <p:nvPr>
            <p:ph type="sldNum" sz="quarter" idx="12"/>
          </p:nvPr>
        </p:nvSpPr>
        <p:spPr/>
        <p:txBody>
          <a:bodyPr/>
          <a:lstStyle/>
          <a:p>
            <a:fld id="{F97EA6E0-ACB3-C744-814F-68814E5220CF}" type="slidenum">
              <a:rPr lang="en-US" smtClean="0"/>
              <a:t>‹#›</a:t>
            </a:fld>
            <a:endParaRPr lang="en-US"/>
          </a:p>
        </p:txBody>
      </p:sp>
      <p:sp>
        <p:nvSpPr>
          <p:cNvPr id="14" name="Title 1">
            <a:extLst>
              <a:ext uri="{FF2B5EF4-FFF2-40B4-BE49-F238E27FC236}">
                <a16:creationId xmlns:a16="http://schemas.microsoft.com/office/drawing/2014/main" id="{BEB439C4-AE46-EA48-962B-C69136F408F1}"/>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US"/>
              <a:t>Click to edit Master title style</a:t>
            </a:r>
          </a:p>
        </p:txBody>
      </p:sp>
      <p:sp>
        <p:nvSpPr>
          <p:cNvPr id="15" name="Text Placeholder 2">
            <a:extLst>
              <a:ext uri="{FF2B5EF4-FFF2-40B4-BE49-F238E27FC236}">
                <a16:creationId xmlns:a16="http://schemas.microsoft.com/office/drawing/2014/main" id="{8B228E1B-6D10-504C-BE9E-D808137DE53D}"/>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US"/>
              <a:t>Click to edit Master text styles</a:t>
            </a:r>
          </a:p>
        </p:txBody>
      </p:sp>
    </p:spTree>
    <p:extLst>
      <p:ext uri="{BB962C8B-B14F-4D97-AF65-F5344CB8AC3E}">
        <p14:creationId xmlns:p14="http://schemas.microsoft.com/office/powerpoint/2010/main" val="2350652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 Text with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207A45-310E-7848-A4D5-2A2EFCC9690E}"/>
              </a:ext>
            </a:extLst>
          </p:cNvPr>
          <p:cNvSpPr>
            <a:spLocks noGrp="1"/>
          </p:cNvSpPr>
          <p:nvPr>
            <p:ph type="pic" idx="1"/>
          </p:nvPr>
        </p:nvSpPr>
        <p:spPr>
          <a:xfrm>
            <a:off x="4953000" y="1268413"/>
            <a:ext cx="6402388" cy="45926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F55737C-DB26-4D4E-BBC7-6B49B8234627}"/>
              </a:ext>
            </a:extLst>
          </p:cNvPr>
          <p:cNvSpPr>
            <a:spLocks noGrp="1"/>
          </p:cNvSpPr>
          <p:nvPr>
            <p:ph type="body" sz="half" idx="2"/>
          </p:nvPr>
        </p:nvSpPr>
        <p:spPr>
          <a:xfrm>
            <a:off x="407988" y="1268413"/>
            <a:ext cx="4364037" cy="46005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AEC7D52B-3DCD-EF40-A4E3-CA1E501CAB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30D948-197F-614F-A309-DA32460C6168}"/>
              </a:ext>
            </a:extLst>
          </p:cNvPr>
          <p:cNvSpPr>
            <a:spLocks noGrp="1"/>
          </p:cNvSpPr>
          <p:nvPr>
            <p:ph type="sldNum" sz="quarter" idx="12"/>
          </p:nvPr>
        </p:nvSpPr>
        <p:spPr/>
        <p:txBody>
          <a:bodyPr/>
          <a:lstStyle/>
          <a:p>
            <a:fld id="{F97EA6E0-ACB3-C744-814F-68814E5220CF}" type="slidenum">
              <a:rPr lang="en-US" smtClean="0"/>
              <a:t>‹#›</a:t>
            </a:fld>
            <a:endParaRPr lang="en-US"/>
          </a:p>
        </p:txBody>
      </p:sp>
      <p:sp>
        <p:nvSpPr>
          <p:cNvPr id="12" name="Title 1">
            <a:extLst>
              <a:ext uri="{FF2B5EF4-FFF2-40B4-BE49-F238E27FC236}">
                <a16:creationId xmlns:a16="http://schemas.microsoft.com/office/drawing/2014/main" id="{7FB86D5F-59B1-B04A-AD5E-C774658FE8BB}"/>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US"/>
              <a:t>Click to edit Master title style</a:t>
            </a:r>
          </a:p>
        </p:txBody>
      </p:sp>
      <p:sp>
        <p:nvSpPr>
          <p:cNvPr id="13" name="Text Placeholder 2">
            <a:extLst>
              <a:ext uri="{FF2B5EF4-FFF2-40B4-BE49-F238E27FC236}">
                <a16:creationId xmlns:a16="http://schemas.microsoft.com/office/drawing/2014/main" id="{7226C25D-0963-C64B-A09E-D610F71F2FF9}"/>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US"/>
              <a:t>Click to edit Master text styles</a:t>
            </a:r>
          </a:p>
        </p:txBody>
      </p:sp>
    </p:spTree>
    <p:extLst>
      <p:ext uri="{BB962C8B-B14F-4D97-AF65-F5344CB8AC3E}">
        <p14:creationId xmlns:p14="http://schemas.microsoft.com/office/powerpoint/2010/main" val="3143146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 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207A45-310E-7848-A4D5-2A2EFCC9690E}"/>
              </a:ext>
            </a:extLst>
          </p:cNvPr>
          <p:cNvSpPr>
            <a:spLocks noGrp="1"/>
          </p:cNvSpPr>
          <p:nvPr>
            <p:ph type="pic" idx="1"/>
          </p:nvPr>
        </p:nvSpPr>
        <p:spPr>
          <a:xfrm>
            <a:off x="4038600" y="1268413"/>
            <a:ext cx="7316788" cy="4897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Footer Placeholder 5">
            <a:extLst>
              <a:ext uri="{FF2B5EF4-FFF2-40B4-BE49-F238E27FC236}">
                <a16:creationId xmlns:a16="http://schemas.microsoft.com/office/drawing/2014/main" id="{AEC7D52B-3DCD-EF40-A4E3-CA1E501CAB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30D948-197F-614F-A309-DA32460C6168}"/>
              </a:ext>
            </a:extLst>
          </p:cNvPr>
          <p:cNvSpPr>
            <a:spLocks noGrp="1"/>
          </p:cNvSpPr>
          <p:nvPr>
            <p:ph type="sldNum" sz="quarter" idx="12"/>
          </p:nvPr>
        </p:nvSpPr>
        <p:spPr/>
        <p:txBody>
          <a:bodyPr/>
          <a:lstStyle/>
          <a:p>
            <a:fld id="{F97EA6E0-ACB3-C744-814F-68814E5220CF}" type="slidenum">
              <a:rPr lang="en-US" smtClean="0"/>
              <a:t>‹#›</a:t>
            </a:fld>
            <a:endParaRPr lang="en-US"/>
          </a:p>
        </p:txBody>
      </p:sp>
      <p:sp>
        <p:nvSpPr>
          <p:cNvPr id="5" name="Text Placeholder 4">
            <a:extLst>
              <a:ext uri="{FF2B5EF4-FFF2-40B4-BE49-F238E27FC236}">
                <a16:creationId xmlns:a16="http://schemas.microsoft.com/office/drawing/2014/main" id="{2057ED0F-F0DC-EB44-96E7-F558F2DF5FA5}"/>
              </a:ext>
            </a:extLst>
          </p:cNvPr>
          <p:cNvSpPr>
            <a:spLocks noGrp="1"/>
          </p:cNvSpPr>
          <p:nvPr>
            <p:ph type="body" sz="quarter" idx="13"/>
          </p:nvPr>
        </p:nvSpPr>
        <p:spPr>
          <a:xfrm>
            <a:off x="407988" y="3429000"/>
            <a:ext cx="5043487" cy="1944688"/>
          </a:xfrm>
          <a:solidFill>
            <a:schemeClr val="tx1"/>
          </a:solidFill>
        </p:spPr>
        <p:txBody>
          <a:bodyPr lIns="180000" tIns="180000" rIns="216000" bIns="180000">
            <a:normAutofit/>
          </a:bodyPr>
          <a:lstStyle>
            <a:lvl1pPr marL="0" indent="0">
              <a:buNone/>
              <a:defRPr sz="1600" b="0">
                <a:solidFill>
                  <a:schemeClr val="bg1"/>
                </a:solidFill>
              </a:defRPr>
            </a:lvl1pPr>
            <a:lvl2pPr marL="457200" indent="0">
              <a:buNone/>
              <a:defRPr sz="1400" b="0">
                <a:solidFill>
                  <a:schemeClr val="bg1"/>
                </a:solidFill>
              </a:defRPr>
            </a:lvl2pPr>
            <a:lvl3pPr marL="914400" indent="0">
              <a:buNone/>
              <a:defRPr sz="1400" b="0">
                <a:solidFill>
                  <a:schemeClr val="bg1"/>
                </a:solidFill>
              </a:defRPr>
            </a:lvl3pPr>
            <a:lvl4pPr marL="1371600" indent="0">
              <a:buNone/>
              <a:defRPr sz="1400" b="0">
                <a:solidFill>
                  <a:schemeClr val="bg1"/>
                </a:solidFill>
              </a:defRPr>
            </a:lvl4pPr>
            <a:lvl5pPr marL="1828800" indent="0">
              <a:buNone/>
              <a:defRPr sz="1400" b="0">
                <a:solidFill>
                  <a:schemeClr val="bg1"/>
                </a:solidFill>
              </a:defRPr>
            </a:lvl5pPr>
          </a:lstStyle>
          <a:p>
            <a:pPr lvl="0"/>
            <a:r>
              <a:rPr lang="en-US"/>
              <a:t>Click to edit Master text styles</a:t>
            </a:r>
          </a:p>
        </p:txBody>
      </p:sp>
      <p:sp>
        <p:nvSpPr>
          <p:cNvPr id="12" name="Title 1">
            <a:extLst>
              <a:ext uri="{FF2B5EF4-FFF2-40B4-BE49-F238E27FC236}">
                <a16:creationId xmlns:a16="http://schemas.microsoft.com/office/drawing/2014/main" id="{3273A7FC-4C2E-634F-8B82-4099E893253D}"/>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US"/>
              <a:t>Click to edit Master title style</a:t>
            </a:r>
          </a:p>
        </p:txBody>
      </p:sp>
      <p:sp>
        <p:nvSpPr>
          <p:cNvPr id="13" name="Text Placeholder 2">
            <a:extLst>
              <a:ext uri="{FF2B5EF4-FFF2-40B4-BE49-F238E27FC236}">
                <a16:creationId xmlns:a16="http://schemas.microsoft.com/office/drawing/2014/main" id="{53D6BFBD-B673-5D4C-8261-A93781D42B01}"/>
              </a:ext>
            </a:extLst>
          </p:cNvPr>
          <p:cNvSpPr>
            <a:spLocks noGrp="1"/>
          </p:cNvSpPr>
          <p:nvPr>
            <p:ph type="body" sz="quarter" idx="14"/>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US"/>
              <a:t>Click to edit Master text styles</a:t>
            </a:r>
          </a:p>
        </p:txBody>
      </p:sp>
    </p:spTree>
    <p:extLst>
      <p:ext uri="{BB962C8B-B14F-4D97-AF65-F5344CB8AC3E}">
        <p14:creationId xmlns:p14="http://schemas.microsoft.com/office/powerpoint/2010/main" val="3908909468"/>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 Picture with caption">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799A8256-CD9F-3747-B6B0-7475B9649443}"/>
              </a:ext>
            </a:extLst>
          </p:cNvPr>
          <p:cNvSpPr>
            <a:spLocks noGrp="1"/>
          </p:cNvSpPr>
          <p:nvPr>
            <p:ph type="body" sz="quarter" idx="14"/>
          </p:nvPr>
        </p:nvSpPr>
        <p:spPr>
          <a:xfrm>
            <a:off x="407988" y="1268413"/>
            <a:ext cx="3629024" cy="4897437"/>
          </a:xfrm>
          <a:solidFill>
            <a:schemeClr val="bg2"/>
          </a:solidFill>
        </p:spPr>
        <p:txBody>
          <a:bodyPr lIns="180000" tIns="180000" rIns="216000" bIns="180000">
            <a:normAutofit/>
          </a:bodyPr>
          <a:lstStyle>
            <a:lvl1pPr marL="0" indent="0">
              <a:buNone/>
              <a:defRPr sz="1600" b="0">
                <a:solidFill>
                  <a:schemeClr val="tx1"/>
                </a:solidFill>
              </a:defRPr>
            </a:lvl1pPr>
            <a:lvl2pPr marL="457200" indent="0">
              <a:buNone/>
              <a:defRPr sz="1400" b="0">
                <a:solidFill>
                  <a:schemeClr val="bg1"/>
                </a:solidFill>
              </a:defRPr>
            </a:lvl2pPr>
            <a:lvl3pPr marL="914400" indent="0">
              <a:buNone/>
              <a:defRPr sz="1400" b="0">
                <a:solidFill>
                  <a:schemeClr val="bg1"/>
                </a:solidFill>
              </a:defRPr>
            </a:lvl3pPr>
            <a:lvl4pPr marL="1371600" indent="0">
              <a:buNone/>
              <a:defRPr sz="1400" b="0">
                <a:solidFill>
                  <a:schemeClr val="bg1"/>
                </a:solidFill>
              </a:defRPr>
            </a:lvl4pPr>
            <a:lvl5pPr marL="1828800" indent="0">
              <a:buNone/>
              <a:defRPr sz="1400" b="0">
                <a:solidFill>
                  <a:schemeClr val="bg1"/>
                </a:solidFill>
              </a:defRPr>
            </a:lvl5pPr>
          </a:lstStyle>
          <a:p>
            <a:pPr lvl="0"/>
            <a:r>
              <a:rPr lang="en-US"/>
              <a:t>Click to edit Master text styles</a:t>
            </a:r>
          </a:p>
        </p:txBody>
      </p:sp>
      <p:sp>
        <p:nvSpPr>
          <p:cNvPr id="3" name="Picture Placeholder 2">
            <a:extLst>
              <a:ext uri="{FF2B5EF4-FFF2-40B4-BE49-F238E27FC236}">
                <a16:creationId xmlns:a16="http://schemas.microsoft.com/office/drawing/2014/main" id="{F9207A45-310E-7848-A4D5-2A2EFCC9690E}"/>
              </a:ext>
            </a:extLst>
          </p:cNvPr>
          <p:cNvSpPr>
            <a:spLocks noGrp="1"/>
          </p:cNvSpPr>
          <p:nvPr>
            <p:ph type="pic" idx="1"/>
          </p:nvPr>
        </p:nvSpPr>
        <p:spPr>
          <a:xfrm>
            <a:off x="4038600" y="1268413"/>
            <a:ext cx="7316788" cy="4897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Footer Placeholder 5">
            <a:extLst>
              <a:ext uri="{FF2B5EF4-FFF2-40B4-BE49-F238E27FC236}">
                <a16:creationId xmlns:a16="http://schemas.microsoft.com/office/drawing/2014/main" id="{AEC7D52B-3DCD-EF40-A4E3-CA1E501CAB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30D948-197F-614F-A309-DA32460C6168}"/>
              </a:ext>
            </a:extLst>
          </p:cNvPr>
          <p:cNvSpPr>
            <a:spLocks noGrp="1"/>
          </p:cNvSpPr>
          <p:nvPr>
            <p:ph type="sldNum" sz="quarter" idx="12"/>
          </p:nvPr>
        </p:nvSpPr>
        <p:spPr/>
        <p:txBody>
          <a:bodyPr/>
          <a:lstStyle/>
          <a:p>
            <a:fld id="{F97EA6E0-ACB3-C744-814F-68814E5220CF}" type="slidenum">
              <a:rPr lang="en-US" smtClean="0"/>
              <a:t>‹#›</a:t>
            </a:fld>
            <a:endParaRPr lang="en-US"/>
          </a:p>
        </p:txBody>
      </p:sp>
      <p:sp>
        <p:nvSpPr>
          <p:cNvPr id="13" name="Title 1">
            <a:extLst>
              <a:ext uri="{FF2B5EF4-FFF2-40B4-BE49-F238E27FC236}">
                <a16:creationId xmlns:a16="http://schemas.microsoft.com/office/drawing/2014/main" id="{CCFE1F78-7A0F-794F-AB6C-561EAABA1FB4}"/>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US"/>
              <a:t>Click to edit Master title style</a:t>
            </a:r>
          </a:p>
        </p:txBody>
      </p:sp>
      <p:sp>
        <p:nvSpPr>
          <p:cNvPr id="14" name="Text Placeholder 2">
            <a:extLst>
              <a:ext uri="{FF2B5EF4-FFF2-40B4-BE49-F238E27FC236}">
                <a16:creationId xmlns:a16="http://schemas.microsoft.com/office/drawing/2014/main" id="{0425F5BF-4477-AF4A-9A0B-DF5B5FC09AAE}"/>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US"/>
              <a:t>Click to edit Master text styles</a:t>
            </a:r>
          </a:p>
        </p:txBody>
      </p:sp>
    </p:spTree>
    <p:extLst>
      <p:ext uri="{BB962C8B-B14F-4D97-AF65-F5344CB8AC3E}">
        <p14:creationId xmlns:p14="http://schemas.microsoft.com/office/powerpoint/2010/main" val="2592484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207A45-310E-7848-A4D5-2A2EFCC9690E}"/>
              </a:ext>
            </a:extLst>
          </p:cNvPr>
          <p:cNvSpPr>
            <a:spLocks noGrp="1"/>
          </p:cNvSpPr>
          <p:nvPr>
            <p:ph type="pic" idx="1"/>
          </p:nvPr>
        </p:nvSpPr>
        <p:spPr>
          <a:xfrm>
            <a:off x="407988" y="2060574"/>
            <a:ext cx="10947400" cy="41052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9" name="Text Placeholder 4">
            <a:extLst>
              <a:ext uri="{FF2B5EF4-FFF2-40B4-BE49-F238E27FC236}">
                <a16:creationId xmlns:a16="http://schemas.microsoft.com/office/drawing/2014/main" id="{799A8256-CD9F-3747-B6B0-7475B9649443}"/>
              </a:ext>
            </a:extLst>
          </p:cNvPr>
          <p:cNvSpPr>
            <a:spLocks noGrp="1"/>
          </p:cNvSpPr>
          <p:nvPr>
            <p:ph type="body" sz="quarter" idx="14"/>
          </p:nvPr>
        </p:nvSpPr>
        <p:spPr>
          <a:xfrm>
            <a:off x="1779588" y="1268414"/>
            <a:ext cx="2743200" cy="4608512"/>
          </a:xfrm>
          <a:solidFill>
            <a:schemeClr val="tx1"/>
          </a:solidFill>
        </p:spPr>
        <p:txBody>
          <a:bodyPr lIns="180000" tIns="180000" rIns="216000" bIns="180000">
            <a:normAutofit/>
          </a:bodyPr>
          <a:lstStyle>
            <a:lvl1pPr marL="0" indent="0">
              <a:buNone/>
              <a:defRPr sz="1600" b="0">
                <a:solidFill>
                  <a:schemeClr val="bg1"/>
                </a:solidFill>
              </a:defRPr>
            </a:lvl1pPr>
            <a:lvl2pPr marL="457200" indent="0">
              <a:buNone/>
              <a:defRPr sz="1400" b="0">
                <a:solidFill>
                  <a:schemeClr val="bg1"/>
                </a:solidFill>
              </a:defRPr>
            </a:lvl2pPr>
            <a:lvl3pPr marL="914400" indent="0">
              <a:buNone/>
              <a:defRPr sz="1400" b="0">
                <a:solidFill>
                  <a:schemeClr val="bg1"/>
                </a:solidFill>
              </a:defRPr>
            </a:lvl3pPr>
            <a:lvl4pPr marL="1371600" indent="0">
              <a:buNone/>
              <a:defRPr sz="1400" b="0">
                <a:solidFill>
                  <a:schemeClr val="bg1"/>
                </a:solidFill>
              </a:defRPr>
            </a:lvl4pPr>
            <a:lvl5pPr marL="1828800" indent="0">
              <a:buNone/>
              <a:defRPr sz="1400" b="0">
                <a:solidFill>
                  <a:schemeClr val="bg1"/>
                </a:solidFill>
              </a:defRPr>
            </a:lvl5pPr>
          </a:lstStyle>
          <a:p>
            <a:pPr lvl="0"/>
            <a:r>
              <a:rPr lang="en-US"/>
              <a:t>Click to edit Master text styles</a:t>
            </a:r>
          </a:p>
        </p:txBody>
      </p:sp>
      <p:sp>
        <p:nvSpPr>
          <p:cNvPr id="6" name="Footer Placeholder 5">
            <a:extLst>
              <a:ext uri="{FF2B5EF4-FFF2-40B4-BE49-F238E27FC236}">
                <a16:creationId xmlns:a16="http://schemas.microsoft.com/office/drawing/2014/main" id="{AEC7D52B-3DCD-EF40-A4E3-CA1E501CAB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30D948-197F-614F-A309-DA32460C6168}"/>
              </a:ext>
            </a:extLst>
          </p:cNvPr>
          <p:cNvSpPr>
            <a:spLocks noGrp="1"/>
          </p:cNvSpPr>
          <p:nvPr>
            <p:ph type="sldNum" sz="quarter" idx="12"/>
          </p:nvPr>
        </p:nvSpPr>
        <p:spPr/>
        <p:txBody>
          <a:bodyPr/>
          <a:lstStyle/>
          <a:p>
            <a:fld id="{F97EA6E0-ACB3-C744-814F-68814E5220CF}" type="slidenum">
              <a:rPr lang="en-US" smtClean="0"/>
              <a:t>‹#›</a:t>
            </a:fld>
            <a:endParaRPr lang="en-US"/>
          </a:p>
        </p:txBody>
      </p:sp>
      <p:sp>
        <p:nvSpPr>
          <p:cNvPr id="13" name="Title 1">
            <a:extLst>
              <a:ext uri="{FF2B5EF4-FFF2-40B4-BE49-F238E27FC236}">
                <a16:creationId xmlns:a16="http://schemas.microsoft.com/office/drawing/2014/main" id="{FF4132E2-254F-334C-9E32-5FA47CD6EEE5}"/>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US"/>
              <a:t>Click to edit Master title style</a:t>
            </a:r>
          </a:p>
        </p:txBody>
      </p:sp>
      <p:sp>
        <p:nvSpPr>
          <p:cNvPr id="14" name="Text Placeholder 2">
            <a:extLst>
              <a:ext uri="{FF2B5EF4-FFF2-40B4-BE49-F238E27FC236}">
                <a16:creationId xmlns:a16="http://schemas.microsoft.com/office/drawing/2014/main" id="{232D2696-58FB-C841-BA21-92367B8EB23C}"/>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US"/>
              <a:t>Click to edit Master text styles</a:t>
            </a:r>
          </a:p>
        </p:txBody>
      </p:sp>
    </p:spTree>
    <p:extLst>
      <p:ext uri="{BB962C8B-B14F-4D97-AF65-F5344CB8AC3E}">
        <p14:creationId xmlns:p14="http://schemas.microsoft.com/office/powerpoint/2010/main" val="1553371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41AF07-C2D7-B04F-9930-63B44BDE835E}"/>
              </a:ext>
            </a:extLst>
          </p:cNvPr>
          <p:cNvSpPr>
            <a:spLocks noGrp="1"/>
          </p:cNvSpPr>
          <p:nvPr>
            <p:ph type="body" idx="1"/>
          </p:nvPr>
        </p:nvSpPr>
        <p:spPr>
          <a:xfrm>
            <a:off x="407988" y="1268413"/>
            <a:ext cx="10945812" cy="48974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4797C5F-8193-8D42-A34F-7C7632EC54ED}"/>
              </a:ext>
            </a:extLst>
          </p:cNvPr>
          <p:cNvSpPr>
            <a:spLocks noGrp="1"/>
          </p:cNvSpPr>
          <p:nvPr>
            <p:ph type="ftr" sz="quarter" idx="3"/>
          </p:nvPr>
        </p:nvSpPr>
        <p:spPr>
          <a:xfrm>
            <a:off x="4038600" y="6271509"/>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01A88F4-BEC4-CF45-AFAB-4DF608226620}"/>
              </a:ext>
            </a:extLst>
          </p:cNvPr>
          <p:cNvSpPr>
            <a:spLocks noGrp="1"/>
          </p:cNvSpPr>
          <p:nvPr>
            <p:ph type="sldNum" sz="quarter" idx="4"/>
          </p:nvPr>
        </p:nvSpPr>
        <p:spPr>
          <a:xfrm>
            <a:off x="10885800" y="6303993"/>
            <a:ext cx="468000" cy="324000"/>
          </a:xfrm>
          <a:prstGeom prst="rect">
            <a:avLst/>
          </a:prstGeom>
          <a:solidFill>
            <a:schemeClr val="tx1"/>
          </a:solidFill>
        </p:spPr>
        <p:txBody>
          <a:bodyPr vert="horz" lIns="91440" tIns="45720" rIns="91440" bIns="45720" rtlCol="0" anchor="ctr"/>
          <a:lstStyle>
            <a:lvl1pPr algn="r">
              <a:defRPr sz="1200" b="1">
                <a:solidFill>
                  <a:schemeClr val="accent2">
                    <a:lumMod val="20000"/>
                    <a:lumOff val="80000"/>
                  </a:schemeClr>
                </a:solidFill>
                <a:latin typeface="+mn-lt"/>
              </a:defRPr>
            </a:lvl1pPr>
          </a:lstStyle>
          <a:p>
            <a:fld id="{5BB898F2-C1A7-3248-94F8-7C3EE534679B}" type="slidenum">
              <a:rPr lang="en-US" smtClean="0"/>
              <a:pPr/>
              <a:t>‹#›</a:t>
            </a:fld>
            <a:endParaRPr lang="en-US"/>
          </a:p>
        </p:txBody>
      </p:sp>
      <p:sp>
        <p:nvSpPr>
          <p:cNvPr id="9" name="Text Placeholder 4">
            <a:extLst>
              <a:ext uri="{FF2B5EF4-FFF2-40B4-BE49-F238E27FC236}">
                <a16:creationId xmlns:a16="http://schemas.microsoft.com/office/drawing/2014/main" id="{A7AFB064-0CE3-4542-96E0-1B4C54BB2C07}"/>
              </a:ext>
            </a:extLst>
          </p:cNvPr>
          <p:cNvSpPr txBox="1">
            <a:spLocks/>
          </p:cNvSpPr>
          <p:nvPr userDrawn="1"/>
        </p:nvSpPr>
        <p:spPr>
          <a:xfrm>
            <a:off x="407988" y="6176684"/>
            <a:ext cx="3403327" cy="410696"/>
          </a:xfrm>
          <a:prstGeom prst="rect">
            <a:avLst/>
          </a:prstGeom>
        </p:spPr>
        <p:txBody>
          <a:bodyPr lIns="0" anchor="b" anchorCtr="0">
            <a:normAutofit/>
          </a:bodyPr>
          <a:lstStyle>
            <a:lvl1pPr marL="0" indent="0" algn="l" defTabSz="914400" rtl="0" eaLnBrk="1" latinLnBrk="0" hangingPunct="1">
              <a:lnSpc>
                <a:spcPct val="90000"/>
              </a:lnSpc>
              <a:spcBef>
                <a:spcPts val="1000"/>
              </a:spcBef>
              <a:buFontTx/>
              <a:buNone/>
              <a:defRPr sz="1400" b="0" i="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Courier New" panose="02070309020205020404" pitchFamily="49" charset="0"/>
              <a:buChar char="o"/>
              <a:defRPr sz="2400" b="0" i="0" kern="1200">
                <a:solidFill>
                  <a:schemeClr val="tx1"/>
                </a:solidFill>
                <a:latin typeface="Montserrat" pitchFamily="2" charset="77"/>
                <a:ea typeface="+mn-ea"/>
                <a:cs typeface="+mn-cs"/>
              </a:defRPr>
            </a:lvl2pPr>
            <a:lvl3pPr marL="1257300" indent="-342900" algn="l" defTabSz="914400" rtl="0" eaLnBrk="1" latinLnBrk="0" hangingPunct="1">
              <a:lnSpc>
                <a:spcPct val="90000"/>
              </a:lnSpc>
              <a:spcBef>
                <a:spcPts val="500"/>
              </a:spcBef>
              <a:buFont typeface="Courier New" panose="02070309020205020404" pitchFamily="49" charset="0"/>
              <a:buChar char="o"/>
              <a:defRPr sz="2000" b="0" i="0" kern="1200">
                <a:solidFill>
                  <a:schemeClr val="tx1"/>
                </a:solidFill>
                <a:latin typeface="Montserrat" pitchFamily="2" charset="77"/>
                <a:ea typeface="+mn-ea"/>
                <a:cs typeface="+mn-cs"/>
              </a:defRPr>
            </a:lvl3pPr>
            <a:lvl4pPr marL="1657350" indent="-285750" algn="l" defTabSz="914400" rtl="0" eaLnBrk="1" latinLnBrk="0" hangingPunct="1">
              <a:lnSpc>
                <a:spcPct val="90000"/>
              </a:lnSpc>
              <a:spcBef>
                <a:spcPts val="500"/>
              </a:spcBef>
              <a:buFont typeface="Courier New" panose="02070309020205020404" pitchFamily="49" charset="0"/>
              <a:buChar char="o"/>
              <a:defRPr sz="1800" b="0" i="0" kern="1200">
                <a:solidFill>
                  <a:schemeClr val="tx1"/>
                </a:solidFill>
                <a:latin typeface="Montserrat" pitchFamily="2" charset="77"/>
                <a:ea typeface="+mn-ea"/>
                <a:cs typeface="+mn-cs"/>
              </a:defRPr>
            </a:lvl4pPr>
            <a:lvl5pPr marL="2114550" indent="-285750" algn="l" defTabSz="914400" rtl="0" eaLnBrk="1" latinLnBrk="0" hangingPunct="1">
              <a:lnSpc>
                <a:spcPct val="90000"/>
              </a:lnSpc>
              <a:spcBef>
                <a:spcPts val="500"/>
              </a:spcBef>
              <a:buFont typeface="Courier New" panose="02070309020205020404" pitchFamily="49" charset="0"/>
              <a:buChar char="o"/>
              <a:defRPr sz="16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Courier New" panose="02070309020205020404" pitchFamily="49" charset="0"/>
              <a:buChar char="o"/>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err="1"/>
              <a:t>london.edu</a:t>
            </a:r>
            <a:endParaRPr lang="en-US"/>
          </a:p>
        </p:txBody>
      </p:sp>
    </p:spTree>
    <p:extLst>
      <p:ext uri="{BB962C8B-B14F-4D97-AF65-F5344CB8AC3E}">
        <p14:creationId xmlns:p14="http://schemas.microsoft.com/office/powerpoint/2010/main" val="40955980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57200" indent="-457200" algn="l" defTabSz="914400" rtl="0" eaLnBrk="1" latinLnBrk="0" hangingPunct="1">
        <a:lnSpc>
          <a:spcPct val="90000"/>
        </a:lnSpc>
        <a:spcBef>
          <a:spcPts val="1000"/>
        </a:spcBef>
        <a:buFont typeface="Courier New" panose="02070309020205020404" pitchFamily="49" charset="0"/>
        <a:buChar char="o"/>
        <a:defRPr sz="2800" b="0" i="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Courier New" panose="02070309020205020404" pitchFamily="49" charset="0"/>
        <a:buChar char="o"/>
        <a:defRPr sz="2400" b="0" i="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Courier New" panose="02070309020205020404" pitchFamily="49" charset="0"/>
        <a:buChar char="o"/>
        <a:defRPr sz="2000" b="0" i="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Courier New" panose="02070309020205020404" pitchFamily="49" charset="0"/>
        <a:buChar char="o"/>
        <a:defRPr sz="1800" b="0" i="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Courier New" panose="02070309020205020404" pitchFamily="49" charset="0"/>
        <a:buChar char="o"/>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Courier New" panose="02070309020205020404" pitchFamily="49" charset="0"/>
        <a:buChar char="o"/>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151">
          <p15:clr>
            <a:srgbClr val="F26B43"/>
          </p15:clr>
        </p15:guide>
        <p15:guide id="2" orient="horz" pos="2160">
          <p15:clr>
            <a:srgbClr val="F26B43"/>
          </p15:clr>
        </p15:guide>
        <p15:guide id="3" orient="horz" pos="278">
          <p15:clr>
            <a:srgbClr val="F26B43"/>
          </p15:clr>
        </p15:guide>
        <p15:guide id="4" pos="257">
          <p15:clr>
            <a:srgbClr val="F26B43"/>
          </p15:clr>
        </p15:guide>
        <p15:guide id="5" orient="horz" pos="2795">
          <p15:clr>
            <a:srgbClr val="F26B43"/>
          </p15:clr>
        </p15:guide>
        <p15:guide id="6" orient="horz" pos="4110">
          <p15:clr>
            <a:srgbClr val="F26B43"/>
          </p15:clr>
        </p15:guide>
        <p15:guide id="7" orient="horz" pos="1298">
          <p15:clr>
            <a:srgbClr val="F26B43"/>
          </p15:clr>
        </p15:guide>
        <p15:guide id="8" orient="horz" pos="3884">
          <p15:clr>
            <a:srgbClr val="F26B43"/>
          </p15:clr>
        </p15:guide>
        <p15:guide id="9" orient="horz" pos="799">
          <p15:clr>
            <a:srgbClr val="F26B43"/>
          </p15:clr>
        </p15:guide>
        <p15:guide id="10" orient="horz" pos="3702">
          <p15:clr>
            <a:srgbClr val="F26B43"/>
          </p15:clr>
        </p15:guide>
        <p15:guide id="11" orient="horz" pos="22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24.xml"/><Relationship Id="rId13" Type="http://schemas.openxmlformats.org/officeDocument/2006/relationships/slide" Target="slide51.xml"/><Relationship Id="rId3" Type="http://schemas.openxmlformats.org/officeDocument/2006/relationships/slide" Target="slide6.xml"/><Relationship Id="rId7" Type="http://schemas.openxmlformats.org/officeDocument/2006/relationships/slide" Target="slide19.xml"/><Relationship Id="rId12" Type="http://schemas.openxmlformats.org/officeDocument/2006/relationships/slide" Target="slide40.xml"/><Relationship Id="rId2" Type="http://schemas.openxmlformats.org/officeDocument/2006/relationships/slide" Target="slide5.xml"/><Relationship Id="rId1" Type="http://schemas.openxmlformats.org/officeDocument/2006/relationships/slideLayout" Target="../slideLayouts/slideLayout4.xml"/><Relationship Id="rId6" Type="http://schemas.openxmlformats.org/officeDocument/2006/relationships/slide" Target="slide18.xml"/><Relationship Id="rId11" Type="http://schemas.openxmlformats.org/officeDocument/2006/relationships/slide" Target="slide36.xml"/><Relationship Id="rId5" Type="http://schemas.openxmlformats.org/officeDocument/2006/relationships/slide" Target="slide15.xml"/><Relationship Id="rId15" Type="http://schemas.openxmlformats.org/officeDocument/2006/relationships/slide" Target="slide56.xml"/><Relationship Id="rId10" Type="http://schemas.openxmlformats.org/officeDocument/2006/relationships/slide" Target="slide33.xml"/><Relationship Id="rId4" Type="http://schemas.openxmlformats.org/officeDocument/2006/relationships/slide" Target="slide8.xml"/><Relationship Id="rId9" Type="http://schemas.openxmlformats.org/officeDocument/2006/relationships/slide" Target="slide28.xml"/><Relationship Id="rId14" Type="http://schemas.openxmlformats.org/officeDocument/2006/relationships/slide" Target="slide5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mailto:degreeprogrammes@london.edu" TargetMode="External"/><Relationship Id="rId2" Type="http://schemas.openxmlformats.org/officeDocument/2006/relationships/hyperlink" Target="https://londonbusinessschool1000.sharepoint.com/:b:/r/sites/SAClubsPresidents/Shared%20Documents/Events/Student%20event%20organisers%20guide/Useful%20documents%20and%20templates/Global%20experience%20dates%202023-2024.pdf?csf=1&amp;web=1&amp;e=nGsSNR" TargetMode="External"/><Relationship Id="rId1" Type="http://schemas.openxmlformats.org/officeDocument/2006/relationships/slideLayout" Target="../slideLayouts/slideLayout3.xml"/><Relationship Id="rId4" Type="http://schemas.openxmlformats.org/officeDocument/2006/relationships/hyperlink" Target="mailto:space@london.edu"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clubs.london.edu/LBSSAF/sa-treasury-resources/"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lbs.resourcespace.com/pages/view.php?ref=18313&amp;search=%21collection9948&amp;order_by=collection&amp;offset=0&amp;restypes=&amp;archive=&amp;per_page=48&amp;default_sort_direction=DESC&amp;sort=ASC&amp;context=Root&amp;k=&amp;curpos=&amp;go=previous&amp;" TargetMode="External"/><Relationship Id="rId2" Type="http://schemas.openxmlformats.org/officeDocument/2006/relationships/hyperlink" Target="https://lbs.resourcespace.com/pages/home.php?login=true" TargetMode="External"/><Relationship Id="rId1" Type="http://schemas.openxmlformats.org/officeDocument/2006/relationships/slideLayout" Target="../slideLayouts/slideLayout3.xml"/><Relationship Id="rId5" Type="http://schemas.openxmlformats.org/officeDocument/2006/relationships/hyperlink" Target="https://lbs.resourcespace.com/pages/collections_featured.php?parent=9296" TargetMode="External"/><Relationship Id="rId4" Type="http://schemas.openxmlformats.org/officeDocument/2006/relationships/hyperlink" Target="mailto:content@london.edu"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mailto:internalcomms@London.edu" TargetMode="External"/><Relationship Id="rId3" Type="http://schemas.openxmlformats.org/officeDocument/2006/relationships/hyperlink" Target="mailto:content@london.edu" TargetMode="External"/><Relationship Id="rId7" Type="http://schemas.openxmlformats.org/officeDocument/2006/relationships/hyperlink" Target="https://londonbusinessschool1000.sharepoint.com/:p:/r/sites/SAClubsPresidents/Shared%20Documents/Events/Student%20event%20organisers%20guide/Plasma%20screen%20templates.pptx?d=w6174c60d57c44cdea6048b96950f9f27&amp;csf=1&amp;web=1&amp;e=r5rsxR" TargetMode="External"/><Relationship Id="rId2" Type="http://schemas.openxmlformats.org/officeDocument/2006/relationships/hyperlink" Target="mailto:lbs@paragon-cc.co.uk" TargetMode="External"/><Relationship Id="rId1" Type="http://schemas.openxmlformats.org/officeDocument/2006/relationships/slideLayout" Target="../slideLayouts/slideLayout3.xml"/><Relationship Id="rId6" Type="http://schemas.openxmlformats.org/officeDocument/2006/relationships/hyperlink" Target="https://londonbusinessschool1000.sharepoint.com/:b:/r/sites/SAClubsPresidents/Shared%20Documents/Events/Student%20event%20organisers%20guide/Plasma%20screens%20best%20practice%20for%20contributors.pdf?csf=1&amp;web=1&amp;e=wuucUB" TargetMode="External"/><Relationship Id="rId5" Type="http://schemas.openxmlformats.org/officeDocument/2006/relationships/hyperlink" Target="mailto:avhelp@london.edu" TargetMode="External"/><Relationship Id="rId4" Type="http://schemas.openxmlformats.org/officeDocument/2006/relationships/image" Target="../media/image4.jpeg"/></Relationships>
</file>

<file path=ppt/slides/_rels/slide21.xml.rels><?xml version="1.0" encoding="utf-8" standalone="yes"?><Relationships xmlns="http://schemas.openxmlformats.org/package/2006/relationships"><Relationship Id="rId3" Type="http://schemas.openxmlformats.org/officeDocument/2006/relationships/hyperlink" Target="https://shop.london.edu/" TargetMode="External" /><Relationship Id="rId2" Type="http://schemas.openxmlformats.org/officeDocument/2006/relationships/hyperlink" Target="mailto:mailto@shop@london.edu" TargetMode="External" /><Relationship Id="rId1" Type="http://schemas.openxmlformats.org/officeDocument/2006/relationships/slideLayout" Target="../slideLayouts/slideLayout3.xml" /></Relationships>
</file>

<file path=ppt/slides/_rels/slide22.xml.rels><?xml version="1.0" encoding="UTF-8" standalone="yes"?>
<Relationships xmlns="http://schemas.openxmlformats.org/package/2006/relationships"><Relationship Id="rId3" Type="http://schemas.openxmlformats.org/officeDocument/2006/relationships/hyperlink" Target="mailto:sguzeeva@london.edu" TargetMode="External"/><Relationship Id="rId2" Type="http://schemas.openxmlformats.org/officeDocument/2006/relationships/hyperlink" Target="mailto:socialmedia@london.edu"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mailto:content@london.edu"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hyperlink" Target="mailto:press@london.edu" TargetMode="Externa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mailto:internalcomms@london.edu" TargetMode="External"/><Relationship Id="rId2" Type="http://schemas.openxmlformats.org/officeDocument/2006/relationships/hyperlink" Target="mailto:press@london.edu" TargetMode="Externa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Relationships xmlns="http://schemas.openxmlformats.org/package/2006/relationships"><Relationship Id="rId3" Type="http://schemas.openxmlformats.org/officeDocument/2006/relationships/hyperlink" Target="mailto:mailto@mslowey@london.edu" TargetMode="External" /><Relationship Id="rId2" Type="http://schemas.openxmlformats.org/officeDocument/2006/relationships/hyperlink" Target="mailto:mailto@alumnirelations@london.edu" TargetMode="External" /><Relationship Id="rId1" Type="http://schemas.openxmlformats.org/officeDocument/2006/relationships/slideLayout" Target="../slideLayouts/slideLayout3.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londonbusinessschool1000-my.sharepoint.com/:w:/g/personal/hmathelemuse_london_edu/EalTA1Frp7lFj8K8gqIURAEBPUmodCZ65pISYP15piGwFQ?e=IuVLPh" TargetMode="External"/><Relationship Id="rId2" Type="http://schemas.openxmlformats.org/officeDocument/2006/relationships/hyperlink" Target="https://www.chathamhouse.org/about-us/chatham-house-rule" TargetMode="External"/><Relationship Id="rId1" Type="http://schemas.openxmlformats.org/officeDocument/2006/relationships/slideLayout" Target="../slideLayouts/slideLayout3.xml"/><Relationship Id="rId4" Type="http://schemas.openxmlformats.org/officeDocument/2006/relationships/hyperlink" Target="mailto:editorialplanning@london.edu"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mailto:space@london.edu" TargetMode="External"/><Relationship Id="rId2" Type="http://schemas.openxmlformats.org/officeDocument/2006/relationships/hyperlink" Target="mailto:cateringevents@london.edu" TargetMode="Externa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hyperlink" Target="mailto:security@london.edu" TargetMode="Externa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hyperlink" Target="mailto:estates@london.edu" TargetMode="Externa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hyperlink" Target="mailto:avhelp@london.edu" TargetMode="External"/><Relationship Id="rId2" Type="http://schemas.openxmlformats.org/officeDocument/2006/relationships/hyperlink" Target="mailto:AVhelp@london.edu" TargetMode="External"/><Relationship Id="rId1" Type="http://schemas.openxmlformats.org/officeDocument/2006/relationships/slideLayout" Target="../slideLayouts/slideLayout4.xml"/><Relationship Id="rId5" Type="http://schemas.openxmlformats.org/officeDocument/2006/relationships/hyperlink" Target="mailto:shop@london.edu" TargetMode="External"/><Relationship Id="rId4" Type="http://schemas.openxmlformats.org/officeDocument/2006/relationships/hyperlink" Target="mailto:ashaikh@london.edu" TargetMode="Externa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5.xml.rels><?xml version="1.0" encoding="UTF-8" standalone="yes"?>
<Relationships xmlns="http://schemas.openxmlformats.org/package/2006/relationships"><Relationship Id="rId3" Type="http://schemas.openxmlformats.org/officeDocument/2006/relationships/hyperlink" Target="mailto:space@london.edu" TargetMode="External"/><Relationship Id="rId2" Type="http://schemas.openxmlformats.org/officeDocument/2006/relationships/hyperlink" Target="https://londonbusinessschool1000.sharepoint.com/:w:/r/sites/SAClubsPresidents/Shared%20Documents/Events/Student%20event%20organisers%20guide/LBS%20Crib%20Sheet%202022-23.docx?d=w8d068dda99454e10b525e249255bef6b&amp;csf=1&amp;web=1&amp;e=AhSTTn" TargetMode="External"/><Relationship Id="rId1" Type="http://schemas.openxmlformats.org/officeDocument/2006/relationships/slideLayout" Target="../slideLayouts/slideLayout4.xml"/><Relationship Id="rId4" Type="http://schemas.openxmlformats.org/officeDocument/2006/relationships/hyperlink" Target="https://lbs.resourcespace.com/?r=19179" TargetMode="External"/></Relationships>
</file>

<file path=ppt/slides/_rels/slide46.xml.rels><?xml version="1.0" encoding="UTF-8" standalone="yes"?>
<Relationships xmlns="http://schemas.openxmlformats.org/package/2006/relationships"><Relationship Id="rId2" Type="http://schemas.openxmlformats.org/officeDocument/2006/relationships/hyperlink" Target="mailto:cateringevents@london.edu" TargetMode="Externa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mailto:phil.jackson@mhforumlink.com" TargetMode="Externa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mailto:ashaikh@london.edu" TargetMode="External"/><Relationship Id="rId2" Type="http://schemas.openxmlformats.org/officeDocument/2006/relationships/hyperlink" Target="mailto:lbs@paragon-cc.co.uk" TargetMode="Externa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GB"/>
              <a:t>LBS Student Event Organiser’s Guide</a:t>
            </a:r>
          </a:p>
        </p:txBody>
      </p:sp>
      <p:sp>
        <p:nvSpPr>
          <p:cNvPr id="7" name="Subtitle 6"/>
          <p:cNvSpPr>
            <a:spLocks noGrp="1"/>
          </p:cNvSpPr>
          <p:nvPr>
            <p:ph type="subTitle" idx="1"/>
          </p:nvPr>
        </p:nvSpPr>
        <p:spPr/>
        <p:txBody>
          <a:bodyPr vert="horz" lIns="91440" tIns="45720" rIns="91440" bIns="45720" rtlCol="0" anchor="t">
            <a:normAutofit/>
          </a:bodyPr>
          <a:lstStyle/>
          <a:p>
            <a:r>
              <a:rPr lang="en-GB">
                <a:cs typeface="Arial"/>
              </a:rPr>
              <a:t>  </a:t>
            </a:r>
          </a:p>
        </p:txBody>
      </p:sp>
      <p:sp>
        <p:nvSpPr>
          <p:cNvPr id="3" name="Slide Number Placeholder 2"/>
          <p:cNvSpPr>
            <a:spLocks noGrp="1"/>
          </p:cNvSpPr>
          <p:nvPr>
            <p:ph type="sldNum" sz="quarter" idx="4294967295"/>
          </p:nvPr>
        </p:nvSpPr>
        <p:spPr>
          <a:xfrm>
            <a:off x="11723688" y="6303963"/>
            <a:ext cx="468312" cy="323850"/>
          </a:xfrm>
        </p:spPr>
        <p:txBody>
          <a:bodyPr/>
          <a:lstStyle/>
          <a:p>
            <a:fld id="{F97EA6E0-ACB3-C744-814F-68814E5220CF}" type="slidenum">
              <a:rPr lang="en-US" smtClean="0"/>
              <a:t>1</a:t>
            </a:fld>
            <a:endParaRPr lang="en-US"/>
          </a:p>
        </p:txBody>
      </p:sp>
      <p:sp>
        <p:nvSpPr>
          <p:cNvPr id="8" name="AutoShape 2" descr="https://euc-powerpoint.officeapps.live.com/pods/GetClipboardImage.ashx?Id=c4c1d665-794e-4a9b-b3ea-17c0a5e0bb8f&amp;DC=GEU5&amp;pkey=dfbf961d-655b-41d8-b4b5-4e14db9b8afc&amp;wdwaccluster=GEU5"/>
          <p:cNvSpPr>
            <a:spLocks noChangeAspect="1" noChangeArrowheads="1"/>
          </p:cNvSpPr>
          <p:nvPr/>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4" descr="https://euc-powerpoint.officeapps.live.com/pods/GetClipboardImage.ashx?Id=c4c1d665-794e-4a9b-b3ea-17c0a5e0bb8f&amp;DC=GEU5&amp;pkey=dfbf961d-655b-41d8-b4b5-4e14db9b8afc&amp;wdwaccluster=GEU5"/>
          <p:cNvSpPr>
            <a:spLocks noChangeAspect="1" noChangeArrowheads="1"/>
          </p:cNvSpPr>
          <p:nvPr/>
        </p:nvSpPr>
        <p:spPr bwMode="auto">
          <a:xfrm>
            <a:off x="36512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358666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sz="3600" b="1"/>
              <a:t>Contents</a:t>
            </a:r>
          </a:p>
        </p:txBody>
      </p:sp>
      <p:graphicFrame>
        <p:nvGraphicFramePr>
          <p:cNvPr id="2" name="Table 1"/>
          <p:cNvGraphicFramePr>
            <a:graphicFrameLocks noGrp="1"/>
          </p:cNvGraphicFramePr>
          <p:nvPr>
            <p:extLst>
              <p:ext uri="{D42A27DB-BD31-4B8C-83A1-F6EECF244321}">
                <p14:modId xmlns:p14="http://schemas.microsoft.com/office/powerpoint/2010/main" val="1334624106"/>
              </p:ext>
            </p:extLst>
          </p:nvPr>
        </p:nvGraphicFramePr>
        <p:xfrm>
          <a:off x="2808966" y="832746"/>
          <a:ext cx="6242036" cy="5562600"/>
        </p:xfrm>
        <a:graphic>
          <a:graphicData uri="http://schemas.openxmlformats.org/drawingml/2006/table">
            <a:tbl>
              <a:tblPr firstRow="1" bandRow="1">
                <a:tableStyleId>{5C22544A-7EE6-4342-B048-85BDC9FD1C3A}</a:tableStyleId>
              </a:tblPr>
              <a:tblGrid>
                <a:gridCol w="4405391">
                  <a:extLst>
                    <a:ext uri="{9D8B030D-6E8A-4147-A177-3AD203B41FA5}">
                      <a16:colId xmlns:a16="http://schemas.microsoft.com/office/drawing/2014/main" val="3978807187"/>
                    </a:ext>
                  </a:extLst>
                </a:gridCol>
                <a:gridCol w="1836645">
                  <a:extLst>
                    <a:ext uri="{9D8B030D-6E8A-4147-A177-3AD203B41FA5}">
                      <a16:colId xmlns:a16="http://schemas.microsoft.com/office/drawing/2014/main" val="1659830242"/>
                    </a:ext>
                  </a:extLst>
                </a:gridCol>
              </a:tblGrid>
              <a:tr h="370840">
                <a:tc>
                  <a:txBody>
                    <a:bodyPr/>
                    <a:lstStyle/>
                    <a:p>
                      <a:r>
                        <a:rPr lang="en-GB" sz="1600"/>
                        <a:t>Section *</a:t>
                      </a:r>
                    </a:p>
                  </a:txBody>
                  <a:tcPr/>
                </a:tc>
                <a:tc>
                  <a:txBody>
                    <a:bodyPr/>
                    <a:lstStyle/>
                    <a:p>
                      <a:r>
                        <a:rPr lang="en-GB" sz="1600"/>
                        <a:t>Slide no.</a:t>
                      </a:r>
                    </a:p>
                  </a:txBody>
                  <a:tcPr/>
                </a:tc>
                <a:extLst>
                  <a:ext uri="{0D108BD9-81ED-4DB2-BD59-A6C34878D82A}">
                    <a16:rowId xmlns:a16="http://schemas.microsoft.com/office/drawing/2014/main" val="2236128870"/>
                  </a:ext>
                </a:extLst>
              </a:tr>
              <a:tr h="370840">
                <a:tc>
                  <a:txBody>
                    <a:bodyPr/>
                    <a:lstStyle/>
                    <a:p>
                      <a:r>
                        <a:rPr lang="en-GB" sz="1400" b="1">
                          <a:hlinkClick r:id="rId2" action="ppaction://hlinksldjump"/>
                        </a:rPr>
                        <a:t>Before you start</a:t>
                      </a:r>
                      <a:endParaRPr lang="en-GB" sz="1400"/>
                    </a:p>
                  </a:txBody>
                  <a:tcPr/>
                </a:tc>
                <a:tc>
                  <a:txBody>
                    <a:bodyPr/>
                    <a:lstStyle/>
                    <a:p>
                      <a:r>
                        <a:rPr lang="en-GB" sz="1400" b="1"/>
                        <a:t>3</a:t>
                      </a:r>
                    </a:p>
                  </a:txBody>
                  <a:tcPr/>
                </a:tc>
                <a:extLst>
                  <a:ext uri="{0D108BD9-81ED-4DB2-BD59-A6C34878D82A}">
                    <a16:rowId xmlns:a16="http://schemas.microsoft.com/office/drawing/2014/main" val="2403027676"/>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a:hlinkClick r:id="rId3" action="ppaction://hlinksldjump"/>
                        </a:rPr>
                        <a:t>Define your event</a:t>
                      </a:r>
                      <a:endParaRPr lang="en-GB" sz="1400"/>
                    </a:p>
                  </a:txBody>
                  <a:tcPr/>
                </a:tc>
                <a:tc>
                  <a:txBody>
                    <a:bodyPr/>
                    <a:lstStyle/>
                    <a:p>
                      <a:r>
                        <a:rPr lang="en-GB" sz="1400" b="1"/>
                        <a:t>6,7</a:t>
                      </a:r>
                    </a:p>
                  </a:txBody>
                  <a:tcPr/>
                </a:tc>
                <a:extLst>
                  <a:ext uri="{0D108BD9-81ED-4DB2-BD59-A6C34878D82A}">
                    <a16:rowId xmlns:a16="http://schemas.microsoft.com/office/drawing/2014/main" val="2590240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a:hlinkClick r:id="rId4" action="ppaction://hlinksldjump"/>
                        </a:rPr>
                        <a:t>Planning</a:t>
                      </a:r>
                      <a:endParaRPr lang="en-GB" sz="1400" b="1"/>
                    </a:p>
                  </a:txBody>
                  <a:tcPr/>
                </a:tc>
                <a:tc>
                  <a:txBody>
                    <a:bodyPr/>
                    <a:lstStyle/>
                    <a:p>
                      <a:r>
                        <a:rPr lang="en-GB" sz="1400" b="1"/>
                        <a:t>8</a:t>
                      </a:r>
                    </a:p>
                  </a:txBody>
                  <a:tcPr/>
                </a:tc>
                <a:extLst>
                  <a:ext uri="{0D108BD9-81ED-4DB2-BD59-A6C34878D82A}">
                    <a16:rowId xmlns:a16="http://schemas.microsoft.com/office/drawing/2014/main" val="244407603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a:hlinkClick r:id="rId5" action="ppaction://hlinksldjump"/>
                        </a:rPr>
                        <a:t>Fundraising &amp; sponsorship</a:t>
                      </a:r>
                      <a:endParaRPr lang="en-GB" sz="1400" b="1"/>
                    </a:p>
                  </a:txBody>
                  <a:tcPr/>
                </a:tc>
                <a:tc>
                  <a:txBody>
                    <a:bodyPr/>
                    <a:lstStyle/>
                    <a:p>
                      <a:r>
                        <a:rPr lang="en-GB" sz="1400" b="1"/>
                        <a:t>15</a:t>
                      </a:r>
                    </a:p>
                  </a:txBody>
                  <a:tcPr/>
                </a:tc>
                <a:extLst>
                  <a:ext uri="{0D108BD9-81ED-4DB2-BD59-A6C34878D82A}">
                    <a16:rowId xmlns:a16="http://schemas.microsoft.com/office/drawing/2014/main" val="40612650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a:hlinkClick r:id="rId6" action="ppaction://hlinksldjump"/>
                        </a:rPr>
                        <a:t>Brand, Marketing and Communications</a:t>
                      </a:r>
                      <a:endParaRPr lang="en-GB" sz="1400" b="1"/>
                    </a:p>
                  </a:txBody>
                  <a:tcPr/>
                </a:tc>
                <a:tc>
                  <a:txBody>
                    <a:bodyPr/>
                    <a:lstStyle/>
                    <a:p>
                      <a:r>
                        <a:rPr lang="en-GB" sz="1400" b="1"/>
                        <a:t>18</a:t>
                      </a:r>
                    </a:p>
                  </a:txBody>
                  <a:tcPr/>
                </a:tc>
                <a:extLst>
                  <a:ext uri="{0D108BD9-81ED-4DB2-BD59-A6C34878D82A}">
                    <a16:rowId xmlns:a16="http://schemas.microsoft.com/office/drawing/2014/main" val="3084921712"/>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a:hlinkClick r:id="rId7" action="ppaction://hlinksldjump"/>
                        </a:rPr>
                        <a:t>Brand guidelines</a:t>
                      </a:r>
                      <a:endParaRPr lang="en-GB" sz="1400"/>
                    </a:p>
                  </a:txBody>
                  <a:tcPr/>
                </a:tc>
                <a:tc>
                  <a:txBody>
                    <a:bodyPr/>
                    <a:lstStyle/>
                    <a:p>
                      <a:r>
                        <a:rPr lang="en-GB" sz="1400" b="1"/>
                        <a:t>19</a:t>
                      </a:r>
                    </a:p>
                  </a:txBody>
                  <a:tcPr/>
                </a:tc>
                <a:extLst>
                  <a:ext uri="{0D108BD9-81ED-4DB2-BD59-A6C34878D82A}">
                    <a16:rowId xmlns:a16="http://schemas.microsoft.com/office/drawing/2014/main" val="29009011"/>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a:hlinkClick r:id="rId8" action="ppaction://hlinksldjump"/>
                        </a:rPr>
                        <a:t>Communications</a:t>
                      </a:r>
                      <a:endParaRPr lang="en-GB" sz="1400"/>
                    </a:p>
                  </a:txBody>
                  <a:tcPr/>
                </a:tc>
                <a:tc>
                  <a:txBody>
                    <a:bodyPr/>
                    <a:lstStyle/>
                    <a:p>
                      <a:r>
                        <a:rPr lang="en-GB" sz="1400" b="1"/>
                        <a:t>24</a:t>
                      </a:r>
                    </a:p>
                  </a:txBody>
                  <a:tcPr/>
                </a:tc>
                <a:extLst>
                  <a:ext uri="{0D108BD9-81ED-4DB2-BD59-A6C34878D82A}">
                    <a16:rowId xmlns:a16="http://schemas.microsoft.com/office/drawing/2014/main" val="716028575"/>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a:hlinkClick r:id="rId9" action="ppaction://hlinksldjump"/>
                        </a:rPr>
                        <a:t>Press invitation template</a:t>
                      </a:r>
                      <a:endParaRPr lang="en-GB" sz="1400"/>
                    </a:p>
                  </a:txBody>
                  <a:tcPr/>
                </a:tc>
                <a:tc>
                  <a:txBody>
                    <a:bodyPr/>
                    <a:lstStyle/>
                    <a:p>
                      <a:r>
                        <a:rPr lang="en-GB" sz="1400" b="1"/>
                        <a:t>28</a:t>
                      </a:r>
                    </a:p>
                  </a:txBody>
                  <a:tcPr/>
                </a:tc>
                <a:extLst>
                  <a:ext uri="{0D108BD9-81ED-4DB2-BD59-A6C34878D82A}">
                    <a16:rowId xmlns:a16="http://schemas.microsoft.com/office/drawing/2014/main" val="19542405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400" b="1">
                          <a:hlinkClick r:id="rId10" action="ppaction://hlinksldjump"/>
                        </a:rPr>
                        <a:t>Ticketing</a:t>
                      </a:r>
                      <a:endParaRPr lang="en-GB" sz="1400" b="1"/>
                    </a:p>
                  </a:txBody>
                  <a:tcPr/>
                </a:tc>
                <a:tc>
                  <a:txBody>
                    <a:bodyPr/>
                    <a:lstStyle/>
                    <a:p>
                      <a:r>
                        <a:rPr lang="en-GB" sz="1400" b="1"/>
                        <a:t>32</a:t>
                      </a:r>
                    </a:p>
                  </a:txBody>
                  <a:tcPr/>
                </a:tc>
                <a:extLst>
                  <a:ext uri="{0D108BD9-81ED-4DB2-BD59-A6C34878D82A}">
                    <a16:rowId xmlns:a16="http://schemas.microsoft.com/office/drawing/2014/main" val="11777035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400" b="1">
                          <a:hlinkClick r:id="rId11" action="ppaction://hlinksldjump"/>
                        </a:rPr>
                        <a:t>Speakers</a:t>
                      </a:r>
                      <a:endParaRPr lang="en-GB" sz="1400" b="1"/>
                    </a:p>
                  </a:txBody>
                  <a:tcPr/>
                </a:tc>
                <a:tc>
                  <a:txBody>
                    <a:bodyPr/>
                    <a:lstStyle/>
                    <a:p>
                      <a:r>
                        <a:rPr lang="en-GB" sz="1400" b="1"/>
                        <a:t>35</a:t>
                      </a:r>
                    </a:p>
                  </a:txBody>
                  <a:tcPr/>
                </a:tc>
                <a:extLst>
                  <a:ext uri="{0D108BD9-81ED-4DB2-BD59-A6C34878D82A}">
                    <a16:rowId xmlns:a16="http://schemas.microsoft.com/office/drawing/2014/main" val="2867845726"/>
                  </a:ext>
                </a:extLst>
              </a:tr>
              <a:tr h="370840">
                <a:tc>
                  <a:txBody>
                    <a:bodyPr/>
                    <a:lstStyle/>
                    <a:p>
                      <a:pPr marL="0" indent="0">
                        <a:buNone/>
                      </a:pPr>
                      <a:r>
                        <a:rPr lang="en-GB" sz="1400" b="1">
                          <a:hlinkClick r:id="rId12" action="ppaction://hlinksldjump"/>
                        </a:rPr>
                        <a:t>Logistics – on campus events</a:t>
                      </a:r>
                      <a:endParaRPr lang="en-GB" sz="1400" b="1"/>
                    </a:p>
                  </a:txBody>
                  <a:tcPr/>
                </a:tc>
                <a:tc>
                  <a:txBody>
                    <a:bodyPr/>
                    <a:lstStyle/>
                    <a:p>
                      <a:r>
                        <a:rPr lang="en-GB" sz="1400" b="1"/>
                        <a:t>39</a:t>
                      </a:r>
                    </a:p>
                  </a:txBody>
                  <a:tcPr/>
                </a:tc>
                <a:extLst>
                  <a:ext uri="{0D108BD9-81ED-4DB2-BD59-A6C34878D82A}">
                    <a16:rowId xmlns:a16="http://schemas.microsoft.com/office/drawing/2014/main" val="8116790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400" b="1">
                          <a:hlinkClick r:id="rId13" action="ppaction://hlinksldjump"/>
                        </a:rPr>
                        <a:t>Logistics – external venues</a:t>
                      </a:r>
                      <a:endParaRPr lang="en-GB" sz="1400" b="1"/>
                    </a:p>
                  </a:txBody>
                  <a:tcPr/>
                </a:tc>
                <a:tc>
                  <a:txBody>
                    <a:bodyPr/>
                    <a:lstStyle/>
                    <a:p>
                      <a:r>
                        <a:rPr lang="en-GB" sz="1400" b="1"/>
                        <a:t>50</a:t>
                      </a:r>
                    </a:p>
                  </a:txBody>
                  <a:tcPr/>
                </a:tc>
                <a:extLst>
                  <a:ext uri="{0D108BD9-81ED-4DB2-BD59-A6C34878D82A}">
                    <a16:rowId xmlns:a16="http://schemas.microsoft.com/office/drawing/2014/main" val="41415800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400" b="1">
                          <a:hlinkClick r:id="rId14" action="ppaction://hlinksldjump"/>
                        </a:rPr>
                        <a:t>Logistics – at the event</a:t>
                      </a:r>
                      <a:endParaRPr lang="en-GB" sz="1400" b="1"/>
                    </a:p>
                  </a:txBody>
                  <a:tcPr/>
                </a:tc>
                <a:tc>
                  <a:txBody>
                    <a:bodyPr/>
                    <a:lstStyle/>
                    <a:p>
                      <a:r>
                        <a:rPr lang="en-GB" sz="1400" b="1"/>
                        <a:t>52</a:t>
                      </a:r>
                    </a:p>
                  </a:txBody>
                  <a:tcPr/>
                </a:tc>
                <a:extLst>
                  <a:ext uri="{0D108BD9-81ED-4DB2-BD59-A6C34878D82A}">
                    <a16:rowId xmlns:a16="http://schemas.microsoft.com/office/drawing/2014/main" val="317005779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400" b="1">
                          <a:hlinkClick r:id="rId15" action="ppaction://hlinksldjump"/>
                        </a:rPr>
                        <a:t>Final considerations</a:t>
                      </a:r>
                      <a:endParaRPr lang="en-GB" sz="1400" b="1"/>
                    </a:p>
                  </a:txBody>
                  <a:tcPr/>
                </a:tc>
                <a:tc>
                  <a:txBody>
                    <a:bodyPr/>
                    <a:lstStyle/>
                    <a:p>
                      <a:r>
                        <a:rPr lang="en-GB" sz="1400" b="1"/>
                        <a:t>55</a:t>
                      </a:r>
                      <a:endParaRPr lang="en-US"/>
                    </a:p>
                  </a:txBody>
                  <a:tcPr/>
                </a:tc>
                <a:extLst>
                  <a:ext uri="{0D108BD9-81ED-4DB2-BD59-A6C34878D82A}">
                    <a16:rowId xmlns:a16="http://schemas.microsoft.com/office/drawing/2014/main" val="1736355451"/>
                  </a:ext>
                </a:extLst>
              </a:tr>
            </a:tbl>
          </a:graphicData>
        </a:graphic>
      </p:graphicFrame>
      <p:sp>
        <p:nvSpPr>
          <p:cNvPr id="3" name="TextBox 2">
            <a:extLst>
              <a:ext uri="{FF2B5EF4-FFF2-40B4-BE49-F238E27FC236}">
                <a16:creationId xmlns:a16="http://schemas.microsoft.com/office/drawing/2014/main" id="{223E7D71-8701-DA74-9DEC-3205333E4447}"/>
              </a:ext>
            </a:extLst>
          </p:cNvPr>
          <p:cNvSpPr txBox="1"/>
          <p:nvPr/>
        </p:nvSpPr>
        <p:spPr>
          <a:xfrm>
            <a:off x="9206630" y="5688904"/>
            <a:ext cx="277138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i="1">
                <a:cs typeface="Arial" panose="020B0604020202020204"/>
              </a:rPr>
              <a:t>*View in slide show mode to use hyperlinks</a:t>
            </a:r>
            <a:endParaRPr lang="en-US">
              <a:cs typeface="Arial" panose="020B0604020202020204"/>
            </a:endParaRPr>
          </a:p>
        </p:txBody>
      </p:sp>
    </p:spTree>
    <p:extLst>
      <p:ext uri="{BB962C8B-B14F-4D97-AF65-F5344CB8AC3E}">
        <p14:creationId xmlns:p14="http://schemas.microsoft.com/office/powerpoint/2010/main" val="1947283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3</a:t>
            </a:fld>
            <a:endParaRPr lang="en-US"/>
          </a:p>
        </p:txBody>
      </p:sp>
      <p:sp>
        <p:nvSpPr>
          <p:cNvPr id="8" name="Rectangle 7"/>
          <p:cNvSpPr/>
          <p:nvPr/>
        </p:nvSpPr>
        <p:spPr>
          <a:xfrm>
            <a:off x="530942" y="931814"/>
            <a:ext cx="11130116" cy="4031873"/>
          </a:xfrm>
          <a:prstGeom prst="rect">
            <a:avLst/>
          </a:prstGeom>
        </p:spPr>
        <p:txBody>
          <a:bodyPr wrap="square" lIns="91440" tIns="45720" rIns="91440" bIns="45720" anchor="t">
            <a:spAutoFit/>
          </a:bodyPr>
          <a:lstStyle/>
          <a:p>
            <a:endParaRPr lang="en-GB" sz="1600">
              <a:cs typeface="Arial"/>
            </a:endParaRPr>
          </a:p>
          <a:p>
            <a:r>
              <a:rPr lang="en-GB" sz="1600" b="1"/>
              <a:t>Lead your team</a:t>
            </a:r>
            <a:endParaRPr lang="en-GB" sz="1600" b="1">
              <a:cs typeface="Arial"/>
            </a:endParaRPr>
          </a:p>
          <a:p>
            <a:r>
              <a:rPr lang="en-GB" sz="1600"/>
              <a:t>A strong team can make all the difference to a successful event. Managing a group of volunteers can be tough, but that also means there’s a lot to learn for you as a leader! Existing ‘Leadership skills’ resources often have relevant information to help you manage difficulties and practice these skills. </a:t>
            </a:r>
          </a:p>
          <a:p>
            <a:endParaRPr lang="en-GB" sz="1600">
              <a:cs typeface="Arial"/>
            </a:endParaRPr>
          </a:p>
          <a:p>
            <a:pPr fontAlgn="base"/>
            <a:r>
              <a:rPr lang="en-GB" sz="1600" b="1"/>
              <a:t>Showcase the LBS brand</a:t>
            </a:r>
            <a:endParaRPr lang="en-GB" sz="1600">
              <a:cs typeface="Arial"/>
            </a:endParaRPr>
          </a:p>
          <a:p>
            <a:pPr fontAlgn="base"/>
            <a:r>
              <a:rPr lang="en-GB" sz="1600"/>
              <a:t>LBS prides itself on its passionate and ambitious students, so naturally we only expect the best from our student-led events. LBS associated initiatives should showcase the best of what the student body has to offer. They are thought provoking, innovative and world class. </a:t>
            </a:r>
            <a:endParaRPr lang="en-GB" sz="1600">
              <a:cs typeface="Arial"/>
            </a:endParaRPr>
          </a:p>
          <a:p>
            <a:pPr fontAlgn="base"/>
            <a:endParaRPr lang="en-GB" sz="1600">
              <a:cs typeface="Arial"/>
            </a:endParaRPr>
          </a:p>
          <a:p>
            <a:pPr fontAlgn="base"/>
            <a:r>
              <a:rPr lang="en-GB" sz="1600"/>
              <a:t>If you are thinking of running an event that is open to external guests and is catering for more than 100 attendees, ensure that you have the right infrastructure in place to deliver on such a large-scale public event.</a:t>
            </a:r>
            <a:endParaRPr lang="en-GB" sz="1600">
              <a:cs typeface="Arial"/>
            </a:endParaRPr>
          </a:p>
          <a:p>
            <a:pPr fontAlgn="base"/>
            <a:endParaRPr lang="en-GB" sz="1600">
              <a:cs typeface="Arial"/>
            </a:endParaRPr>
          </a:p>
          <a:p>
            <a:pPr fontAlgn="base"/>
            <a:r>
              <a:rPr lang="en-GB" sz="1600"/>
              <a:t>The larger events or those with external speakers are typically more complex to arrange so begin your planning early and engage with the required School representatives sooner rather than later. </a:t>
            </a:r>
            <a:endParaRPr lang="en-GB" sz="1600">
              <a:cs typeface="Arial"/>
            </a:endParaRPr>
          </a:p>
        </p:txBody>
      </p:sp>
      <p:sp>
        <p:nvSpPr>
          <p:cNvPr id="7" name="Title 3"/>
          <p:cNvSpPr txBox="1">
            <a:spLocks/>
          </p:cNvSpPr>
          <p:nvPr/>
        </p:nvSpPr>
        <p:spPr>
          <a:xfrm>
            <a:off x="3332613" y="535814"/>
            <a:ext cx="8172000" cy="396000"/>
          </a:xfrm>
          <a:prstGeom prst="rect">
            <a:avLst/>
          </a:prstGeom>
        </p:spPr>
        <p:txBody>
          <a:bodyPr lIns="90000" tIns="45720" rIns="0" bIns="45720" anchor="t"/>
          <a:lstStyle>
            <a:lvl1pPr algn="r"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en-GB" b="1">
                <a:cs typeface="Arial"/>
              </a:rPr>
              <a:t>Introduction</a:t>
            </a:r>
          </a:p>
        </p:txBody>
      </p:sp>
    </p:spTree>
    <p:extLst>
      <p:ext uri="{BB962C8B-B14F-4D97-AF65-F5344CB8AC3E}">
        <p14:creationId xmlns:p14="http://schemas.microsoft.com/office/powerpoint/2010/main" val="571015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4</a:t>
            </a:fld>
            <a:endParaRPr lang="en-US"/>
          </a:p>
        </p:txBody>
      </p:sp>
      <p:sp>
        <p:nvSpPr>
          <p:cNvPr id="4" name="Title 3"/>
          <p:cNvSpPr>
            <a:spLocks noGrp="1"/>
          </p:cNvSpPr>
          <p:nvPr>
            <p:ph type="title"/>
          </p:nvPr>
        </p:nvSpPr>
        <p:spPr/>
        <p:txBody>
          <a:bodyPr lIns="90000" tIns="45720" rIns="0" bIns="45720" anchor="t"/>
          <a:lstStyle/>
          <a:p>
            <a:r>
              <a:rPr lang="en-GB" b="1">
                <a:solidFill>
                  <a:srgbClr val="001E61"/>
                </a:solidFill>
              </a:rPr>
              <a:t>Introduction</a:t>
            </a:r>
          </a:p>
        </p:txBody>
      </p:sp>
      <p:sp>
        <p:nvSpPr>
          <p:cNvPr id="8" name="Rectangle 7"/>
          <p:cNvSpPr/>
          <p:nvPr/>
        </p:nvSpPr>
        <p:spPr>
          <a:xfrm>
            <a:off x="530942" y="1134191"/>
            <a:ext cx="11130116" cy="4524315"/>
          </a:xfrm>
          <a:prstGeom prst="rect">
            <a:avLst/>
          </a:prstGeom>
        </p:spPr>
        <p:txBody>
          <a:bodyPr wrap="square" lIns="91440" tIns="45720" rIns="91440" bIns="45720" anchor="t">
            <a:spAutoFit/>
          </a:bodyPr>
          <a:lstStyle/>
          <a:p>
            <a:r>
              <a:rPr lang="en-GB" sz="1600"/>
              <a:t>Leading an event can be incredibly rewarding. You’ll have the chance to:</a:t>
            </a:r>
            <a:endParaRPr lang="en-GB" sz="1600">
              <a:cs typeface="Arial"/>
            </a:endParaRPr>
          </a:p>
          <a:p>
            <a:r>
              <a:rPr lang="en-GB" sz="1600"/>
              <a:t>•	Practice leadership and apply what you learn in the classroom</a:t>
            </a:r>
            <a:endParaRPr lang="en-GB" sz="1600">
              <a:cs typeface="Arial"/>
            </a:endParaRPr>
          </a:p>
          <a:p>
            <a:r>
              <a:rPr lang="en-GB" sz="1600"/>
              <a:t>•	Meet and connect with leaders of business</a:t>
            </a:r>
            <a:endParaRPr lang="en-GB" sz="1600">
              <a:cs typeface="Arial"/>
            </a:endParaRPr>
          </a:p>
          <a:p>
            <a:r>
              <a:rPr lang="en-GB" sz="1600"/>
              <a:t>•	Engage more deeply with the LBS community</a:t>
            </a:r>
            <a:endParaRPr lang="en-GB" sz="1600">
              <a:cs typeface="Arial"/>
            </a:endParaRPr>
          </a:p>
          <a:p>
            <a:endParaRPr lang="en-GB" sz="1600"/>
          </a:p>
          <a:p>
            <a:r>
              <a:rPr lang="en-GB" sz="1600"/>
              <a:t>Below is a list of responsibilities that we ask you to consider.</a:t>
            </a:r>
            <a:endParaRPr lang="en-GB" sz="1600">
              <a:cs typeface="Arial"/>
            </a:endParaRPr>
          </a:p>
          <a:p>
            <a:endParaRPr lang="en-GB" sz="1600">
              <a:cs typeface="Arial"/>
            </a:endParaRPr>
          </a:p>
          <a:p>
            <a:r>
              <a:rPr lang="en-GB" sz="1600" b="1"/>
              <a:t>Celebrate the LBS vision</a:t>
            </a:r>
            <a:endParaRPr lang="en-GB" sz="1600" b="1">
              <a:cs typeface="Arial"/>
            </a:endParaRPr>
          </a:p>
          <a:p>
            <a:r>
              <a:rPr lang="en-GB" sz="1600"/>
              <a:t>We strive to have a profound impact on the way the world does business, and the way business impacts the world. Our communal spirit helps people achieve their fullest potential.</a:t>
            </a:r>
            <a:endParaRPr lang="en-GB" sz="1600">
              <a:cs typeface="Arial"/>
            </a:endParaRPr>
          </a:p>
          <a:p>
            <a:endParaRPr lang="en-GB" sz="1600">
              <a:cs typeface="Arial"/>
            </a:endParaRPr>
          </a:p>
          <a:p>
            <a:r>
              <a:rPr lang="en-GB" sz="1600"/>
              <a:t>It’s your job to make sure that this vision is protected and celebrated. To help bring this to life, consistently, please follow our branding guidelines (more information on slide 19).</a:t>
            </a:r>
            <a:endParaRPr lang="en-GB" sz="1600">
              <a:cs typeface="Arial"/>
            </a:endParaRPr>
          </a:p>
          <a:p>
            <a:endParaRPr lang="en-GB" sz="1600">
              <a:cs typeface="Arial"/>
            </a:endParaRPr>
          </a:p>
          <a:p>
            <a:r>
              <a:rPr lang="en-GB" sz="1600" b="1"/>
              <a:t>Create memorable learning for your audience and peers</a:t>
            </a:r>
            <a:endParaRPr lang="en-GB" sz="1600" b="1">
              <a:cs typeface="Arial"/>
            </a:endParaRPr>
          </a:p>
          <a:p>
            <a:r>
              <a:rPr lang="en-GB" sz="1600"/>
              <a:t>Be clear who your audience is and consider their needs and desires. This starts from initial planning, all the way to the feedback survey and your thank you note. Engage them, surprise them and challenge them. (Don’t forget any audiences not in the room!)</a:t>
            </a:r>
            <a:endParaRPr lang="en-GB" sz="1600">
              <a:cs typeface="Arial"/>
            </a:endParaRPr>
          </a:p>
        </p:txBody>
      </p:sp>
    </p:spTree>
    <p:extLst>
      <p:ext uri="{BB962C8B-B14F-4D97-AF65-F5344CB8AC3E}">
        <p14:creationId xmlns:p14="http://schemas.microsoft.com/office/powerpoint/2010/main" val="3190749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GB"/>
              <a:t>Before you start</a:t>
            </a:r>
          </a:p>
        </p:txBody>
      </p:sp>
      <p:sp>
        <p:nvSpPr>
          <p:cNvPr id="3" name="Text Placeholder 2"/>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1186993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6</a:t>
            </a:fld>
            <a:endParaRPr lang="en-US"/>
          </a:p>
        </p:txBody>
      </p:sp>
      <p:sp>
        <p:nvSpPr>
          <p:cNvPr id="4" name="Title 3"/>
          <p:cNvSpPr>
            <a:spLocks noGrp="1"/>
          </p:cNvSpPr>
          <p:nvPr>
            <p:ph type="title"/>
          </p:nvPr>
        </p:nvSpPr>
        <p:spPr/>
        <p:txBody>
          <a:bodyPr/>
          <a:lstStyle/>
          <a:p>
            <a:r>
              <a:rPr lang="en-GB" b="1"/>
              <a:t>Define your event</a:t>
            </a:r>
          </a:p>
        </p:txBody>
      </p:sp>
      <p:sp>
        <p:nvSpPr>
          <p:cNvPr id="7" name="Rectangle 6"/>
          <p:cNvSpPr/>
          <p:nvPr/>
        </p:nvSpPr>
        <p:spPr>
          <a:xfrm>
            <a:off x="434109" y="474621"/>
            <a:ext cx="11323782" cy="830997"/>
          </a:xfrm>
          <a:prstGeom prst="rect">
            <a:avLst/>
          </a:prstGeom>
        </p:spPr>
        <p:txBody>
          <a:bodyPr wrap="square">
            <a:spAutoFit/>
          </a:bodyPr>
          <a:lstStyle/>
          <a:p>
            <a:pPr fontAlgn="base"/>
            <a:endParaRPr lang="en-GB" sz="1600"/>
          </a:p>
          <a:p>
            <a:pPr fontAlgn="base"/>
            <a:r>
              <a:rPr lang="en-GB" sz="1600"/>
              <a:t>Before you start planning an event, consider these key questions:</a:t>
            </a:r>
          </a:p>
          <a:p>
            <a:pPr fontAlgn="base"/>
            <a:r>
              <a:rPr lang="en-GB" sz="1600"/>
              <a:t> </a:t>
            </a:r>
          </a:p>
        </p:txBody>
      </p:sp>
      <p:graphicFrame>
        <p:nvGraphicFramePr>
          <p:cNvPr id="8" name="Diagram 7"/>
          <p:cNvGraphicFramePr/>
          <p:nvPr>
            <p:extLst>
              <p:ext uri="{D42A27DB-BD31-4B8C-83A1-F6EECF244321}">
                <p14:modId xmlns:p14="http://schemas.microsoft.com/office/powerpoint/2010/main" val="3855818080"/>
              </p:ext>
            </p:extLst>
          </p:nvPr>
        </p:nvGraphicFramePr>
        <p:xfrm>
          <a:off x="1231043" y="821409"/>
          <a:ext cx="9729914" cy="56264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67522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7</a:t>
            </a:fld>
            <a:endParaRPr lang="en-US"/>
          </a:p>
        </p:txBody>
      </p:sp>
      <p:sp>
        <p:nvSpPr>
          <p:cNvPr id="4" name="Title 3"/>
          <p:cNvSpPr>
            <a:spLocks noGrp="1"/>
          </p:cNvSpPr>
          <p:nvPr>
            <p:ph type="title"/>
          </p:nvPr>
        </p:nvSpPr>
        <p:spPr/>
        <p:txBody>
          <a:bodyPr/>
          <a:lstStyle/>
          <a:p>
            <a:r>
              <a:rPr lang="en-GB"/>
              <a:t> </a:t>
            </a:r>
          </a:p>
        </p:txBody>
      </p:sp>
      <p:graphicFrame>
        <p:nvGraphicFramePr>
          <p:cNvPr id="6" name="Diagram 5"/>
          <p:cNvGraphicFramePr/>
          <p:nvPr>
            <p:extLst>
              <p:ext uri="{D42A27DB-BD31-4B8C-83A1-F6EECF244321}">
                <p14:modId xmlns:p14="http://schemas.microsoft.com/office/powerpoint/2010/main" val="124326565"/>
              </p:ext>
            </p:extLst>
          </p:nvPr>
        </p:nvGraphicFramePr>
        <p:xfrm>
          <a:off x="1234395" y="821210"/>
          <a:ext cx="9723210" cy="55933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itle 3"/>
          <p:cNvSpPr txBox="1">
            <a:spLocks/>
          </p:cNvSpPr>
          <p:nvPr/>
        </p:nvSpPr>
        <p:spPr>
          <a:xfrm>
            <a:off x="3332613" y="535814"/>
            <a:ext cx="8172000" cy="396000"/>
          </a:xfrm>
          <a:prstGeom prst="rect">
            <a:avLst/>
          </a:prstGeom>
        </p:spPr>
        <p:txBody>
          <a:bodyPr lIns="90000" rIns="0"/>
          <a:lstStyle>
            <a:lvl1pPr algn="r"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en-GB" b="1"/>
              <a:t>Define your event</a:t>
            </a:r>
          </a:p>
        </p:txBody>
      </p:sp>
    </p:spTree>
    <p:extLst>
      <p:ext uri="{BB962C8B-B14F-4D97-AF65-F5344CB8AC3E}">
        <p14:creationId xmlns:p14="http://schemas.microsoft.com/office/powerpoint/2010/main" val="384020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p:txBody>
          <a:bodyPr/>
          <a:lstStyle/>
          <a:p>
            <a:r>
              <a:rPr lang="en-GB"/>
              <a:t>Planning</a:t>
            </a:r>
          </a:p>
        </p:txBody>
      </p:sp>
      <p:sp>
        <p:nvSpPr>
          <p:cNvPr id="7" name="Text Placeholder 6"/>
          <p:cNvSpPr>
            <a:spLocks noGrp="1"/>
          </p:cNvSpPr>
          <p:nvPr>
            <p:ph type="body" sz="quarter" idx="12"/>
          </p:nvPr>
        </p:nvSpPr>
        <p:spPr/>
        <p:txBody>
          <a:bodyPr/>
          <a:lstStyle/>
          <a:p>
            <a:endParaRPr lang="en-GB"/>
          </a:p>
        </p:txBody>
      </p:sp>
      <p:sp>
        <p:nvSpPr>
          <p:cNvPr id="3" name="Slide Number Placeholder 2"/>
          <p:cNvSpPr>
            <a:spLocks noGrp="1"/>
          </p:cNvSpPr>
          <p:nvPr>
            <p:ph type="sldNum" sz="quarter" idx="4294967295"/>
          </p:nvPr>
        </p:nvSpPr>
        <p:spPr>
          <a:xfrm>
            <a:off x="11723688" y="6303963"/>
            <a:ext cx="468312" cy="323850"/>
          </a:xfrm>
        </p:spPr>
        <p:txBody>
          <a:bodyPr/>
          <a:lstStyle/>
          <a:p>
            <a:fld id="{F97EA6E0-ACB3-C744-814F-68814E5220CF}" type="slidenum">
              <a:rPr lang="en-US" smtClean="0"/>
              <a:t>8</a:t>
            </a:fld>
            <a:endParaRPr lang="en-US"/>
          </a:p>
        </p:txBody>
      </p:sp>
    </p:spTree>
    <p:extLst>
      <p:ext uri="{BB962C8B-B14F-4D97-AF65-F5344CB8AC3E}">
        <p14:creationId xmlns:p14="http://schemas.microsoft.com/office/powerpoint/2010/main" val="1219911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9</a:t>
            </a:fld>
            <a:endParaRPr lang="en-US"/>
          </a:p>
        </p:txBody>
      </p:sp>
      <p:sp>
        <p:nvSpPr>
          <p:cNvPr id="4" name="Title 3"/>
          <p:cNvSpPr>
            <a:spLocks noGrp="1"/>
          </p:cNvSpPr>
          <p:nvPr>
            <p:ph type="title"/>
          </p:nvPr>
        </p:nvSpPr>
        <p:spPr/>
        <p:txBody>
          <a:bodyPr/>
          <a:lstStyle/>
          <a:p>
            <a:r>
              <a:rPr lang="en-GB" b="1"/>
              <a:t>Set the date</a:t>
            </a:r>
          </a:p>
        </p:txBody>
      </p:sp>
      <p:sp>
        <p:nvSpPr>
          <p:cNvPr id="7" name="Rectangle 6"/>
          <p:cNvSpPr/>
          <p:nvPr/>
        </p:nvSpPr>
        <p:spPr>
          <a:xfrm>
            <a:off x="393291" y="749921"/>
            <a:ext cx="11518490" cy="4708981"/>
          </a:xfrm>
          <a:prstGeom prst="rect">
            <a:avLst/>
          </a:prstGeom>
        </p:spPr>
        <p:txBody>
          <a:bodyPr wrap="square" lIns="91440" tIns="45720" rIns="91440" bIns="45720" anchor="t">
            <a:spAutoFit/>
          </a:bodyPr>
          <a:lstStyle/>
          <a:p>
            <a:r>
              <a:rPr lang="en-GB" sz="1500" dirty="0"/>
              <a:t>In addition to the considerations listed in the ‘define your event’ section (slide 7), make sure that you consider what other LBS events and activities are taking place to avoid any clashes.</a:t>
            </a:r>
          </a:p>
          <a:p>
            <a:endParaRPr lang="en-GB" sz="1500" dirty="0"/>
          </a:p>
          <a:p>
            <a:r>
              <a:rPr lang="en-GB" sz="1500" b="1" dirty="0"/>
              <a:t>Campus Groups</a:t>
            </a:r>
            <a:endParaRPr lang="en-GB" sz="1500" b="1" dirty="0">
              <a:cs typeface="Arial"/>
            </a:endParaRPr>
          </a:p>
          <a:p>
            <a:r>
              <a:rPr lang="en-GB" sz="1500" dirty="0"/>
              <a:t>Check for other events and activities that are already planned.</a:t>
            </a:r>
            <a:endParaRPr lang="en-GB" sz="1500" dirty="0">
              <a:cs typeface="Arial"/>
            </a:endParaRPr>
          </a:p>
          <a:p>
            <a:endParaRPr lang="en-GB" sz="1500" dirty="0">
              <a:cs typeface="Arial"/>
            </a:endParaRPr>
          </a:p>
          <a:p>
            <a:r>
              <a:rPr lang="en-GB" sz="1500" b="1" dirty="0"/>
              <a:t>Global Experiences</a:t>
            </a:r>
            <a:endParaRPr lang="en-GB" sz="1500" b="1" dirty="0">
              <a:cs typeface="Arial"/>
            </a:endParaRPr>
          </a:p>
          <a:p>
            <a:r>
              <a:rPr lang="en-GB" sz="1500" dirty="0"/>
              <a:t>Dates for Global Experiences for the 2023/24 academic year can be found </a:t>
            </a:r>
            <a:r>
              <a:rPr lang="en-GB" sz="1500" dirty="0">
                <a:solidFill>
                  <a:srgbClr val="FF0000"/>
                </a:solidFill>
                <a:hlinkClick r:id="rId2"/>
              </a:rPr>
              <a:t>here </a:t>
            </a:r>
            <a:r>
              <a:rPr lang="en-GB" sz="1500" dirty="0">
                <a:solidFill>
                  <a:srgbClr val="FF0000"/>
                </a:solidFill>
              </a:rPr>
              <a:t> </a:t>
            </a:r>
            <a:endParaRPr lang="en-GB" sz="1500" dirty="0">
              <a:solidFill>
                <a:srgbClr val="FF0000"/>
              </a:solidFill>
              <a:cs typeface="Arial"/>
            </a:endParaRPr>
          </a:p>
          <a:p>
            <a:endParaRPr lang="en-GB" sz="1500" dirty="0">
              <a:cs typeface="Arial" panose="020B0604020202020204"/>
            </a:endParaRPr>
          </a:p>
          <a:p>
            <a:r>
              <a:rPr lang="en-GB" sz="1500" b="1" dirty="0"/>
              <a:t>Programme office calendars (including term dates)</a:t>
            </a:r>
            <a:endParaRPr lang="en-GB" sz="1500" b="1" dirty="0">
              <a:cs typeface="Arial"/>
            </a:endParaRPr>
          </a:p>
          <a:p>
            <a:r>
              <a:rPr lang="en-GB" sz="1500" dirty="0"/>
              <a:t>Depending on which programmes you’re targeting as your audience, the relevant programme office(s) will have a calendar of key dates to bear in mind, including term dates . Email the programme office to check on </a:t>
            </a:r>
            <a:r>
              <a:rPr lang="en-GB" sz="1500" dirty="0">
                <a:hlinkClick r:id="rId3"/>
              </a:rPr>
              <a:t>degreeprogrammes@london.edu</a:t>
            </a:r>
            <a:r>
              <a:rPr lang="en-GB" sz="1500" dirty="0"/>
              <a:t> </a:t>
            </a:r>
            <a:endParaRPr lang="en-GB" sz="1500" dirty="0">
              <a:cs typeface="Arial"/>
            </a:endParaRPr>
          </a:p>
          <a:p>
            <a:endParaRPr lang="en-GB" sz="1500" dirty="0">
              <a:solidFill>
                <a:srgbClr val="001E61"/>
              </a:solidFill>
              <a:cs typeface="Arial"/>
            </a:endParaRPr>
          </a:p>
          <a:p>
            <a:r>
              <a:rPr lang="en-GB" sz="1500" dirty="0"/>
              <a:t>The space management team (</a:t>
            </a:r>
            <a:r>
              <a:rPr lang="en-GB" sz="1500" dirty="0">
                <a:hlinkClick r:id="rId4"/>
              </a:rPr>
              <a:t>space@london.edu</a:t>
            </a:r>
            <a:r>
              <a:rPr lang="en-GB" sz="1500" dirty="0"/>
              <a:t>) can also help you determine what is already taking place on campus. This includes exams and other extra-curricular or career centre activities. </a:t>
            </a:r>
            <a:endParaRPr lang="en-GB" sz="1500" dirty="0">
              <a:cs typeface="Arial"/>
            </a:endParaRPr>
          </a:p>
          <a:p>
            <a:endParaRPr lang="en-GB" sz="1500" dirty="0"/>
          </a:p>
          <a:p>
            <a:r>
              <a:rPr lang="en-GB" sz="1500" b="1" i="1" dirty="0"/>
              <a:t>Once you have decided on a date, make sure you publicise it as soon as possible</a:t>
            </a:r>
            <a:r>
              <a:rPr lang="en-GB" sz="1500" dirty="0"/>
              <a:t>. Create a date holder event on Campus Groups and populate it with more information later. The earlier you announce your date, the less likely other clubs will book dates on the same day! </a:t>
            </a:r>
            <a:r>
              <a:rPr lang="en-GB" sz="1500" b="1" dirty="0"/>
              <a:t>ONCE YOU START SELLING TICKETS DO NOT CHANGE YOUR EVENT! IF YOU WANT TO MAKE A SECOND TICKET DROP, CREATE A NEW EVENT OR TIER AND DO NOT EDIT CURRENT TICKETS.</a:t>
            </a:r>
            <a:endParaRPr lang="en-GB" sz="1500" b="1" dirty="0">
              <a:cs typeface="Arial"/>
            </a:endParaRPr>
          </a:p>
        </p:txBody>
      </p:sp>
    </p:spTree>
    <p:extLst>
      <p:ext uri="{BB962C8B-B14F-4D97-AF65-F5344CB8AC3E}">
        <p14:creationId xmlns:p14="http://schemas.microsoft.com/office/powerpoint/2010/main" val="3491724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10</a:t>
            </a:fld>
            <a:endParaRPr lang="en-US"/>
          </a:p>
        </p:txBody>
      </p:sp>
      <p:sp>
        <p:nvSpPr>
          <p:cNvPr id="4" name="Title 3"/>
          <p:cNvSpPr>
            <a:spLocks noGrp="1"/>
          </p:cNvSpPr>
          <p:nvPr>
            <p:ph type="title"/>
          </p:nvPr>
        </p:nvSpPr>
        <p:spPr/>
        <p:txBody>
          <a:bodyPr/>
          <a:lstStyle/>
          <a:p>
            <a:r>
              <a:rPr lang="en-GB" b="1"/>
              <a:t>Assemble your team</a:t>
            </a:r>
          </a:p>
        </p:txBody>
      </p:sp>
      <p:sp>
        <p:nvSpPr>
          <p:cNvPr id="7" name="Rectangle 6"/>
          <p:cNvSpPr/>
          <p:nvPr/>
        </p:nvSpPr>
        <p:spPr>
          <a:xfrm>
            <a:off x="437536" y="1247062"/>
            <a:ext cx="11316928" cy="4524315"/>
          </a:xfrm>
          <a:prstGeom prst="rect">
            <a:avLst/>
          </a:prstGeom>
        </p:spPr>
        <p:txBody>
          <a:bodyPr wrap="square" lIns="91440" tIns="45720" rIns="91440" bIns="45720" anchor="t">
            <a:spAutoFit/>
          </a:bodyPr>
          <a:lstStyle/>
          <a:p>
            <a:r>
              <a:rPr lang="en-GB" sz="1600"/>
              <a:t>A strong, cohesive and motivated team is essential to ensure the successful planning of an event. You will need to assemble a team of dedicated people that share your vision.</a:t>
            </a:r>
          </a:p>
          <a:p>
            <a:endParaRPr lang="en-GB" sz="1600"/>
          </a:p>
          <a:p>
            <a:r>
              <a:rPr lang="en-GB" sz="1600"/>
              <a:t>Previous clubs have recommended assigning the following roles:</a:t>
            </a:r>
            <a:endParaRPr lang="en-GB" sz="1600">
              <a:cs typeface="Arial"/>
            </a:endParaRPr>
          </a:p>
          <a:p>
            <a:endParaRPr lang="en-GB" sz="1600"/>
          </a:p>
          <a:p>
            <a:r>
              <a:rPr lang="en-GB" sz="1600"/>
              <a:t>•	</a:t>
            </a:r>
            <a:r>
              <a:rPr lang="en-GB" sz="1600" b="1"/>
              <a:t>Event lead</a:t>
            </a:r>
            <a:r>
              <a:rPr lang="en-GB" sz="1600"/>
              <a:t>: it is a good idea to have one main project manager. This allows one person to have oversight 	of everything and ensure nothing falls through the cracks</a:t>
            </a:r>
          </a:p>
          <a:p>
            <a:r>
              <a:rPr lang="en-GB" sz="1600"/>
              <a:t>•	</a:t>
            </a:r>
            <a:r>
              <a:rPr lang="en-GB" sz="1600" b="1"/>
              <a:t>Experience/Content lead</a:t>
            </a:r>
            <a:endParaRPr lang="en-GB" sz="1600" b="1">
              <a:cs typeface="Arial"/>
            </a:endParaRPr>
          </a:p>
          <a:p>
            <a:r>
              <a:rPr lang="en-GB" sz="1600"/>
              <a:t>•	</a:t>
            </a:r>
            <a:r>
              <a:rPr lang="en-GB" sz="1600" b="1"/>
              <a:t>Event production &amp; logistics lead </a:t>
            </a:r>
            <a:r>
              <a:rPr lang="en-GB" sz="1600"/>
              <a:t>to oversee venue, catering, logistics, and onsite management</a:t>
            </a:r>
            <a:endParaRPr lang="en-GB" sz="1600">
              <a:cs typeface="Arial"/>
            </a:endParaRPr>
          </a:p>
          <a:p>
            <a:r>
              <a:rPr lang="en-GB" sz="1600"/>
              <a:t>•	</a:t>
            </a:r>
            <a:r>
              <a:rPr lang="en-GB" sz="1600" b="1"/>
              <a:t>Marketing/communications and brand lead</a:t>
            </a:r>
            <a:r>
              <a:rPr lang="en-GB" sz="1600"/>
              <a:t> to look after all promotional activities, pre and post event comms 	and event collateral </a:t>
            </a:r>
            <a:endParaRPr lang="en-GB" sz="1600">
              <a:cs typeface="Arial"/>
            </a:endParaRPr>
          </a:p>
          <a:p>
            <a:r>
              <a:rPr lang="en-GB" sz="1600"/>
              <a:t>•	</a:t>
            </a:r>
            <a:r>
              <a:rPr lang="en-GB" sz="1600" b="1"/>
              <a:t>Content and Speaker lead </a:t>
            </a:r>
            <a:r>
              <a:rPr lang="en-GB" sz="1600"/>
              <a:t>in charge of programming, speakers’ outreach and briefing, as well as content 	outputs</a:t>
            </a:r>
            <a:endParaRPr lang="en-GB" sz="1600">
              <a:cs typeface="Arial"/>
            </a:endParaRPr>
          </a:p>
          <a:p>
            <a:r>
              <a:rPr lang="en-GB" sz="1600"/>
              <a:t>•	</a:t>
            </a:r>
            <a:r>
              <a:rPr lang="en-GB" sz="1600" b="1"/>
              <a:t>Sponsorship lead</a:t>
            </a:r>
            <a:endParaRPr lang="en-GB" sz="1600" b="1">
              <a:cs typeface="Arial"/>
            </a:endParaRPr>
          </a:p>
          <a:p>
            <a:endParaRPr lang="en-GB" sz="1600"/>
          </a:p>
          <a:p>
            <a:r>
              <a:rPr lang="en-GB" sz="1600"/>
              <a:t>Be sure of everyone’s roles in the lead up to the event and have a clear map of all stakeholders involved. On your project plan, allocate the tasks so that everyone knows exactly what they are doing. Have a clear approval process in place and run regular meetings with all stakeholders to share ideas and progress updates.</a:t>
            </a:r>
            <a:endParaRPr lang="en-GB" sz="1600">
              <a:cs typeface="Arial"/>
            </a:endParaRPr>
          </a:p>
        </p:txBody>
      </p:sp>
    </p:spTree>
    <p:extLst>
      <p:ext uri="{BB962C8B-B14F-4D97-AF65-F5344CB8AC3E}">
        <p14:creationId xmlns:p14="http://schemas.microsoft.com/office/powerpoint/2010/main" val="3893519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11</a:t>
            </a:fld>
            <a:endParaRPr lang="en-US"/>
          </a:p>
        </p:txBody>
      </p:sp>
      <p:sp>
        <p:nvSpPr>
          <p:cNvPr id="4" name="Title 3"/>
          <p:cNvSpPr>
            <a:spLocks noGrp="1"/>
          </p:cNvSpPr>
          <p:nvPr>
            <p:ph type="title"/>
          </p:nvPr>
        </p:nvSpPr>
        <p:spPr/>
        <p:txBody>
          <a:bodyPr/>
          <a:lstStyle/>
          <a:p>
            <a:r>
              <a:rPr lang="en-GB" b="1"/>
              <a:t>Audience &amp; programming</a:t>
            </a:r>
          </a:p>
        </p:txBody>
      </p:sp>
      <p:sp>
        <p:nvSpPr>
          <p:cNvPr id="7" name="Rectangle 6"/>
          <p:cNvSpPr/>
          <p:nvPr/>
        </p:nvSpPr>
        <p:spPr>
          <a:xfrm>
            <a:off x="363793" y="779414"/>
            <a:ext cx="11464413" cy="2554545"/>
          </a:xfrm>
          <a:prstGeom prst="rect">
            <a:avLst/>
          </a:prstGeom>
        </p:spPr>
        <p:txBody>
          <a:bodyPr wrap="square" lIns="91440" tIns="45720" rIns="91440" bIns="45720" anchor="t">
            <a:spAutoFit/>
          </a:bodyPr>
          <a:lstStyle/>
          <a:p>
            <a:r>
              <a:rPr lang="en-GB" sz="1600" b="1"/>
              <a:t>Decide on the target audience</a:t>
            </a:r>
          </a:p>
          <a:p>
            <a:r>
              <a:rPr lang="en-GB" sz="1600"/>
              <a:t>One of the biggest mistakes we see is organisers attempting to reach out to and attract everyone. These questions can help you with your decision making and planning:</a:t>
            </a:r>
            <a:endParaRPr lang="en-GB" sz="1600">
              <a:cs typeface="Arial"/>
            </a:endParaRPr>
          </a:p>
          <a:p>
            <a:endParaRPr lang="en-GB" sz="1600"/>
          </a:p>
          <a:p>
            <a:r>
              <a:rPr lang="en-GB" sz="1600"/>
              <a:t>•	Who do you want your attendees to be? Why?</a:t>
            </a:r>
            <a:endParaRPr lang="en-GB" sz="1600">
              <a:cs typeface="Arial"/>
            </a:endParaRPr>
          </a:p>
          <a:p>
            <a:r>
              <a:rPr lang="en-GB" sz="1600"/>
              <a:t>•	What are their most pressing issues, problems or desires?</a:t>
            </a:r>
            <a:endParaRPr lang="en-GB" sz="1600">
              <a:cs typeface="Arial"/>
            </a:endParaRPr>
          </a:p>
          <a:p>
            <a:r>
              <a:rPr lang="en-GB" sz="1600"/>
              <a:t>•	Where can you reach them? Where do they get their information?</a:t>
            </a:r>
            <a:endParaRPr lang="en-GB" sz="1600">
              <a:cs typeface="Arial"/>
            </a:endParaRPr>
          </a:p>
          <a:p>
            <a:r>
              <a:rPr lang="en-GB" sz="1600"/>
              <a:t>•	How will your event solve their problem?</a:t>
            </a:r>
            <a:endParaRPr lang="en-GB" sz="1600">
              <a:cs typeface="Arial"/>
            </a:endParaRPr>
          </a:p>
          <a:p>
            <a:endParaRPr lang="en-GB" sz="1600"/>
          </a:p>
          <a:p>
            <a:endParaRPr lang="en-GB" sz="1600"/>
          </a:p>
        </p:txBody>
      </p:sp>
    </p:spTree>
    <p:extLst>
      <p:ext uri="{BB962C8B-B14F-4D97-AF65-F5344CB8AC3E}">
        <p14:creationId xmlns:p14="http://schemas.microsoft.com/office/powerpoint/2010/main" val="3550151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97EA6E0-ACB3-C744-814F-68814E5220CF}" type="slidenum">
              <a:rPr lang="en-US" smtClean="0"/>
              <a:t>12</a:t>
            </a:fld>
            <a:endParaRPr lang="en-US"/>
          </a:p>
        </p:txBody>
      </p:sp>
      <p:sp>
        <p:nvSpPr>
          <p:cNvPr id="4" name="Title 3"/>
          <p:cNvSpPr>
            <a:spLocks noGrp="1"/>
          </p:cNvSpPr>
          <p:nvPr>
            <p:ph type="title"/>
          </p:nvPr>
        </p:nvSpPr>
        <p:spPr/>
        <p:txBody>
          <a:bodyPr/>
          <a:lstStyle/>
          <a:p>
            <a:r>
              <a:rPr lang="en-GB" b="1"/>
              <a:t>Audience &amp; programming</a:t>
            </a:r>
            <a:endParaRPr lang="en-GB"/>
          </a:p>
        </p:txBody>
      </p:sp>
      <p:sp>
        <p:nvSpPr>
          <p:cNvPr id="6" name="Rectangle 5"/>
          <p:cNvSpPr/>
          <p:nvPr/>
        </p:nvSpPr>
        <p:spPr>
          <a:xfrm>
            <a:off x="412955" y="687129"/>
            <a:ext cx="11513574" cy="5755422"/>
          </a:xfrm>
          <a:prstGeom prst="rect">
            <a:avLst/>
          </a:prstGeom>
        </p:spPr>
        <p:txBody>
          <a:bodyPr wrap="square" lIns="91440" tIns="45720" rIns="91440" bIns="45720" anchor="t">
            <a:spAutoFit/>
          </a:bodyPr>
          <a:lstStyle/>
          <a:p>
            <a:r>
              <a:rPr lang="en-GB" sz="1600" b="1"/>
              <a:t>Design the audience experience</a:t>
            </a:r>
          </a:p>
          <a:p>
            <a:r>
              <a:rPr lang="en-GB" sz="1600"/>
              <a:t>Once you have a clear understanding of your audience, here are some tips for how to design their experience:</a:t>
            </a:r>
          </a:p>
          <a:p>
            <a:endParaRPr lang="en-GB" sz="1600">
              <a:cs typeface="Arial"/>
            </a:endParaRPr>
          </a:p>
          <a:p>
            <a:r>
              <a:rPr lang="en-GB" sz="1600" b="1"/>
              <a:t>Pre-event </a:t>
            </a:r>
          </a:p>
          <a:p>
            <a:r>
              <a:rPr lang="en-GB" sz="1600"/>
              <a:t>•	Keep them engaged between the point of registration and the event</a:t>
            </a:r>
          </a:p>
          <a:p>
            <a:pPr marL="285750" indent="-285750">
              <a:buFont typeface="Arial" panose="020B0604020202020204" pitchFamily="34" charset="0"/>
              <a:buChar char="•"/>
            </a:pPr>
            <a:r>
              <a:rPr lang="en-GB" sz="1600"/>
              <a:t>	Engage them on social media. Get them talking and posting</a:t>
            </a:r>
          </a:p>
          <a:p>
            <a:r>
              <a:rPr lang="en-GB" sz="1600"/>
              <a:t>•	Send email updates with news about new confirmed speakers or highlight different elements of the event that 	they can look forward to </a:t>
            </a:r>
            <a:endParaRPr lang="en-GB" sz="1600">
              <a:cs typeface="Arial"/>
            </a:endParaRPr>
          </a:p>
          <a:p>
            <a:r>
              <a:rPr lang="en-GB" sz="1600"/>
              <a:t>•	Send them pre-event reminders (one week and one day out) so that they can easily find the info in their inbox</a:t>
            </a:r>
          </a:p>
          <a:p>
            <a:endParaRPr lang="en-GB" sz="1600"/>
          </a:p>
          <a:p>
            <a:r>
              <a:rPr lang="en-GB" sz="1600" b="1"/>
              <a:t>During the event</a:t>
            </a:r>
          </a:p>
          <a:p>
            <a:r>
              <a:rPr lang="en-GB" sz="1600"/>
              <a:t>•	Carefully think about foot traffic and event flow</a:t>
            </a:r>
          </a:p>
          <a:p>
            <a:r>
              <a:rPr lang="en-GB" sz="1600"/>
              <a:t>•	Make registration friendly and easy</a:t>
            </a:r>
          </a:p>
          <a:p>
            <a:r>
              <a:rPr lang="en-GB" sz="1600"/>
              <a:t>•	Provide name badges to facilitate networking if this is important to your audience</a:t>
            </a:r>
          </a:p>
          <a:p>
            <a:r>
              <a:rPr lang="en-GB" sz="1600"/>
              <a:t>•	Everybody loves a goody bag</a:t>
            </a:r>
          </a:p>
          <a:p>
            <a:r>
              <a:rPr lang="en-GB" sz="1600"/>
              <a:t>• Provide plenty of refreshments</a:t>
            </a:r>
          </a:p>
          <a:p>
            <a:r>
              <a:rPr lang="en-GB" sz="1600"/>
              <a:t>•	Allow time for networking and interactions</a:t>
            </a:r>
          </a:p>
          <a:p>
            <a:r>
              <a:rPr lang="en-GB" sz="1600"/>
              <a:t>•	Plan for breaks so that your audience can engage with a clear mind</a:t>
            </a:r>
          </a:p>
          <a:p>
            <a:endParaRPr lang="en-GB" sz="1600"/>
          </a:p>
          <a:p>
            <a:r>
              <a:rPr lang="en-GB" sz="1600" b="1"/>
              <a:t>Post-event</a:t>
            </a:r>
          </a:p>
          <a:p>
            <a:r>
              <a:rPr lang="en-GB" sz="1600"/>
              <a:t>•	Send a follow up email and feedback form immediately after the event </a:t>
            </a:r>
          </a:p>
          <a:p>
            <a:r>
              <a:rPr lang="en-GB" sz="1600"/>
              <a:t>•	Let them know about other upcoming events that they may be interested in, or include save the date for your next 	event</a:t>
            </a:r>
          </a:p>
        </p:txBody>
      </p:sp>
    </p:spTree>
    <p:extLst>
      <p:ext uri="{BB962C8B-B14F-4D97-AF65-F5344CB8AC3E}">
        <p14:creationId xmlns:p14="http://schemas.microsoft.com/office/powerpoint/2010/main" val="3451587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13</a:t>
            </a:fld>
            <a:endParaRPr lang="en-US"/>
          </a:p>
        </p:txBody>
      </p:sp>
      <p:sp>
        <p:nvSpPr>
          <p:cNvPr id="4" name="Title 3"/>
          <p:cNvSpPr>
            <a:spLocks noGrp="1"/>
          </p:cNvSpPr>
          <p:nvPr>
            <p:ph type="title"/>
          </p:nvPr>
        </p:nvSpPr>
        <p:spPr/>
        <p:txBody>
          <a:bodyPr/>
          <a:lstStyle/>
          <a:p>
            <a:r>
              <a:rPr lang="en-GB" b="1"/>
              <a:t>Audience &amp; programming</a:t>
            </a:r>
            <a:endParaRPr lang="en-GB"/>
          </a:p>
        </p:txBody>
      </p:sp>
      <p:sp>
        <p:nvSpPr>
          <p:cNvPr id="6" name="Rectangle 5"/>
          <p:cNvSpPr/>
          <p:nvPr/>
        </p:nvSpPr>
        <p:spPr>
          <a:xfrm>
            <a:off x="501445" y="779414"/>
            <a:ext cx="11326761" cy="5201424"/>
          </a:xfrm>
          <a:prstGeom prst="rect">
            <a:avLst/>
          </a:prstGeom>
        </p:spPr>
        <p:txBody>
          <a:bodyPr wrap="square" lIns="91440" tIns="45720" rIns="91440" bIns="45720" anchor="t">
            <a:spAutoFit/>
          </a:bodyPr>
          <a:lstStyle/>
          <a:p>
            <a:pPr fontAlgn="base">
              <a:lnSpc>
                <a:spcPct val="120000"/>
              </a:lnSpc>
              <a:spcAft>
                <a:spcPts val="0"/>
              </a:spcAft>
            </a:pPr>
            <a:r>
              <a:rPr lang="en-GB" b="1">
                <a:latin typeface="Arial"/>
                <a:ea typeface="Times New Roman" panose="02020603050405020304" pitchFamily="18" charset="0"/>
                <a:cs typeface="Arial"/>
              </a:rPr>
              <a:t>Create your programme</a:t>
            </a:r>
            <a:endParaRPr lang="en-GB" sz="1100">
              <a:latin typeface="Arial"/>
              <a:ea typeface="Arial" panose="020B0604020202020204" pitchFamily="34" charset="0"/>
              <a:cs typeface="Arial"/>
            </a:endParaRPr>
          </a:p>
          <a:p>
            <a:pPr marL="342900" lvl="0" indent="-342900" fontAlgn="base">
              <a:lnSpc>
                <a:spcPct val="120000"/>
              </a:lnSpc>
              <a:spcAft>
                <a:spcPts val="0"/>
              </a:spcAft>
              <a:buSzPts val="1000"/>
              <a:buFont typeface="Symbol" panose="05050102010706020507" pitchFamily="18" charset="2"/>
              <a:buChar char=""/>
              <a:tabLst>
                <a:tab pos="457200" algn="l"/>
              </a:tabLst>
            </a:pPr>
            <a:endParaRPr lang="en-GB" sz="1600">
              <a:latin typeface="Arial" panose="020B0604020202020204" pitchFamily="34" charset="0"/>
              <a:ea typeface="Times New Roman" panose="02020603050405020304" pitchFamily="18" charset="0"/>
              <a:cs typeface="Arial" panose="020B0604020202020204" pitchFamily="34" charset="0"/>
            </a:endParaRPr>
          </a:p>
          <a:p>
            <a:pPr marL="342900" lvl="0" indent="-342900" fontAlgn="base">
              <a:lnSpc>
                <a:spcPct val="120000"/>
              </a:lnSpc>
              <a:spcAft>
                <a:spcPts val="0"/>
              </a:spcAft>
              <a:buSzPts val="1000"/>
              <a:buFont typeface="Symbol" panose="05050102010706020507" pitchFamily="18" charset="2"/>
              <a:buChar char=""/>
              <a:tabLst>
                <a:tab pos="457200" algn="l"/>
              </a:tabLst>
            </a:pPr>
            <a:r>
              <a:rPr lang="en-GB" sz="1600" b="1">
                <a:latin typeface="Arial"/>
                <a:ea typeface="Times New Roman" panose="02020603050405020304" pitchFamily="18" charset="0"/>
                <a:cs typeface="Arial"/>
              </a:rPr>
              <a:t>Start strong </a:t>
            </a:r>
            <a:r>
              <a:rPr lang="en-GB" sz="1600">
                <a:latin typeface="Arial"/>
                <a:ea typeface="Times New Roman" panose="02020603050405020304" pitchFamily="18" charset="0"/>
                <a:cs typeface="Arial"/>
              </a:rPr>
              <a:t>- Start your event with energy and clear intentions</a:t>
            </a:r>
            <a:endParaRPr lang="en-GB" sz="1100">
              <a:latin typeface="Arial"/>
              <a:ea typeface="Arial" panose="020B0604020202020204" pitchFamily="34" charset="0"/>
              <a:cs typeface="Arial"/>
            </a:endParaRPr>
          </a:p>
          <a:p>
            <a:pPr marL="342900" lvl="0" indent="-342900" fontAlgn="base">
              <a:lnSpc>
                <a:spcPct val="120000"/>
              </a:lnSpc>
              <a:spcAft>
                <a:spcPts val="0"/>
              </a:spcAft>
              <a:buSzPts val="1000"/>
              <a:buFont typeface="Symbol" panose="05050102010706020507" pitchFamily="18" charset="2"/>
              <a:buChar char=""/>
              <a:tabLst>
                <a:tab pos="457200" algn="l"/>
              </a:tabLst>
            </a:pPr>
            <a:r>
              <a:rPr lang="en-GB" sz="1600">
                <a:latin typeface="Arial"/>
                <a:ea typeface="Times New Roman" panose="02020603050405020304" pitchFamily="18" charset="0"/>
                <a:cs typeface="Arial"/>
              </a:rPr>
              <a:t>Give it </a:t>
            </a:r>
            <a:r>
              <a:rPr lang="en-GB" sz="1600" b="1">
                <a:latin typeface="Arial"/>
                <a:ea typeface="Times New Roman" panose="02020603050405020304" pitchFamily="18" charset="0"/>
                <a:cs typeface="Arial"/>
              </a:rPr>
              <a:t>flow</a:t>
            </a:r>
            <a:r>
              <a:rPr lang="en-GB" sz="1600">
                <a:latin typeface="Arial"/>
                <a:ea typeface="Times New Roman" panose="02020603050405020304" pitchFamily="18" charset="0"/>
                <a:cs typeface="Arial"/>
              </a:rPr>
              <a:t> and </a:t>
            </a:r>
            <a:r>
              <a:rPr lang="en-GB" sz="1600" b="1">
                <a:latin typeface="Arial"/>
                <a:ea typeface="Times New Roman" panose="02020603050405020304" pitchFamily="18" charset="0"/>
                <a:cs typeface="Arial"/>
              </a:rPr>
              <a:t>narrative </a:t>
            </a:r>
            <a:r>
              <a:rPr lang="en-GB" sz="1600">
                <a:latin typeface="Arial"/>
                <a:ea typeface="Times New Roman" panose="02020603050405020304" pitchFamily="18" charset="0"/>
                <a:cs typeface="Arial"/>
              </a:rPr>
              <a:t>- Consider the content throughout your event. Is there a red thread? Can you help your audience by making the narrative and themes clear?</a:t>
            </a:r>
            <a:endParaRPr lang="en-GB" sz="1100">
              <a:latin typeface="Arial"/>
              <a:ea typeface="Arial" panose="020B0604020202020204" pitchFamily="34" charset="0"/>
              <a:cs typeface="Arial"/>
            </a:endParaRPr>
          </a:p>
          <a:p>
            <a:pPr marL="342900" lvl="0" indent="-342900" fontAlgn="base">
              <a:spcAft>
                <a:spcPts val="0"/>
              </a:spcAft>
              <a:buSzPts val="1000"/>
              <a:buFont typeface="Symbol" panose="05050102010706020507" pitchFamily="18" charset="2"/>
              <a:buChar char=""/>
              <a:tabLst>
                <a:tab pos="457200" algn="l"/>
              </a:tabLst>
            </a:pPr>
            <a:r>
              <a:rPr lang="en-GB" sz="1600" b="1">
                <a:latin typeface="Arial"/>
                <a:ea typeface="Times New Roman" panose="02020603050405020304" pitchFamily="18" charset="0"/>
                <a:cs typeface="Arial"/>
              </a:rPr>
              <a:t>Mix it up </a:t>
            </a:r>
            <a:r>
              <a:rPr lang="en-GB" sz="1600">
                <a:latin typeface="Arial"/>
                <a:ea typeface="Times New Roman" panose="02020603050405020304" pitchFamily="18" charset="0"/>
                <a:cs typeface="Arial"/>
              </a:rPr>
              <a:t>- Experiment to break up a longer programme (shorter talks, break-out sessions, interactive activities).</a:t>
            </a:r>
            <a:r>
              <a:rPr lang="en-GB" sz="1600">
                <a:latin typeface="Arial"/>
                <a:ea typeface="MS Gothic"/>
                <a:cs typeface="Arial"/>
              </a:rPr>
              <a:t> Ensure you include enough breaks for people to network</a:t>
            </a:r>
          </a:p>
          <a:p>
            <a:pPr marL="342900" lvl="0" indent="-342900" fontAlgn="base">
              <a:spcAft>
                <a:spcPts val="0"/>
              </a:spcAft>
              <a:buSzPts val="1000"/>
              <a:buFont typeface="Symbol" panose="05050102010706020507" pitchFamily="18" charset="2"/>
              <a:buChar char=""/>
              <a:tabLst>
                <a:tab pos="457200" algn="l"/>
              </a:tabLst>
            </a:pPr>
            <a:r>
              <a:rPr lang="en-GB" sz="1600">
                <a:latin typeface="Arial"/>
                <a:ea typeface="MS Gothic"/>
                <a:cs typeface="Arial"/>
              </a:rPr>
              <a:t>You don’t want your guests to be ‘talked at’ – </a:t>
            </a:r>
            <a:r>
              <a:rPr lang="en-GB" sz="1600" b="1">
                <a:latin typeface="Arial"/>
                <a:ea typeface="MS Gothic"/>
                <a:cs typeface="Arial"/>
              </a:rPr>
              <a:t>short/interactive sessions</a:t>
            </a:r>
            <a:r>
              <a:rPr lang="en-GB" sz="1600">
                <a:latin typeface="Arial"/>
                <a:ea typeface="MS Gothic"/>
                <a:cs typeface="Arial"/>
              </a:rPr>
              <a:t> are more engaging</a:t>
            </a:r>
          </a:p>
          <a:p>
            <a:pPr marL="342900" lvl="0" indent="-342900" fontAlgn="base">
              <a:spcAft>
                <a:spcPts val="0"/>
              </a:spcAft>
              <a:buSzPts val="1000"/>
              <a:buFont typeface="Symbol" panose="05050102010706020507" pitchFamily="18" charset="2"/>
              <a:buChar char=""/>
              <a:tabLst>
                <a:tab pos="457200" algn="l"/>
              </a:tabLst>
            </a:pPr>
            <a:r>
              <a:rPr lang="en-GB" sz="1600">
                <a:latin typeface="Arial"/>
                <a:ea typeface="MS Gothic"/>
                <a:cs typeface="Arial"/>
              </a:rPr>
              <a:t>After lunch is known as the ‘</a:t>
            </a:r>
            <a:r>
              <a:rPr lang="en-GB" sz="1600" b="1">
                <a:latin typeface="Arial"/>
                <a:ea typeface="MS Gothic"/>
                <a:cs typeface="Arial"/>
              </a:rPr>
              <a:t>graveyard slot</a:t>
            </a:r>
            <a:r>
              <a:rPr lang="en-GB" sz="1600">
                <a:latin typeface="Arial"/>
                <a:ea typeface="MS Gothic"/>
                <a:cs typeface="Arial"/>
              </a:rPr>
              <a:t>’ for speakers. Ensure the speaker you have presenting after lunch is energetic and engaging to reignite their interest post-food</a:t>
            </a:r>
          </a:p>
          <a:p>
            <a:pPr marL="342900" lvl="0" indent="-342900" fontAlgn="base">
              <a:lnSpc>
                <a:spcPct val="120000"/>
              </a:lnSpc>
              <a:spcAft>
                <a:spcPts val="0"/>
              </a:spcAft>
              <a:buSzPts val="1000"/>
              <a:buFont typeface="Symbol" panose="05050102010706020507" pitchFamily="18" charset="2"/>
              <a:buChar char=""/>
              <a:tabLst>
                <a:tab pos="457200" algn="l"/>
              </a:tabLst>
            </a:pPr>
            <a:r>
              <a:rPr lang="en-GB" sz="1600">
                <a:latin typeface="Arial"/>
                <a:ea typeface="Times New Roman" panose="02020603050405020304" pitchFamily="18" charset="0"/>
                <a:cs typeface="Arial"/>
              </a:rPr>
              <a:t>If the event is similar to one you have run in the past, refer to </a:t>
            </a:r>
            <a:r>
              <a:rPr lang="en-GB" sz="1600" b="1">
                <a:latin typeface="Arial"/>
                <a:ea typeface="Times New Roman" panose="02020603050405020304" pitchFamily="18" charset="0"/>
                <a:cs typeface="Arial"/>
              </a:rPr>
              <a:t>post-event feedback </a:t>
            </a:r>
            <a:r>
              <a:rPr lang="en-GB" sz="1600">
                <a:latin typeface="Arial"/>
                <a:ea typeface="Times New Roman" panose="02020603050405020304" pitchFamily="18" charset="0"/>
                <a:cs typeface="Arial"/>
              </a:rPr>
              <a:t>to identify any improvements that can be made from the perspective of the attendees</a:t>
            </a:r>
            <a:endParaRPr lang="en-GB" sz="1100">
              <a:latin typeface="Arial"/>
              <a:ea typeface="Arial" panose="020B0604020202020204" pitchFamily="34" charset="0"/>
              <a:cs typeface="Arial"/>
            </a:endParaRPr>
          </a:p>
          <a:p>
            <a:pPr marL="342900" lvl="0" indent="-342900" fontAlgn="base">
              <a:lnSpc>
                <a:spcPct val="120000"/>
              </a:lnSpc>
              <a:spcAft>
                <a:spcPts val="0"/>
              </a:spcAft>
              <a:buSzPts val="1000"/>
              <a:buFont typeface="Symbol" panose="05050102010706020507" pitchFamily="18" charset="2"/>
              <a:buChar char=""/>
              <a:tabLst>
                <a:tab pos="457200" algn="l"/>
              </a:tabLst>
            </a:pPr>
            <a:r>
              <a:rPr lang="en-GB" sz="1600">
                <a:latin typeface="Arial"/>
                <a:ea typeface="Times New Roman" panose="02020603050405020304" pitchFamily="18" charset="0"/>
                <a:cs typeface="Arial"/>
              </a:rPr>
              <a:t>What are the </a:t>
            </a:r>
            <a:r>
              <a:rPr lang="en-GB" sz="1600" b="1">
                <a:latin typeface="Arial"/>
                <a:ea typeface="Times New Roman" panose="02020603050405020304" pitchFamily="18" charset="0"/>
                <a:cs typeface="Arial"/>
              </a:rPr>
              <a:t>key takeaways </a:t>
            </a:r>
            <a:r>
              <a:rPr lang="en-GB" sz="1600">
                <a:latin typeface="Arial"/>
                <a:ea typeface="Times New Roman" panose="02020603050405020304" pitchFamily="18" charset="0"/>
                <a:cs typeface="Arial"/>
              </a:rPr>
              <a:t>from the sessions? Practical advice that can be applied in their everyday lives is very important</a:t>
            </a:r>
            <a:endParaRPr lang="en-GB" sz="1100">
              <a:latin typeface="Arial"/>
              <a:ea typeface="Arial" panose="020B0604020202020204" pitchFamily="34" charset="0"/>
              <a:cs typeface="Arial"/>
            </a:endParaRPr>
          </a:p>
          <a:p>
            <a:pPr marL="342900" lvl="0" indent="-342900" fontAlgn="base">
              <a:lnSpc>
                <a:spcPct val="120000"/>
              </a:lnSpc>
              <a:spcAft>
                <a:spcPts val="0"/>
              </a:spcAft>
              <a:buSzPts val="1000"/>
              <a:buFont typeface="Symbol" panose="05050102010706020507" pitchFamily="18" charset="2"/>
              <a:buChar char=""/>
              <a:tabLst>
                <a:tab pos="457200" algn="l"/>
              </a:tabLst>
            </a:pPr>
            <a:r>
              <a:rPr lang="en-GB" sz="1600">
                <a:latin typeface="Arial"/>
                <a:ea typeface="Times New Roman" panose="02020603050405020304" pitchFamily="18" charset="0"/>
                <a:cs typeface="Arial"/>
              </a:rPr>
              <a:t>How can you </a:t>
            </a:r>
            <a:r>
              <a:rPr lang="en-GB" sz="1600" b="1">
                <a:latin typeface="Arial"/>
                <a:ea typeface="Times New Roman" panose="02020603050405020304" pitchFamily="18" charset="0"/>
                <a:cs typeface="Arial"/>
              </a:rPr>
              <a:t>engage with your audience </a:t>
            </a:r>
            <a:r>
              <a:rPr lang="en-GB" sz="1600">
                <a:latin typeface="Arial"/>
                <a:ea typeface="Times New Roman" panose="02020603050405020304" pitchFamily="18" charset="0"/>
                <a:cs typeface="Arial"/>
              </a:rPr>
              <a:t>to keep their attention? Examples can include Sli.do polls, breakout sessions, group work etc.</a:t>
            </a:r>
            <a:endParaRPr lang="en-GB" sz="1100">
              <a:latin typeface="Arial"/>
              <a:ea typeface="Arial" panose="020B0604020202020204" pitchFamily="34" charset="0"/>
              <a:cs typeface="Arial"/>
            </a:endParaRPr>
          </a:p>
          <a:p>
            <a:pPr marL="342900" lvl="0" indent="-342900" fontAlgn="base">
              <a:lnSpc>
                <a:spcPct val="120000"/>
              </a:lnSpc>
              <a:spcAft>
                <a:spcPts val="0"/>
              </a:spcAft>
              <a:buSzPts val="1000"/>
              <a:buFont typeface="Symbol" panose="05050102010706020507" pitchFamily="18" charset="2"/>
              <a:buChar char=""/>
              <a:tabLst>
                <a:tab pos="457200" algn="l"/>
              </a:tabLst>
            </a:pPr>
            <a:r>
              <a:rPr lang="en-GB" sz="1600">
                <a:latin typeface="Arial"/>
                <a:ea typeface="Times New Roman" panose="02020603050405020304" pitchFamily="18" charset="0"/>
                <a:cs typeface="Arial"/>
              </a:rPr>
              <a:t>Embrace </a:t>
            </a:r>
            <a:r>
              <a:rPr lang="en-GB" sz="1600" b="1">
                <a:latin typeface="Arial"/>
                <a:ea typeface="Times New Roman" panose="02020603050405020304" pitchFamily="18" charset="0"/>
                <a:cs typeface="Arial"/>
              </a:rPr>
              <a:t>Q&amp;A sessions</a:t>
            </a:r>
            <a:r>
              <a:rPr lang="en-GB" sz="1600">
                <a:latin typeface="Arial"/>
                <a:ea typeface="Times New Roman" panose="02020603050405020304" pitchFamily="18" charset="0"/>
                <a:cs typeface="Arial"/>
              </a:rPr>
              <a:t>! This allows the audience to get involved. Some may share their experiences and ask for advice. They usually lead to interesting discussions</a:t>
            </a:r>
            <a:endParaRPr lang="en-GB" sz="1100">
              <a:effectLst/>
              <a:latin typeface="Arial"/>
              <a:ea typeface="Arial" panose="020B0604020202020204" pitchFamily="34" charset="0"/>
              <a:cs typeface="Arial"/>
            </a:endParaRPr>
          </a:p>
        </p:txBody>
      </p:sp>
    </p:spTree>
    <p:extLst>
      <p:ext uri="{BB962C8B-B14F-4D97-AF65-F5344CB8AC3E}">
        <p14:creationId xmlns:p14="http://schemas.microsoft.com/office/powerpoint/2010/main" val="2699053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14</a:t>
            </a:fld>
            <a:endParaRPr lang="en-US"/>
          </a:p>
        </p:txBody>
      </p:sp>
      <p:sp>
        <p:nvSpPr>
          <p:cNvPr id="4" name="Title 3"/>
          <p:cNvSpPr>
            <a:spLocks noGrp="1"/>
          </p:cNvSpPr>
          <p:nvPr>
            <p:ph type="title"/>
          </p:nvPr>
        </p:nvSpPr>
        <p:spPr/>
        <p:txBody>
          <a:bodyPr/>
          <a:lstStyle/>
          <a:p>
            <a:r>
              <a:rPr lang="en-GB" b="1"/>
              <a:t>Audience &amp; programming</a:t>
            </a:r>
            <a:endParaRPr lang="en-GB"/>
          </a:p>
        </p:txBody>
      </p:sp>
      <p:sp>
        <p:nvSpPr>
          <p:cNvPr id="7" name="Rectangle 6"/>
          <p:cNvSpPr/>
          <p:nvPr/>
        </p:nvSpPr>
        <p:spPr>
          <a:xfrm>
            <a:off x="530943" y="1305342"/>
            <a:ext cx="11139947" cy="3970318"/>
          </a:xfrm>
          <a:prstGeom prst="rect">
            <a:avLst/>
          </a:prstGeom>
        </p:spPr>
        <p:txBody>
          <a:bodyPr wrap="square">
            <a:spAutoFit/>
          </a:bodyPr>
          <a:lstStyle/>
          <a:p>
            <a:r>
              <a:rPr lang="en-GB" b="1"/>
              <a:t>Assign a host / moderator / MC</a:t>
            </a:r>
          </a:p>
          <a:p>
            <a:endParaRPr lang="en-GB" b="1"/>
          </a:p>
          <a:p>
            <a:r>
              <a:rPr lang="en-GB"/>
              <a:t>Having a fantastic event facilitator or Master of Ceremonies (MC) can greatly raise the quality of your event. Their role is to make sure that the programme runs smoothly. </a:t>
            </a:r>
          </a:p>
          <a:p>
            <a:endParaRPr lang="en-GB"/>
          </a:p>
          <a:p>
            <a:r>
              <a:rPr lang="en-GB"/>
              <a:t>Their tasks:</a:t>
            </a:r>
          </a:p>
          <a:p>
            <a:r>
              <a:rPr lang="en-GB"/>
              <a:t>•	Welcome the audience and set the tone for the event</a:t>
            </a:r>
          </a:p>
          <a:p>
            <a:pPr marL="285750" indent="-285750">
              <a:buFont typeface="Arial" panose="020B0604020202020204" pitchFamily="34" charset="0"/>
              <a:buChar char="•"/>
            </a:pPr>
            <a:r>
              <a:rPr lang="en-GB"/>
              <a:t>	Make any housekeeping announcements</a:t>
            </a:r>
          </a:p>
          <a:p>
            <a:pPr marL="285750" indent="-285750">
              <a:buFont typeface="Arial" panose="020B0604020202020204" pitchFamily="34" charset="0"/>
              <a:buChar char="•"/>
            </a:pPr>
            <a:r>
              <a:rPr lang="en-GB"/>
              <a:t>	Introduce speakers</a:t>
            </a:r>
          </a:p>
          <a:p>
            <a:r>
              <a:rPr lang="en-GB"/>
              <a:t>•	Thank your sponsors</a:t>
            </a:r>
          </a:p>
          <a:p>
            <a:r>
              <a:rPr lang="en-GB"/>
              <a:t>•	Keep the programme on track and on time</a:t>
            </a:r>
          </a:p>
          <a:p>
            <a:r>
              <a:rPr lang="en-GB"/>
              <a:t>•	Respond to technical difficulties and delays</a:t>
            </a:r>
          </a:p>
          <a:p>
            <a:r>
              <a:rPr lang="en-GB"/>
              <a:t>•	Connect the dots throughout the day</a:t>
            </a:r>
          </a:p>
          <a:p>
            <a:r>
              <a:rPr lang="en-GB"/>
              <a:t>•	Encourage audience engagement and participation</a:t>
            </a:r>
          </a:p>
        </p:txBody>
      </p:sp>
    </p:spTree>
    <p:extLst>
      <p:ext uri="{BB962C8B-B14F-4D97-AF65-F5344CB8AC3E}">
        <p14:creationId xmlns:p14="http://schemas.microsoft.com/office/powerpoint/2010/main" val="2216391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2B2D30-1DA7-4A43-9507-E3C2EDE6BF35}"/>
              </a:ext>
            </a:extLst>
          </p:cNvPr>
          <p:cNvSpPr>
            <a:spLocks noGrp="1"/>
          </p:cNvSpPr>
          <p:nvPr>
            <p:ph type="body" sz="quarter" idx="11"/>
          </p:nvPr>
        </p:nvSpPr>
        <p:spPr/>
        <p:txBody>
          <a:bodyPr/>
          <a:lstStyle/>
          <a:p>
            <a:r>
              <a:rPr lang="en-GB"/>
              <a:t>Fundraising &amp; Sponsorship</a:t>
            </a:r>
            <a:endParaRPr lang="en-US"/>
          </a:p>
        </p:txBody>
      </p:sp>
      <p:sp>
        <p:nvSpPr>
          <p:cNvPr id="3" name="Text Placeholder 2">
            <a:extLst>
              <a:ext uri="{FF2B5EF4-FFF2-40B4-BE49-F238E27FC236}">
                <a16:creationId xmlns:a16="http://schemas.microsoft.com/office/drawing/2014/main" id="{F276C225-1940-2346-BA5A-192226BF693F}"/>
              </a:ext>
            </a:extLst>
          </p:cNvPr>
          <p:cNvSpPr>
            <a:spLocks noGrp="1"/>
          </p:cNvSpPr>
          <p:nvPr>
            <p:ph type="body" sz="quarter" idx="12"/>
          </p:nvPr>
        </p:nvSpPr>
        <p:spPr/>
        <p:txBody>
          <a:bodyPr>
            <a:normAutofit/>
          </a:bodyPr>
          <a:lstStyle/>
          <a:p>
            <a:endParaRPr lang="en-US"/>
          </a:p>
        </p:txBody>
      </p:sp>
    </p:spTree>
    <p:extLst>
      <p:ext uri="{BB962C8B-B14F-4D97-AF65-F5344CB8AC3E}">
        <p14:creationId xmlns:p14="http://schemas.microsoft.com/office/powerpoint/2010/main" val="130964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16</a:t>
            </a:fld>
            <a:endParaRPr lang="en-US"/>
          </a:p>
        </p:txBody>
      </p:sp>
      <p:sp>
        <p:nvSpPr>
          <p:cNvPr id="4" name="Title 3"/>
          <p:cNvSpPr>
            <a:spLocks noGrp="1"/>
          </p:cNvSpPr>
          <p:nvPr>
            <p:ph type="title"/>
          </p:nvPr>
        </p:nvSpPr>
        <p:spPr/>
        <p:txBody>
          <a:bodyPr/>
          <a:lstStyle/>
          <a:p>
            <a:r>
              <a:rPr lang="en-GB" b="1"/>
              <a:t>Fundraising and Sponsorship</a:t>
            </a:r>
          </a:p>
        </p:txBody>
      </p:sp>
      <p:sp>
        <p:nvSpPr>
          <p:cNvPr id="8" name="Rectangle 7"/>
          <p:cNvSpPr/>
          <p:nvPr/>
        </p:nvSpPr>
        <p:spPr>
          <a:xfrm>
            <a:off x="280219" y="556683"/>
            <a:ext cx="11631561" cy="6124754"/>
          </a:xfrm>
          <a:prstGeom prst="rect">
            <a:avLst/>
          </a:prstGeom>
        </p:spPr>
        <p:txBody>
          <a:bodyPr wrap="square" lIns="91440" tIns="45720" rIns="91440" bIns="45720" anchor="t">
            <a:spAutoFit/>
          </a:bodyPr>
          <a:lstStyle/>
          <a:p>
            <a:r>
              <a:rPr lang="en-GB" sz="1400"/>
              <a:t>There are three common ways in which a club can raise funds:</a:t>
            </a:r>
            <a:endParaRPr lang="en-GB" sz="1400">
              <a:cs typeface="Arial"/>
            </a:endParaRPr>
          </a:p>
          <a:p>
            <a:r>
              <a:rPr lang="en-GB" sz="1400"/>
              <a:t>1	Coin Vote - The SA allocates money to clubs based on the number of "coins" that a club collects in the </a:t>
            </a:r>
            <a:r>
              <a:rPr lang="en-GB" sz="1400" err="1"/>
              <a:t>schoolwide</a:t>
            </a:r>
            <a:r>
              <a:rPr lang="en-GB" sz="1400"/>
              <a:t> vote</a:t>
            </a:r>
            <a:endParaRPr lang="en-GB" sz="1400">
              <a:cs typeface="Arial"/>
            </a:endParaRPr>
          </a:p>
          <a:p>
            <a:r>
              <a:rPr lang="en-GB" sz="1400"/>
              <a:t>2	Ticket sales / Subscription - Clubs can sell tickets or collect subscription fees to cover event fees or to support club activities</a:t>
            </a:r>
            <a:endParaRPr lang="en-GB" sz="1400">
              <a:cs typeface="Arial"/>
            </a:endParaRPr>
          </a:p>
          <a:p>
            <a:r>
              <a:rPr lang="en-GB" sz="1400"/>
              <a:t>3	Sponsorship - Connect with organisations who will contribute to the club or event</a:t>
            </a:r>
            <a:endParaRPr lang="en-GB" sz="1400">
              <a:cs typeface="Arial"/>
            </a:endParaRPr>
          </a:p>
          <a:p>
            <a:endParaRPr lang="en-GB" sz="1400"/>
          </a:p>
          <a:p>
            <a:r>
              <a:rPr lang="en-GB" sz="1400" b="1"/>
              <a:t>Sponsorship tips</a:t>
            </a:r>
            <a:endParaRPr lang="en-GB" sz="1400" b="1">
              <a:cs typeface="Arial"/>
            </a:endParaRPr>
          </a:p>
          <a:p>
            <a:r>
              <a:rPr lang="en-GB" sz="1400"/>
              <a:t>Have someone in your team dedicated to finding sponsors for an event, or your club for the whole year. A Sponsorship Lead thinks of the longer term goals of your club and builds strategic partnerships with interested companies.</a:t>
            </a:r>
            <a:endParaRPr lang="en-GB" sz="1400">
              <a:cs typeface="Arial"/>
            </a:endParaRPr>
          </a:p>
          <a:p>
            <a:endParaRPr lang="en-GB" sz="1400">
              <a:cs typeface="Arial"/>
            </a:endParaRPr>
          </a:p>
          <a:p>
            <a:r>
              <a:rPr lang="en-GB" sz="1400"/>
              <a:t>Tips:</a:t>
            </a:r>
            <a:endParaRPr lang="en-GB" sz="1400">
              <a:cs typeface="Arial"/>
            </a:endParaRPr>
          </a:p>
          <a:p>
            <a:r>
              <a:rPr lang="en-GB" sz="1400"/>
              <a:t>1	</a:t>
            </a:r>
            <a:r>
              <a:rPr lang="en-GB" sz="1400" b="1"/>
              <a:t>Start early</a:t>
            </a:r>
            <a:r>
              <a:rPr lang="en-GB" sz="1400"/>
              <a:t> - There are many companies willing to sponsor LBS clubs, but they will only sponsor some ‒ so the earlier you get there, 	the better!</a:t>
            </a:r>
            <a:endParaRPr lang="en-GB">
              <a:cs typeface="Arial"/>
            </a:endParaRPr>
          </a:p>
          <a:p>
            <a:r>
              <a:rPr lang="en-GB" sz="1400"/>
              <a:t>2	</a:t>
            </a:r>
            <a:r>
              <a:rPr lang="en-GB" sz="1400" b="1"/>
              <a:t>Set objectives</a:t>
            </a:r>
            <a:r>
              <a:rPr lang="en-GB" sz="1400"/>
              <a:t> - Think about your objectives before reaching out to event speakers.  A lead sponsor might ask for the keynote speaker 	slot. This keynote role can often entice the company to commit.</a:t>
            </a:r>
            <a:endParaRPr lang="en-GB" sz="1400">
              <a:cs typeface="Arial"/>
            </a:endParaRPr>
          </a:p>
          <a:p>
            <a:r>
              <a:rPr lang="en-GB" sz="1400"/>
              <a:t>3	</a:t>
            </a:r>
            <a:r>
              <a:rPr lang="en-GB" sz="1400" b="1" err="1"/>
              <a:t>Strategise</a:t>
            </a:r>
            <a:r>
              <a:rPr lang="en-GB" sz="1400" b="1"/>
              <a:t> </a:t>
            </a:r>
            <a:r>
              <a:rPr lang="en-GB" sz="1400"/>
              <a:t>- Some companies allocate their sponsorship funds at the beginning of the financial year. Others do it last minute to close 	off the year with balanced books. Think about your pitch from your sponsor's perspective: why should they sponsor you? What is their 	return on investment? Can you deliver on it?</a:t>
            </a:r>
            <a:endParaRPr lang="en-GB" sz="1400">
              <a:cs typeface="Arial"/>
            </a:endParaRPr>
          </a:p>
          <a:p>
            <a:r>
              <a:rPr lang="en-GB" sz="1400"/>
              <a:t>4	</a:t>
            </a:r>
            <a:r>
              <a:rPr lang="en-GB" sz="1400" b="1"/>
              <a:t>Shortlist</a:t>
            </a:r>
            <a:r>
              <a:rPr lang="en-GB" sz="1400"/>
              <a:t> - Pull together the information from previous years and create a shortlist of companies you would like to contact.</a:t>
            </a:r>
            <a:endParaRPr lang="en-GB" sz="1400">
              <a:cs typeface="Arial"/>
            </a:endParaRPr>
          </a:p>
          <a:p>
            <a:r>
              <a:rPr lang="en-GB" sz="1400"/>
              <a:t>5	Think outside the box - Sponsorship could also mean services or space! If a company cannot offer you any money, they might have a 	great venue you could use for free.</a:t>
            </a:r>
            <a:endParaRPr lang="en-GB" sz="1400">
              <a:cs typeface="Arial"/>
            </a:endParaRPr>
          </a:p>
          <a:p>
            <a:r>
              <a:rPr lang="en-GB" sz="1400"/>
              <a:t>6	What’s the </a:t>
            </a:r>
            <a:r>
              <a:rPr lang="en-GB" sz="1400" b="1"/>
              <a:t>unique selling point</a:t>
            </a:r>
            <a:r>
              <a:rPr lang="en-GB" sz="1400"/>
              <a:t>? Are you hosting an event that could help a company recruit for their next MBA stream programme? 	Are you talking about a hot topic that a potential sponsor is involved in?</a:t>
            </a:r>
            <a:endParaRPr lang="en-GB" sz="1400">
              <a:cs typeface="Arial"/>
            </a:endParaRPr>
          </a:p>
          <a:p>
            <a:r>
              <a:rPr lang="en-GB" sz="1400"/>
              <a:t>7	</a:t>
            </a:r>
            <a:r>
              <a:rPr lang="en-GB" sz="1400" b="1"/>
              <a:t>Work with the SA</a:t>
            </a:r>
            <a:r>
              <a:rPr lang="en-GB" sz="1400"/>
              <a:t> - Please discuss your sponsorship strategy with the SA Sponsorship Officer before entering any agreement. You are 	legally bound to the SA and cannot enter a business contract alone.</a:t>
            </a:r>
            <a:endParaRPr lang="en-GB" sz="1400">
              <a:cs typeface="Arial"/>
            </a:endParaRPr>
          </a:p>
          <a:p>
            <a:endParaRPr lang="en-GB" sz="1400">
              <a:cs typeface="Arial"/>
            </a:endParaRPr>
          </a:p>
          <a:p>
            <a:r>
              <a:rPr lang="en-GB" sz="1400">
                <a:ea typeface="+mn-lt"/>
                <a:cs typeface="+mn-lt"/>
              </a:rPr>
              <a:t>For every sponsor you secure, you will have to fill a </a:t>
            </a:r>
            <a:r>
              <a:rPr lang="en-GB" sz="1400" b="1">
                <a:ea typeface="+mn-lt"/>
                <a:cs typeface="+mn-lt"/>
              </a:rPr>
              <a:t>sponsorship agreement</a:t>
            </a:r>
            <a:r>
              <a:rPr lang="en-GB" sz="1400">
                <a:ea typeface="+mn-lt"/>
                <a:cs typeface="+mn-lt"/>
              </a:rPr>
              <a:t>. You can find the sponsorship agreement template here: </a:t>
            </a:r>
            <a:r>
              <a:rPr lang="en-GB" sz="1400">
                <a:ea typeface="+mn-lt"/>
                <a:cs typeface="+mn-lt"/>
                <a:hlinkClick r:id="rId2">
                  <a:extLst>
                    <a:ext uri="{A12FA001-AC4F-418D-AE19-62706E023703}">
                      <ahyp:hlinkClr xmlns:ahyp="http://schemas.microsoft.com/office/drawing/2018/hyperlinkcolor" val="tx"/>
                    </a:ext>
                  </a:extLst>
                </a:hlinkClick>
              </a:rPr>
              <a:t>https://clubs.london.edu/LBSSAF/sa-treasury-resources/</a:t>
            </a:r>
            <a:endParaRPr lang="en-GB">
              <a:hlinkClick r:id="rId2">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61079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17</a:t>
            </a:fld>
            <a:endParaRPr lang="en-US"/>
          </a:p>
        </p:txBody>
      </p:sp>
      <p:sp>
        <p:nvSpPr>
          <p:cNvPr id="4" name="Title 3"/>
          <p:cNvSpPr>
            <a:spLocks noGrp="1"/>
          </p:cNvSpPr>
          <p:nvPr>
            <p:ph type="title"/>
          </p:nvPr>
        </p:nvSpPr>
        <p:spPr/>
        <p:txBody>
          <a:bodyPr lIns="90000" tIns="45720" rIns="0" bIns="45720" anchor="t"/>
          <a:lstStyle/>
          <a:p>
            <a:r>
              <a:rPr lang="en-GB" b="1"/>
              <a:t>Fundraising and Sponsorship</a:t>
            </a:r>
            <a:endParaRPr lang="en-GB">
              <a:cs typeface="Arial"/>
            </a:endParaRPr>
          </a:p>
        </p:txBody>
      </p:sp>
      <p:sp>
        <p:nvSpPr>
          <p:cNvPr id="7" name="Rectangle 6"/>
          <p:cNvSpPr/>
          <p:nvPr/>
        </p:nvSpPr>
        <p:spPr>
          <a:xfrm>
            <a:off x="521108" y="1407535"/>
            <a:ext cx="11366091" cy="3970318"/>
          </a:xfrm>
          <a:prstGeom prst="rect">
            <a:avLst/>
          </a:prstGeom>
        </p:spPr>
        <p:txBody>
          <a:bodyPr wrap="square" lIns="91440" tIns="45720" rIns="91440" bIns="45720" anchor="t">
            <a:spAutoFit/>
          </a:bodyPr>
          <a:lstStyle/>
          <a:p>
            <a:r>
              <a:rPr lang="en-GB" b="1"/>
              <a:t>Sponsorship VAT</a:t>
            </a:r>
            <a:endParaRPr lang="en-GB" b="1">
              <a:cs typeface="Arial"/>
            </a:endParaRPr>
          </a:p>
          <a:p>
            <a:r>
              <a:rPr lang="en-GB"/>
              <a:t>If sponsorship comes with no strings attached, the income will be outside the scope of VAT and will not be charged.</a:t>
            </a:r>
            <a:endParaRPr lang="en-GB">
              <a:cs typeface="Arial"/>
            </a:endParaRPr>
          </a:p>
          <a:p>
            <a:endParaRPr lang="en-GB"/>
          </a:p>
          <a:p>
            <a:r>
              <a:rPr lang="en-GB"/>
              <a:t>If the sponsors get something in return (e.g. free or reduced tickets, participating in the sponsors promotional or advertising activities), then the income is treated as a taxable supply and VAT will be charged.</a:t>
            </a:r>
            <a:endParaRPr lang="en-GB">
              <a:cs typeface="Arial"/>
            </a:endParaRPr>
          </a:p>
          <a:p>
            <a:endParaRPr lang="en-GB">
              <a:cs typeface="Arial"/>
            </a:endParaRPr>
          </a:p>
          <a:p>
            <a:r>
              <a:rPr lang="en-GB" b="1"/>
              <a:t>Sponsorship Contracts</a:t>
            </a:r>
            <a:endParaRPr lang="en-GB" b="1">
              <a:cs typeface="Arial"/>
            </a:endParaRPr>
          </a:p>
          <a:p>
            <a:r>
              <a:rPr lang="en-GB"/>
              <a:t>You can only rely on sponsorship money if a contract was signed and legally filed by the SA. Clubs have no authority to enter legal agreements. This protects club officers from being responsible for any liabilities incurred in any agreement.</a:t>
            </a:r>
            <a:endParaRPr lang="en-GB">
              <a:cs typeface="Arial"/>
            </a:endParaRPr>
          </a:p>
          <a:p>
            <a:endParaRPr lang="en-GB">
              <a:cs typeface="Arial"/>
            </a:endParaRPr>
          </a:p>
          <a:p>
            <a:r>
              <a:rPr lang="en-GB"/>
              <a:t>Please send the final agreement to the SA President, who will arrange for it to be signed. For any further questions, please contact the SA Treasurer.</a:t>
            </a:r>
            <a:endParaRPr lang="en-GB">
              <a:cs typeface="Arial"/>
            </a:endParaRPr>
          </a:p>
        </p:txBody>
      </p:sp>
    </p:spTree>
    <p:extLst>
      <p:ext uri="{BB962C8B-B14F-4D97-AF65-F5344CB8AC3E}">
        <p14:creationId xmlns:p14="http://schemas.microsoft.com/office/powerpoint/2010/main" val="2532973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2B2D30-1DA7-4A43-9507-E3C2EDE6BF35}"/>
              </a:ext>
            </a:extLst>
          </p:cNvPr>
          <p:cNvSpPr>
            <a:spLocks noGrp="1"/>
          </p:cNvSpPr>
          <p:nvPr>
            <p:ph type="body" sz="quarter" idx="11"/>
          </p:nvPr>
        </p:nvSpPr>
        <p:spPr/>
        <p:txBody>
          <a:bodyPr/>
          <a:lstStyle/>
          <a:p>
            <a:r>
              <a:rPr lang="en-GB"/>
              <a:t>Brand, marketing &amp; communications</a:t>
            </a:r>
            <a:endParaRPr lang="en-US"/>
          </a:p>
        </p:txBody>
      </p:sp>
      <p:sp>
        <p:nvSpPr>
          <p:cNvPr id="3" name="Text Placeholder 2">
            <a:extLst>
              <a:ext uri="{FF2B5EF4-FFF2-40B4-BE49-F238E27FC236}">
                <a16:creationId xmlns:a16="http://schemas.microsoft.com/office/drawing/2014/main" id="{F276C225-1940-2346-BA5A-192226BF693F}"/>
              </a:ext>
            </a:extLst>
          </p:cNvPr>
          <p:cNvSpPr>
            <a:spLocks noGrp="1"/>
          </p:cNvSpPr>
          <p:nvPr>
            <p:ph type="body" sz="quarter" idx="12"/>
          </p:nvPr>
        </p:nvSpPr>
        <p:spPr/>
        <p:txBody>
          <a:bodyPr>
            <a:normAutofit/>
          </a:bodyPr>
          <a:lstStyle/>
          <a:p>
            <a:endParaRPr lang="en-US"/>
          </a:p>
        </p:txBody>
      </p:sp>
    </p:spTree>
    <p:extLst>
      <p:ext uri="{BB962C8B-B14F-4D97-AF65-F5344CB8AC3E}">
        <p14:creationId xmlns:p14="http://schemas.microsoft.com/office/powerpoint/2010/main" val="554582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19</a:t>
            </a:fld>
            <a:endParaRPr lang="en-US"/>
          </a:p>
        </p:txBody>
      </p:sp>
      <p:sp>
        <p:nvSpPr>
          <p:cNvPr id="4" name="Title 3"/>
          <p:cNvSpPr>
            <a:spLocks noGrp="1"/>
          </p:cNvSpPr>
          <p:nvPr>
            <p:ph type="title"/>
          </p:nvPr>
        </p:nvSpPr>
        <p:spPr/>
        <p:txBody>
          <a:bodyPr/>
          <a:lstStyle/>
          <a:p>
            <a:r>
              <a:rPr lang="en-GB" b="1"/>
              <a:t>Brand guidelines &amp; marketing resources</a:t>
            </a:r>
            <a:br>
              <a:rPr lang="en-GB" b="1"/>
            </a:br>
            <a:endParaRPr lang="en-GB" b="1"/>
          </a:p>
        </p:txBody>
      </p:sp>
      <p:sp>
        <p:nvSpPr>
          <p:cNvPr id="7" name="Rectangle 6"/>
          <p:cNvSpPr/>
          <p:nvPr/>
        </p:nvSpPr>
        <p:spPr>
          <a:xfrm>
            <a:off x="373626" y="910214"/>
            <a:ext cx="11444748" cy="5509200"/>
          </a:xfrm>
          <a:prstGeom prst="rect">
            <a:avLst/>
          </a:prstGeom>
        </p:spPr>
        <p:txBody>
          <a:bodyPr wrap="square" lIns="91440" tIns="45720" rIns="91440" bIns="45720" anchor="t">
            <a:spAutoFit/>
          </a:bodyPr>
          <a:lstStyle/>
          <a:p>
            <a:r>
              <a:rPr lang="en-GB" sz="1600" dirty="0"/>
              <a:t>A strong and consistent brand will give your event a professional and recognisable identity. Please refer to the brand guidelines on </a:t>
            </a:r>
            <a:r>
              <a:rPr lang="en-GB" sz="1600" b="1" dirty="0">
                <a:hlinkClick r:id="rId2"/>
              </a:rPr>
              <a:t>LBS </a:t>
            </a:r>
            <a:r>
              <a:rPr lang="en-GB" sz="1600" b="1" dirty="0" err="1">
                <a:solidFill>
                  <a:srgbClr val="FF0000"/>
                </a:solidFill>
                <a:hlinkClick r:id="rId2"/>
              </a:rPr>
              <a:t>BrandHub</a:t>
            </a:r>
            <a:r>
              <a:rPr lang="en-GB" sz="1600" dirty="0">
                <a:solidFill>
                  <a:srgbClr val="001E61"/>
                </a:solidFill>
              </a:rPr>
              <a:t> </a:t>
            </a:r>
            <a:r>
              <a:rPr lang="en-GB" sz="1600" dirty="0"/>
              <a:t>to produce any materials for your event</a:t>
            </a:r>
            <a:r>
              <a:rPr lang="en-GB" sz="1600" b="1" i="1" dirty="0"/>
              <a:t> (you need to log in to brand hub using your LBS account to enable SSO)</a:t>
            </a:r>
            <a:r>
              <a:rPr lang="en-GB" sz="1600" dirty="0"/>
              <a:t>. </a:t>
            </a:r>
          </a:p>
          <a:p>
            <a:endParaRPr lang="en-GB" sz="1600" dirty="0">
              <a:cs typeface="Arial"/>
            </a:endParaRPr>
          </a:p>
          <a:p>
            <a:r>
              <a:rPr lang="en-GB" sz="1600" dirty="0"/>
              <a:t>It is worth thinking about whether your logo is still fit for purpose. Does it convey your message, does it look professional, and is it memorable? If not, get in contact with the SA’s Club and Sports Officer and follow the Club and Societies logo and lockup guideline.</a:t>
            </a:r>
            <a:endParaRPr lang="en-GB" sz="1600" dirty="0">
              <a:cs typeface="Arial"/>
            </a:endParaRPr>
          </a:p>
          <a:p>
            <a:endParaRPr lang="en-GB" sz="1600" dirty="0"/>
          </a:p>
          <a:p>
            <a:r>
              <a:rPr lang="en-GB" sz="1600" b="1" dirty="0"/>
              <a:t>Using the LBS brand</a:t>
            </a:r>
            <a:endParaRPr lang="en-GB" sz="1600" b="1" dirty="0">
              <a:cs typeface="Arial"/>
            </a:endParaRPr>
          </a:p>
          <a:p>
            <a:r>
              <a:rPr lang="en-GB" sz="1600" dirty="0"/>
              <a:t>All of your promotional materials (internal and external) should use the LBS brand. Please consult the School’s ‘</a:t>
            </a:r>
            <a:r>
              <a:rPr lang="en-GB" sz="1600" b="1" dirty="0">
                <a:solidFill>
                  <a:srgbClr val="FF0000"/>
                </a:solidFill>
                <a:hlinkClick r:id="rId3"/>
              </a:rPr>
              <a:t>Club and Societies Guidelines – Logo and Lockup guide</a:t>
            </a:r>
            <a:r>
              <a:rPr lang="en-GB" sz="1600" dirty="0"/>
              <a:t>’ and general editorial style guidelines for full details. If you will be producing any material, email it over to the </a:t>
            </a:r>
            <a:r>
              <a:rPr lang="en-GB" sz="1600" b="1" dirty="0"/>
              <a:t>content inbox </a:t>
            </a:r>
            <a:r>
              <a:rPr lang="en-GB" sz="1600" dirty="0"/>
              <a:t>(</a:t>
            </a:r>
            <a:r>
              <a:rPr lang="en-GB" sz="1600" dirty="0">
                <a:hlinkClick r:id="rId4"/>
              </a:rPr>
              <a:t>content@london.edu</a:t>
            </a:r>
            <a:r>
              <a:rPr lang="en-GB" sz="1600" dirty="0"/>
              <a:t>) for approval.</a:t>
            </a:r>
            <a:endParaRPr lang="en-GB" sz="1600" dirty="0">
              <a:cs typeface="Arial"/>
            </a:endParaRPr>
          </a:p>
          <a:p>
            <a:endParaRPr lang="en-GB" sz="1600" dirty="0">
              <a:cs typeface="Arial"/>
            </a:endParaRPr>
          </a:p>
          <a:p>
            <a:r>
              <a:rPr lang="en-GB" sz="1600" b="1" dirty="0"/>
              <a:t>Brand tips:</a:t>
            </a:r>
            <a:endParaRPr lang="en-GB" sz="1600" b="1" dirty="0">
              <a:cs typeface="Arial"/>
            </a:endParaRPr>
          </a:p>
          <a:p>
            <a:r>
              <a:rPr lang="en-GB" sz="1600" dirty="0"/>
              <a:t>•	London Business School: use London Business School and never ‘the London Business School’. After the 	first mention, you can use ‘the School’ or ‘LBS’</a:t>
            </a:r>
            <a:endParaRPr lang="en-GB" sz="1600" dirty="0">
              <a:cs typeface="Arial"/>
            </a:endParaRPr>
          </a:p>
          <a:p>
            <a:r>
              <a:rPr lang="en-GB" sz="1600" dirty="0"/>
              <a:t>•	British English: use British English (</a:t>
            </a:r>
            <a:r>
              <a:rPr lang="en-GB" sz="1600" dirty="0" err="1"/>
              <a:t>eg</a:t>
            </a:r>
            <a:r>
              <a:rPr lang="en-GB" sz="1600" dirty="0"/>
              <a:t> organise rather than organize)</a:t>
            </a:r>
            <a:endParaRPr lang="en-GB" sz="1600" dirty="0">
              <a:cs typeface="Arial"/>
            </a:endParaRPr>
          </a:p>
          <a:p>
            <a:r>
              <a:rPr lang="en-GB" sz="1600" dirty="0"/>
              <a:t>•	Faculty Titles: please use faculty member’s full titles (including their chair titles where applicable) - you can look these up on the LBS website or on the faulty member's own personal website if they have one</a:t>
            </a:r>
            <a:endParaRPr lang="en-GB" sz="1600" dirty="0">
              <a:cs typeface="Arial"/>
            </a:endParaRPr>
          </a:p>
          <a:p>
            <a:r>
              <a:rPr lang="en-GB" sz="1600" dirty="0"/>
              <a:t>•	Logo: please ensure the School’s logo always appears beside your Club logo</a:t>
            </a:r>
            <a:endParaRPr lang="en-GB" sz="1600" dirty="0">
              <a:cs typeface="Arial"/>
            </a:endParaRPr>
          </a:p>
          <a:p>
            <a:r>
              <a:rPr lang="en-GB" sz="1600" dirty="0"/>
              <a:t>•	Red Thread: do not use the ‘red thread’ design element in your marketing or design materials, as its use is strictly 	managed by the School’s Brand and Marketing Department (see the School’s </a:t>
            </a:r>
            <a:r>
              <a:rPr lang="en-GB" sz="1600" b="1" dirty="0">
                <a:solidFill>
                  <a:srgbClr val="FF0000"/>
                </a:solidFill>
                <a:hlinkClick r:id="rId5"/>
              </a:rPr>
              <a:t>Brand Guidelines</a:t>
            </a:r>
            <a:r>
              <a:rPr lang="en-GB" sz="1600" dirty="0"/>
              <a:t> for advice)</a:t>
            </a:r>
            <a:endParaRPr lang="en-GB" sz="1600" dirty="0">
              <a:cs typeface="Arial"/>
            </a:endParaRPr>
          </a:p>
        </p:txBody>
      </p:sp>
    </p:spTree>
    <p:extLst>
      <p:ext uri="{BB962C8B-B14F-4D97-AF65-F5344CB8AC3E}">
        <p14:creationId xmlns:p14="http://schemas.microsoft.com/office/powerpoint/2010/main" val="4266205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20</a:t>
            </a:fld>
            <a:endParaRPr lang="en-US"/>
          </a:p>
        </p:txBody>
      </p:sp>
      <p:sp>
        <p:nvSpPr>
          <p:cNvPr id="4" name="Title 3"/>
          <p:cNvSpPr>
            <a:spLocks noGrp="1"/>
          </p:cNvSpPr>
          <p:nvPr>
            <p:ph type="title"/>
          </p:nvPr>
        </p:nvSpPr>
        <p:spPr/>
        <p:txBody>
          <a:bodyPr/>
          <a:lstStyle/>
          <a:p>
            <a:r>
              <a:rPr lang="en-GB" b="1"/>
              <a:t>Brand guidelines &amp; marketing resources</a:t>
            </a:r>
            <a:br>
              <a:rPr lang="en-GB" b="1"/>
            </a:br>
            <a:endParaRPr lang="en-GB"/>
          </a:p>
        </p:txBody>
      </p:sp>
      <p:sp>
        <p:nvSpPr>
          <p:cNvPr id="7" name="Rectangle 6"/>
          <p:cNvSpPr/>
          <p:nvPr/>
        </p:nvSpPr>
        <p:spPr>
          <a:xfrm>
            <a:off x="324464" y="692331"/>
            <a:ext cx="11543071" cy="4524315"/>
          </a:xfrm>
          <a:prstGeom prst="rect">
            <a:avLst/>
          </a:prstGeom>
        </p:spPr>
        <p:txBody>
          <a:bodyPr wrap="square" lIns="91440" tIns="45720" rIns="91440" bIns="45720" anchor="t">
            <a:spAutoFit/>
          </a:bodyPr>
          <a:lstStyle/>
          <a:p>
            <a:r>
              <a:rPr lang="en-GB" sz="1600" b="1" dirty="0"/>
              <a:t>Website</a:t>
            </a:r>
          </a:p>
          <a:p>
            <a:r>
              <a:rPr lang="en-GB" sz="1600" dirty="0"/>
              <a:t>As a club, you should already have a website on Campus Groups. For ticketed events you may also be using </a:t>
            </a:r>
            <a:r>
              <a:rPr lang="en-GB" sz="1600" dirty="0" err="1"/>
              <a:t>Eventscase</a:t>
            </a:r>
            <a:r>
              <a:rPr lang="en-GB" sz="1600" dirty="0"/>
              <a:t> which can be branded with the LBS logo, your club logo and the event brand identity.</a:t>
            </a:r>
            <a:endParaRPr lang="en-GB" sz="1600" dirty="0">
              <a:solidFill>
                <a:srgbClr val="FF0000"/>
              </a:solidFill>
            </a:endParaRPr>
          </a:p>
          <a:p>
            <a:endParaRPr lang="en-GB" sz="1600" dirty="0"/>
          </a:p>
          <a:p>
            <a:r>
              <a:rPr lang="en-GB" sz="1600" b="1" dirty="0"/>
              <a:t>Signage and branding</a:t>
            </a:r>
            <a:endParaRPr lang="en-GB" sz="1600" b="1" dirty="0">
              <a:cs typeface="Arial"/>
            </a:endParaRPr>
          </a:p>
          <a:p>
            <a:r>
              <a:rPr lang="en-GB" sz="1600" dirty="0"/>
              <a:t>You should put signage up around the School to direct guests to your event. Please make sure your signs follow LBS brand guidelines and use one of the templates in the 'Useful documents and templates' folder</a:t>
            </a:r>
            <a:r>
              <a:rPr lang="en-GB" sz="1600" dirty="0">
                <a:solidFill>
                  <a:srgbClr val="001E61"/>
                </a:solidFill>
              </a:rPr>
              <a:t>.</a:t>
            </a:r>
            <a:r>
              <a:rPr lang="en-GB" sz="1600" dirty="0"/>
              <a:t> Once printed, send the signs to the Estates team (estates@london.edu) who will display them for you. </a:t>
            </a:r>
            <a:endParaRPr lang="en-GB" sz="1600" dirty="0">
              <a:cs typeface="Arial"/>
            </a:endParaRPr>
          </a:p>
          <a:p>
            <a:endParaRPr lang="en-GB" sz="1600" dirty="0"/>
          </a:p>
          <a:p>
            <a:r>
              <a:rPr lang="en-GB" sz="1600" dirty="0"/>
              <a:t>For additional on-campus branding opportunities and directional signage you can order pull up banners, feather flags, floor stickers and branding for your registration desks via the School’s print shop partner, Paragon (</a:t>
            </a:r>
            <a:r>
              <a:rPr lang="en-GB" sz="1600" dirty="0">
                <a:ea typeface="+mn-lt"/>
                <a:cs typeface="+mn-lt"/>
                <a:hlinkClick r:id="rId2"/>
              </a:rPr>
              <a:t>lbs@paragon-cc.co.uk</a:t>
            </a:r>
            <a:r>
              <a:rPr lang="en-GB" sz="1600" dirty="0"/>
              <a:t>). If you are planning to use any other kind of large format branding on campus please contact the content team (</a:t>
            </a:r>
            <a:r>
              <a:rPr lang="en-GB" sz="1600" dirty="0">
                <a:hlinkClick r:id="rId3"/>
              </a:rPr>
              <a:t>content@london.edu</a:t>
            </a:r>
            <a:r>
              <a:rPr lang="en-GB" sz="1600" dirty="0"/>
              <a:t>) for advice and approval.</a:t>
            </a:r>
            <a:endParaRPr lang="en-GB" sz="1600" dirty="0">
              <a:cs typeface="Arial"/>
            </a:endParaRPr>
          </a:p>
          <a:p>
            <a:endParaRPr lang="en-GB" sz="1600" dirty="0">
              <a:solidFill>
                <a:srgbClr val="FF0000"/>
              </a:solidFill>
            </a:endParaRPr>
          </a:p>
          <a:p>
            <a:endParaRPr lang="en-GB" sz="1600" dirty="0"/>
          </a:p>
          <a:p>
            <a:endParaRPr lang="en-GB" sz="1600" dirty="0">
              <a:cs typeface="Arial"/>
            </a:endParaRPr>
          </a:p>
          <a:p>
            <a:endParaRPr lang="en-GB" sz="1600" dirty="0"/>
          </a:p>
          <a:p>
            <a:endParaRPr lang="en-GB" sz="1600" dirty="0"/>
          </a:p>
        </p:txBody>
      </p:sp>
      <p:grpSp>
        <p:nvGrpSpPr>
          <p:cNvPr id="9" name="Group 8"/>
          <p:cNvGrpSpPr/>
          <p:nvPr/>
        </p:nvGrpSpPr>
        <p:grpSpPr>
          <a:xfrm>
            <a:off x="324464" y="4107783"/>
            <a:ext cx="2533026" cy="581845"/>
            <a:chOff x="421054" y="5747823"/>
            <a:chExt cx="2533026" cy="581845"/>
          </a:xfrm>
        </p:grpSpPr>
        <p:pic>
          <p:nvPicPr>
            <p:cNvPr id="3074" name="Picture 2" descr="Business Sustainability Ic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054" y="5747823"/>
              <a:ext cx="581845" cy="58184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002899" y="5995646"/>
              <a:ext cx="1951181" cy="307777"/>
            </a:xfrm>
            <a:prstGeom prst="rect">
              <a:avLst/>
            </a:prstGeom>
            <a:noFill/>
          </p:spPr>
          <p:txBody>
            <a:bodyPr wrap="square" rtlCol="0">
              <a:spAutoFit/>
            </a:bodyPr>
            <a:lstStyle/>
            <a:p>
              <a:r>
                <a:rPr lang="en-GB" sz="1400" b="1" i="1">
                  <a:solidFill>
                    <a:srgbClr val="00B050"/>
                  </a:solidFill>
                </a:rPr>
                <a:t>Sustainability tip:</a:t>
              </a:r>
            </a:p>
          </p:txBody>
        </p:sp>
      </p:grpSp>
      <p:sp>
        <p:nvSpPr>
          <p:cNvPr id="10" name="TextBox 9"/>
          <p:cNvSpPr txBox="1"/>
          <p:nvPr/>
        </p:nvSpPr>
        <p:spPr>
          <a:xfrm>
            <a:off x="2678776" y="4064304"/>
            <a:ext cx="8893790" cy="1077218"/>
          </a:xfrm>
          <a:prstGeom prst="rect">
            <a:avLst/>
          </a:prstGeom>
          <a:noFill/>
          <a:ln>
            <a:solidFill>
              <a:schemeClr val="tx1"/>
            </a:solidFill>
          </a:ln>
        </p:spPr>
        <p:txBody>
          <a:bodyPr wrap="square" rtlCol="0">
            <a:spAutoFit/>
          </a:bodyPr>
          <a:lstStyle/>
          <a:p>
            <a:r>
              <a:rPr lang="en-GB" sz="1600" dirty="0"/>
              <a:t>Please be mindful about the longevity of any branding that you use. Ensure you choose copy and design that will allow you to re-use the items where possible (avoid using date/year). </a:t>
            </a:r>
          </a:p>
          <a:p>
            <a:r>
              <a:rPr lang="en-GB" sz="1600" dirty="0"/>
              <a:t>Also – consider the use of screens for branding opportunities and event information, you can hire plasma screens via the AV team (</a:t>
            </a:r>
            <a:r>
              <a:rPr lang="en-GB" sz="1600" dirty="0">
                <a:hlinkClick r:id="rId5"/>
              </a:rPr>
              <a:t>avhelp@london.edu</a:t>
            </a:r>
            <a:r>
              <a:rPr lang="en-GB" sz="1600" dirty="0"/>
              <a:t>)</a:t>
            </a:r>
          </a:p>
        </p:txBody>
      </p:sp>
      <p:sp>
        <p:nvSpPr>
          <p:cNvPr id="12" name="Rectangle 11"/>
          <p:cNvSpPr/>
          <p:nvPr/>
        </p:nvSpPr>
        <p:spPr>
          <a:xfrm>
            <a:off x="324464" y="5220178"/>
            <a:ext cx="11543071" cy="1323439"/>
          </a:xfrm>
          <a:prstGeom prst="rect">
            <a:avLst/>
          </a:prstGeom>
        </p:spPr>
        <p:txBody>
          <a:bodyPr wrap="square" lIns="91440" tIns="45720" rIns="91440" bIns="45720" anchor="t">
            <a:spAutoFit/>
          </a:bodyPr>
          <a:lstStyle/>
          <a:p>
            <a:r>
              <a:rPr lang="en-GB" sz="1600" b="1" dirty="0"/>
              <a:t>Fixed screens around campus</a:t>
            </a:r>
          </a:p>
          <a:p>
            <a:r>
              <a:rPr lang="en-GB" sz="1600" dirty="0"/>
              <a:t>To promote your event on the screens around campus or display event-related information on the day you should create a PPT slide using the</a:t>
            </a:r>
            <a:r>
              <a:rPr lang="en-GB" sz="1600" b="1" dirty="0"/>
              <a:t> </a:t>
            </a:r>
            <a:r>
              <a:rPr lang="en-GB" sz="1600" b="1" dirty="0">
                <a:solidFill>
                  <a:srgbClr val="FF0000"/>
                </a:solidFill>
                <a:hlinkClick r:id="rId6"/>
              </a:rPr>
              <a:t>best practise guide</a:t>
            </a:r>
            <a:r>
              <a:rPr lang="en-GB" sz="1600" dirty="0">
                <a:solidFill>
                  <a:srgbClr val="FF0000"/>
                </a:solidFill>
              </a:rPr>
              <a:t> </a:t>
            </a:r>
            <a:r>
              <a:rPr lang="en-GB" sz="1600" dirty="0"/>
              <a:t>and </a:t>
            </a:r>
            <a:r>
              <a:rPr lang="en-GB" sz="1600" b="1" dirty="0">
                <a:hlinkClick r:id="rId7"/>
              </a:rPr>
              <a:t>template</a:t>
            </a:r>
            <a:r>
              <a:rPr lang="en-GB" sz="1600" dirty="0"/>
              <a:t> and send to internal comms (</a:t>
            </a:r>
            <a:r>
              <a:rPr lang="en-GB" sz="1600" dirty="0">
                <a:hlinkClick r:id="rId8"/>
              </a:rPr>
              <a:t>internalcomms@London.edu</a:t>
            </a:r>
            <a:r>
              <a:rPr lang="en-GB" sz="1600" dirty="0"/>
              <a:t>) at least a week before you want it to be uploaded.</a:t>
            </a:r>
            <a:endParaRPr lang="en-GB" sz="1600" dirty="0">
              <a:cs typeface="Arial"/>
            </a:endParaRPr>
          </a:p>
          <a:p>
            <a:endParaRPr lang="en-GB" sz="1600" dirty="0"/>
          </a:p>
        </p:txBody>
      </p:sp>
    </p:spTree>
    <p:extLst>
      <p:ext uri="{BB962C8B-B14F-4D97-AF65-F5344CB8AC3E}">
        <p14:creationId xmlns:p14="http://schemas.microsoft.com/office/powerpoint/2010/main" val="265424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21</a:t>
            </a:fld>
            <a:endParaRPr lang="en-US"/>
          </a:p>
        </p:txBody>
      </p:sp>
      <p:sp>
        <p:nvSpPr>
          <p:cNvPr id="4" name="Title 3"/>
          <p:cNvSpPr>
            <a:spLocks noGrp="1"/>
          </p:cNvSpPr>
          <p:nvPr>
            <p:ph type="title"/>
          </p:nvPr>
        </p:nvSpPr>
        <p:spPr/>
        <p:txBody>
          <a:bodyPr/>
          <a:lstStyle/>
          <a:p>
            <a:r>
              <a:rPr lang="en-GB" b="1"/>
              <a:t>Brand guidelines &amp; marketing resources</a:t>
            </a:r>
          </a:p>
        </p:txBody>
      </p:sp>
      <p:sp>
        <p:nvSpPr>
          <p:cNvPr id="7" name="Rectangle 6"/>
          <p:cNvSpPr/>
          <p:nvPr/>
        </p:nvSpPr>
        <p:spPr>
          <a:xfrm>
            <a:off x="290051" y="653463"/>
            <a:ext cx="11611897" cy="6247864"/>
          </a:xfrm>
          <a:prstGeom prst="rect">
            <a:avLst/>
          </a:prstGeom>
        </p:spPr>
        <p:txBody>
          <a:bodyPr wrap="square" lIns="91440" tIns="45720" rIns="91440" bIns="45720" anchor="t">
            <a:spAutoFit/>
          </a:bodyPr>
          <a:lstStyle/>
          <a:p>
            <a:r>
              <a:rPr lang="en-GB" sz="1600" b="1" dirty="0"/>
              <a:t>Lectern</a:t>
            </a:r>
          </a:p>
          <a:p>
            <a:r>
              <a:rPr lang="en-GB" sz="1600" dirty="0"/>
              <a:t>The School has a branded lectern that can be borrowed for events. You should request this from the porters and this request should be listed on the event information sheet. Any damage to the lectern will be charged to the user. </a:t>
            </a:r>
            <a:endParaRPr lang="en-GB" sz="1600" dirty="0">
              <a:cs typeface="Arial"/>
            </a:endParaRPr>
          </a:p>
          <a:p>
            <a:endParaRPr lang="en-GB" sz="1600" b="1" dirty="0">
              <a:cs typeface="Arial"/>
            </a:endParaRPr>
          </a:p>
          <a:p>
            <a:r>
              <a:rPr lang="en-GB" sz="1600" b="1" dirty="0"/>
              <a:t>Brochures </a:t>
            </a:r>
            <a:endParaRPr lang="en-GB" sz="1600" b="1" dirty="0">
              <a:cs typeface="Arial"/>
            </a:endParaRPr>
          </a:p>
          <a:p>
            <a:r>
              <a:rPr lang="en-GB" sz="1600" dirty="0"/>
              <a:t>We would discourage the use of printed brochures at events for sustainability reasons. Instead you can provide information about the event by displaying QR codes linking to relevant web pages and/or using an event app.</a:t>
            </a:r>
            <a:endParaRPr lang="en-GB" sz="1600" dirty="0">
              <a:cs typeface="Arial"/>
            </a:endParaRPr>
          </a:p>
          <a:p>
            <a:endParaRPr lang="en-GB" sz="1600" dirty="0">
              <a:cs typeface="Arial"/>
            </a:endParaRPr>
          </a:p>
          <a:p>
            <a:r>
              <a:rPr lang="en-GB" sz="1600" b="1" dirty="0"/>
              <a:t>Giveaways/merchandise</a:t>
            </a:r>
            <a:endParaRPr lang="en-GB" sz="1600" b="1" dirty="0">
              <a:cs typeface="Arial"/>
            </a:endParaRPr>
          </a:p>
          <a:p>
            <a:r>
              <a:rPr lang="en-GB" sz="1600" dirty="0"/>
              <a:t>Contact the Gift Shop </a:t>
            </a:r>
            <a:r>
              <a:rPr lang="en-GB" sz="1600" dirty="0">
                <a:hlinkClick r:id="rId2"/>
              </a:rPr>
              <a:t>(</a:t>
            </a:r>
            <a:r>
              <a:rPr lang="en-GB" sz="1600" dirty="0"/>
              <a:t>jackie.jamieson@allwag.co.uk) if you need any LBS branded items for your event. This may be branded notepads and pens for attendees, tote bags, branded giveaways or speaker gifts. You can view some of the items available on the shop website - </a:t>
            </a:r>
            <a:r>
              <a:rPr lang="en-GB" sz="1600" dirty="0">
                <a:hlinkClick r:id="rId3"/>
              </a:rPr>
              <a:t>Home Page (london.edu)</a:t>
            </a:r>
            <a:endParaRPr lang="en-GB" sz="1600" dirty="0"/>
          </a:p>
          <a:p>
            <a:endParaRPr lang="en-GB" sz="1600" dirty="0"/>
          </a:p>
          <a:p>
            <a:r>
              <a:rPr lang="en-GB" sz="1600" b="1" dirty="0"/>
              <a:t>Name badges</a:t>
            </a:r>
            <a:endParaRPr lang="en-GB" sz="1600" b="1" dirty="0">
              <a:cs typeface="Arial"/>
            </a:endParaRPr>
          </a:p>
          <a:p>
            <a:r>
              <a:rPr lang="en-GB" sz="1600" dirty="0"/>
              <a:t>Think about the information you will need on your name badge. Will you differentiate speakers, sponsors, students, media and alumni? If using mail merge, ensure you test it in advance of the event to prevent last minute panic!</a:t>
            </a:r>
            <a:endParaRPr lang="en-GB" sz="1600" dirty="0">
              <a:cs typeface="Arial"/>
            </a:endParaRPr>
          </a:p>
          <a:p>
            <a:endParaRPr lang="en-GB" sz="1600" dirty="0">
              <a:cs typeface="Arial"/>
            </a:endParaRPr>
          </a:p>
          <a:p>
            <a:r>
              <a:rPr lang="en-GB" sz="1600" dirty="0"/>
              <a:t>Top Tips:</a:t>
            </a:r>
            <a:endParaRPr lang="en-GB" sz="1600" dirty="0">
              <a:cs typeface="Arial"/>
            </a:endParaRPr>
          </a:p>
          <a:p>
            <a:r>
              <a:rPr lang="en-GB" sz="1600" dirty="0"/>
              <a:t>•	Omit courtesy titles (Mr, Mrs, Ms) but use professional titles (Professor, Dr, Mayor, Major)</a:t>
            </a:r>
            <a:endParaRPr lang="en-GB" sz="1600" dirty="0">
              <a:cs typeface="Arial"/>
            </a:endParaRPr>
          </a:p>
          <a:p>
            <a:r>
              <a:rPr lang="en-GB" sz="1600" dirty="0"/>
              <a:t>•	Do not put full stops after titles in British English</a:t>
            </a:r>
            <a:endParaRPr lang="en-GB" sz="1600" dirty="0">
              <a:cs typeface="Arial"/>
            </a:endParaRPr>
          </a:p>
          <a:p>
            <a:r>
              <a:rPr lang="en-GB" sz="1600" dirty="0"/>
              <a:t>•	Have blank badges at the venue and a printer/label maker to accommodate on-the-day bookings or to correct errors</a:t>
            </a:r>
            <a:endParaRPr lang="en-GB" sz="1600" dirty="0">
              <a:cs typeface="Arial"/>
            </a:endParaRPr>
          </a:p>
          <a:p>
            <a:r>
              <a:rPr lang="en-GB" sz="1600" dirty="0"/>
              <a:t>• Paragon can print name badges</a:t>
            </a:r>
            <a:r>
              <a:rPr lang="en-GB" sz="1600" dirty="0">
                <a:solidFill>
                  <a:srgbClr val="001E61"/>
                </a:solidFill>
              </a:rPr>
              <a:t> or provide badge holders and branded inserts that you can print names onto using </a:t>
            </a:r>
            <a:r>
              <a:rPr lang="en-GB" sz="1600" dirty="0" err="1">
                <a:solidFill>
                  <a:srgbClr val="001E61"/>
                </a:solidFill>
              </a:rPr>
              <a:t>mailmerge</a:t>
            </a:r>
            <a:r>
              <a:rPr lang="en-GB" sz="1600" dirty="0">
                <a:solidFill>
                  <a:srgbClr val="001E61"/>
                </a:solidFill>
              </a:rPr>
              <a:t>. You can also order lanyards via Paragon (you could use different colours for different audience types if needed)</a:t>
            </a:r>
            <a:endParaRPr lang="en-GB" sz="1600" dirty="0">
              <a:solidFill>
                <a:srgbClr val="001E61"/>
              </a:solidFill>
              <a:cs typeface="Arial" panose="020B0604020202020204"/>
            </a:endParaRPr>
          </a:p>
          <a:p>
            <a:endParaRPr lang="en-GB" sz="1600" dirty="0"/>
          </a:p>
          <a:p>
            <a:endParaRPr lang="en-GB" sz="1600" b="1" dirty="0"/>
          </a:p>
        </p:txBody>
      </p:sp>
    </p:spTree>
    <p:extLst>
      <p:ext uri="{BB962C8B-B14F-4D97-AF65-F5344CB8AC3E}">
        <p14:creationId xmlns:p14="http://schemas.microsoft.com/office/powerpoint/2010/main" val="563565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22</a:t>
            </a:fld>
            <a:endParaRPr lang="en-US"/>
          </a:p>
        </p:txBody>
      </p:sp>
      <p:sp>
        <p:nvSpPr>
          <p:cNvPr id="4" name="Title 3"/>
          <p:cNvSpPr>
            <a:spLocks noGrp="1"/>
          </p:cNvSpPr>
          <p:nvPr>
            <p:ph type="title"/>
          </p:nvPr>
        </p:nvSpPr>
        <p:spPr/>
        <p:txBody>
          <a:bodyPr/>
          <a:lstStyle/>
          <a:p>
            <a:r>
              <a:rPr lang="en-GB" b="1"/>
              <a:t>Brand guidelines &amp; marketing resources</a:t>
            </a:r>
            <a:endParaRPr lang="en-GB"/>
          </a:p>
        </p:txBody>
      </p:sp>
      <p:sp>
        <p:nvSpPr>
          <p:cNvPr id="7" name="Rectangle 6"/>
          <p:cNvSpPr/>
          <p:nvPr/>
        </p:nvSpPr>
        <p:spPr>
          <a:xfrm>
            <a:off x="307257" y="935375"/>
            <a:ext cx="11577485" cy="4985980"/>
          </a:xfrm>
          <a:prstGeom prst="rect">
            <a:avLst/>
          </a:prstGeom>
        </p:spPr>
        <p:txBody>
          <a:bodyPr wrap="square">
            <a:spAutoFit/>
          </a:bodyPr>
          <a:lstStyle/>
          <a:p>
            <a:endParaRPr lang="en-GB" sz="1400" b="1" dirty="0"/>
          </a:p>
          <a:p>
            <a:r>
              <a:rPr lang="en-GB" sz="1600" b="1" dirty="0"/>
              <a:t>Social media</a:t>
            </a:r>
          </a:p>
          <a:p>
            <a:r>
              <a:rPr lang="en-GB" sz="1600" dirty="0"/>
              <a:t>Consider using social media to help promote your event. Dependent on your event, you can: </a:t>
            </a:r>
          </a:p>
          <a:p>
            <a:r>
              <a:rPr lang="en-GB" sz="1600" dirty="0"/>
              <a:t>•	Publish ‘register now’ calls-to-action with details of agenda and speakers / panellists</a:t>
            </a:r>
          </a:p>
          <a:p>
            <a:r>
              <a:rPr lang="en-GB" sz="1600" dirty="0"/>
              <a:t>•	Use last year's content to raise awareness and excitement about forthcoming events</a:t>
            </a:r>
          </a:p>
          <a:p>
            <a:r>
              <a:rPr lang="en-GB" sz="1600" dirty="0"/>
              <a:t>•	Post event highlights after the event has finished</a:t>
            </a:r>
          </a:p>
          <a:p>
            <a:r>
              <a:rPr lang="en-GB" sz="1600" dirty="0"/>
              <a:t>•	Use relevant hashtags to drive visibility, plus the hashtag #WhyILoveLBS which is used for content in areas such as 	social purpose, diversity and inclusion, and more fun club / society events </a:t>
            </a:r>
          </a:p>
          <a:p>
            <a:r>
              <a:rPr lang="en-GB" sz="1600" dirty="0"/>
              <a:t>	</a:t>
            </a:r>
          </a:p>
          <a:p>
            <a:r>
              <a:rPr lang="en-GB" sz="1600" dirty="0"/>
              <a:t>If you wish to discuss using the School’s channels, please email the Social Media team (</a:t>
            </a:r>
            <a:r>
              <a:rPr lang="en-GB" sz="1600" dirty="0">
                <a:hlinkClick r:id="rId2"/>
              </a:rPr>
              <a:t>socialmedia@london.edu</a:t>
            </a:r>
            <a:r>
              <a:rPr lang="en-GB" sz="1600" dirty="0"/>
              <a:t>). LBS official channels are: </a:t>
            </a:r>
          </a:p>
          <a:p>
            <a:r>
              <a:rPr lang="en-GB" sz="1600" dirty="0"/>
              <a:t>•	LinkedIn</a:t>
            </a:r>
          </a:p>
          <a:p>
            <a:r>
              <a:rPr lang="en-GB" sz="1600" dirty="0"/>
              <a:t>•	Twitter</a:t>
            </a:r>
          </a:p>
          <a:p>
            <a:r>
              <a:rPr lang="en-GB" sz="1600" dirty="0"/>
              <a:t>•	Facebook</a:t>
            </a:r>
          </a:p>
          <a:p>
            <a:r>
              <a:rPr lang="en-GB" sz="1600" dirty="0"/>
              <a:t>•	Instagram</a:t>
            </a:r>
          </a:p>
          <a:p>
            <a:r>
              <a:rPr lang="en-GB" sz="1600" dirty="0"/>
              <a:t>•	YouTube</a:t>
            </a:r>
          </a:p>
          <a:p>
            <a:r>
              <a:rPr lang="en-GB" sz="1600" dirty="0"/>
              <a:t>•	Plus WeChat and Weibo in China </a:t>
            </a:r>
          </a:p>
          <a:p>
            <a:endParaRPr lang="en-GB" sz="1600" dirty="0"/>
          </a:p>
          <a:p>
            <a:r>
              <a:rPr lang="en-GB" sz="1600" dirty="0"/>
              <a:t>If appropriate, there is also a closed alumni group on LinkedIn. This is run by Svetlana Guzeeva (</a:t>
            </a:r>
            <a:r>
              <a:rPr lang="en-GB" sz="1600" dirty="0">
                <a:hlinkClick r:id="rId3"/>
              </a:rPr>
              <a:t>sguzeeva@london.edu</a:t>
            </a:r>
            <a:r>
              <a:rPr lang="en-GB" sz="1600" dirty="0"/>
              <a:t>) in Advancement. </a:t>
            </a:r>
          </a:p>
        </p:txBody>
      </p:sp>
    </p:spTree>
    <p:extLst>
      <p:ext uri="{BB962C8B-B14F-4D97-AF65-F5344CB8AC3E}">
        <p14:creationId xmlns:p14="http://schemas.microsoft.com/office/powerpoint/2010/main" val="2626239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23</a:t>
            </a:fld>
            <a:endParaRPr lang="en-US"/>
          </a:p>
        </p:txBody>
      </p:sp>
      <p:sp>
        <p:nvSpPr>
          <p:cNvPr id="4" name="Title 3"/>
          <p:cNvSpPr>
            <a:spLocks noGrp="1"/>
          </p:cNvSpPr>
          <p:nvPr>
            <p:ph type="title"/>
          </p:nvPr>
        </p:nvSpPr>
        <p:spPr/>
        <p:txBody>
          <a:bodyPr/>
          <a:lstStyle/>
          <a:p>
            <a:r>
              <a:rPr lang="en-GB" b="1"/>
              <a:t>Brand guidelines &amp; marketing resources</a:t>
            </a:r>
            <a:endParaRPr lang="en-GB"/>
          </a:p>
        </p:txBody>
      </p:sp>
      <p:sp>
        <p:nvSpPr>
          <p:cNvPr id="7" name="Rectangle 6"/>
          <p:cNvSpPr/>
          <p:nvPr/>
        </p:nvSpPr>
        <p:spPr>
          <a:xfrm>
            <a:off x="462116" y="771942"/>
            <a:ext cx="11277600" cy="5509200"/>
          </a:xfrm>
          <a:prstGeom prst="rect">
            <a:avLst/>
          </a:prstGeom>
        </p:spPr>
        <p:txBody>
          <a:bodyPr wrap="square" lIns="91440" tIns="45720" rIns="91440" bIns="45720" anchor="t">
            <a:spAutoFit/>
          </a:bodyPr>
          <a:lstStyle/>
          <a:p>
            <a:r>
              <a:rPr lang="en-GB" sz="1600" b="1"/>
              <a:t>Photography and video</a:t>
            </a:r>
          </a:p>
          <a:p>
            <a:r>
              <a:rPr lang="en-GB" sz="1600"/>
              <a:t>Photography and video are useful to create a bank of content you can use to promote your event. Make sure you organise someone to take your videos and pictures early on.</a:t>
            </a:r>
            <a:endParaRPr lang="en-GB" sz="1600">
              <a:cs typeface="Arial"/>
            </a:endParaRPr>
          </a:p>
          <a:p>
            <a:endParaRPr lang="en-GB" sz="1600"/>
          </a:p>
          <a:p>
            <a:r>
              <a:rPr lang="en-GB" sz="1600"/>
              <a:t>If you have the budget for professionals get in touch with the Brand and Marketing </a:t>
            </a:r>
            <a:r>
              <a:rPr lang="en-GB" sz="1600">
                <a:hlinkClick r:id="rId2"/>
              </a:rPr>
              <a:t>content team</a:t>
            </a:r>
            <a:r>
              <a:rPr lang="en-GB" sz="1600"/>
              <a:t> for a list of LBS approved suppliers. </a:t>
            </a:r>
            <a:endParaRPr lang="en-GB" sz="1600">
              <a:cs typeface="Arial"/>
            </a:endParaRPr>
          </a:p>
          <a:p>
            <a:endParaRPr lang="en-GB" sz="1600">
              <a:cs typeface="Arial"/>
            </a:endParaRPr>
          </a:p>
          <a:p>
            <a:r>
              <a:rPr lang="en-GB" sz="1600"/>
              <a:t>If you don’t have the budget, consider finding someone in your club who is good and enjoys taking pictures. </a:t>
            </a:r>
            <a:endParaRPr lang="en-GB" sz="1600">
              <a:solidFill>
                <a:srgbClr val="FF0000"/>
              </a:solidFill>
              <a:cs typeface="Arial"/>
            </a:endParaRPr>
          </a:p>
          <a:p>
            <a:endParaRPr lang="en-GB" sz="1600">
              <a:solidFill>
                <a:srgbClr val="FF0000"/>
              </a:solidFill>
            </a:endParaRPr>
          </a:p>
          <a:p>
            <a:r>
              <a:rPr lang="en-GB" sz="1600" b="1" i="1"/>
              <a:t>Permissions:</a:t>
            </a:r>
            <a:endParaRPr lang="en-GB" sz="1600" b="1" i="1">
              <a:cs typeface="Arial"/>
            </a:endParaRPr>
          </a:p>
          <a:p>
            <a:r>
              <a:rPr lang="en-GB" sz="1600"/>
              <a:t>If you are planning to film and photograph an event you must make your attendees and speakers aware of this and give them an opportunity to opt out of having their image taken and used for any purpose. </a:t>
            </a:r>
            <a:endParaRPr lang="en-GB" sz="1600">
              <a:cs typeface="Arial"/>
            </a:endParaRPr>
          </a:p>
          <a:p>
            <a:endParaRPr lang="en-GB" sz="1600">
              <a:cs typeface="Arial"/>
            </a:endParaRPr>
          </a:p>
          <a:p>
            <a:r>
              <a:rPr lang="en-GB" sz="1600">
                <a:cs typeface="Arial"/>
              </a:rPr>
              <a:t>Add a disclaimer about filming/photography to your registration page, confirmation and reminder emails. Give attendees the opportunity to notify you by email if they do not want to be included. Also have a notice visible at the point of registration at the event. </a:t>
            </a:r>
          </a:p>
          <a:p>
            <a:endParaRPr lang="en-GB" sz="1600">
              <a:cs typeface="Arial"/>
            </a:endParaRPr>
          </a:p>
          <a:p>
            <a:r>
              <a:rPr lang="en-GB" sz="1600">
                <a:cs typeface="Arial"/>
              </a:rPr>
              <a:t>It is rare that people will ask to opt out. If they do, identify them with a coloured dot on their badge and brief the photographer. You should also reserve a seat out of the line of view of the camera to ensure that they do not appear in filmed content. Have someone available to direct them to the seat.</a:t>
            </a:r>
          </a:p>
          <a:p>
            <a:endParaRPr lang="en-GB" sz="1600">
              <a:cs typeface="Arial"/>
            </a:endParaRPr>
          </a:p>
          <a:p>
            <a:endParaRPr lang="en-GB" sz="1600">
              <a:cs typeface="Arial"/>
            </a:endParaRPr>
          </a:p>
        </p:txBody>
      </p:sp>
    </p:spTree>
    <p:extLst>
      <p:ext uri="{BB962C8B-B14F-4D97-AF65-F5344CB8AC3E}">
        <p14:creationId xmlns:p14="http://schemas.microsoft.com/office/powerpoint/2010/main" val="96002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24</a:t>
            </a:fld>
            <a:endParaRPr lang="en-US"/>
          </a:p>
        </p:txBody>
      </p:sp>
      <p:sp>
        <p:nvSpPr>
          <p:cNvPr id="4" name="Title 3"/>
          <p:cNvSpPr>
            <a:spLocks noGrp="1"/>
          </p:cNvSpPr>
          <p:nvPr>
            <p:ph type="title"/>
          </p:nvPr>
        </p:nvSpPr>
        <p:spPr/>
        <p:txBody>
          <a:bodyPr/>
          <a:lstStyle/>
          <a:p>
            <a:r>
              <a:rPr lang="en-GB" b="1"/>
              <a:t>Communications</a:t>
            </a:r>
          </a:p>
        </p:txBody>
      </p:sp>
      <p:sp>
        <p:nvSpPr>
          <p:cNvPr id="7" name="Rectangle 6"/>
          <p:cNvSpPr/>
          <p:nvPr/>
        </p:nvSpPr>
        <p:spPr>
          <a:xfrm>
            <a:off x="427701" y="893972"/>
            <a:ext cx="11336594" cy="5262979"/>
          </a:xfrm>
          <a:prstGeom prst="rect">
            <a:avLst/>
          </a:prstGeom>
        </p:spPr>
        <p:txBody>
          <a:bodyPr wrap="square" lIns="91440" tIns="45720" rIns="91440" bIns="45720" anchor="t">
            <a:spAutoFit/>
          </a:bodyPr>
          <a:lstStyle/>
          <a:p>
            <a:r>
              <a:rPr lang="en-GB" sz="1600"/>
              <a:t>Before you start to promote your event you should have a comprehensive </a:t>
            </a:r>
            <a:r>
              <a:rPr lang="en-GB" sz="1600" err="1"/>
              <a:t>comms</a:t>
            </a:r>
            <a:r>
              <a:rPr lang="en-GB" sz="1600"/>
              <a:t> plan in place.</a:t>
            </a:r>
          </a:p>
          <a:p>
            <a:endParaRPr lang="en-GB" sz="1600"/>
          </a:p>
          <a:p>
            <a:r>
              <a:rPr lang="en-GB" sz="1600"/>
              <a:t>Consider:</a:t>
            </a:r>
            <a:endParaRPr lang="en-GB" sz="1600">
              <a:cs typeface="Arial"/>
            </a:endParaRPr>
          </a:p>
          <a:p>
            <a:endParaRPr lang="en-GB" sz="1600"/>
          </a:p>
          <a:p>
            <a:r>
              <a:rPr lang="en-GB" sz="1600" b="1"/>
              <a:t>Audience:</a:t>
            </a:r>
            <a:endParaRPr lang="en-GB" sz="1600" b="1">
              <a:cs typeface="Arial"/>
            </a:endParaRPr>
          </a:p>
          <a:p>
            <a:r>
              <a:rPr lang="en-GB" sz="1600"/>
              <a:t>·	Who do you want to reach?</a:t>
            </a:r>
            <a:endParaRPr lang="en-GB" sz="1600">
              <a:cs typeface="Arial"/>
            </a:endParaRPr>
          </a:p>
          <a:p>
            <a:r>
              <a:rPr lang="en-GB" sz="1600"/>
              <a:t>·	Consider the internal (School community) and external audience</a:t>
            </a:r>
            <a:endParaRPr lang="en-GB" sz="1600">
              <a:cs typeface="Arial"/>
            </a:endParaRPr>
          </a:p>
          <a:p>
            <a:r>
              <a:rPr lang="en-GB" sz="1600"/>
              <a:t>·	Does your audience include groups with a different profile/context? Consider how you will reach each (audience 	segmentation). You may use different key messages and channels</a:t>
            </a:r>
          </a:p>
          <a:p>
            <a:endParaRPr lang="en-GB" sz="1600"/>
          </a:p>
          <a:p>
            <a:r>
              <a:rPr lang="en-GB" sz="1600" b="1"/>
              <a:t>Objectives:</a:t>
            </a:r>
            <a:endParaRPr lang="en-GB" sz="1600" b="1">
              <a:cs typeface="Arial"/>
            </a:endParaRPr>
          </a:p>
          <a:p>
            <a:r>
              <a:rPr lang="en-GB" sz="1600"/>
              <a:t>·	What are the intended outcomes of communication?</a:t>
            </a:r>
            <a:endParaRPr lang="en-GB" sz="1600">
              <a:cs typeface="Arial"/>
            </a:endParaRPr>
          </a:p>
          <a:p>
            <a:r>
              <a:rPr lang="en-GB" sz="1600"/>
              <a:t>·	What does your audience need to know?</a:t>
            </a:r>
            <a:endParaRPr lang="en-GB" sz="1600">
              <a:cs typeface="Arial"/>
            </a:endParaRPr>
          </a:p>
          <a:p>
            <a:r>
              <a:rPr lang="en-GB" sz="1600"/>
              <a:t>·	What do you want your audience to feel, think and do?</a:t>
            </a:r>
            <a:endParaRPr lang="en-GB" sz="1600">
              <a:cs typeface="Arial"/>
            </a:endParaRPr>
          </a:p>
          <a:p>
            <a:endParaRPr lang="en-GB" sz="1600" b="1"/>
          </a:p>
          <a:p>
            <a:r>
              <a:rPr lang="en-GB" sz="1600" b="1"/>
              <a:t>Key messages:</a:t>
            </a:r>
            <a:endParaRPr lang="en-GB" sz="1600" b="1">
              <a:cs typeface="Arial"/>
            </a:endParaRPr>
          </a:p>
          <a:p>
            <a:r>
              <a:rPr lang="en-GB" sz="1600"/>
              <a:t>·	What are you inviting your audience to do? (Call to Action/CTA)</a:t>
            </a:r>
            <a:endParaRPr lang="en-GB" sz="1600">
              <a:cs typeface="Arial"/>
            </a:endParaRPr>
          </a:p>
          <a:p>
            <a:r>
              <a:rPr lang="en-GB" sz="1600"/>
              <a:t>·	Consider the purpose of your CTA. If your audience does this what is the broader impact on the way the world 	does business and the way business impacts the world?</a:t>
            </a:r>
            <a:endParaRPr lang="en-GB" sz="1600">
              <a:cs typeface="Arial"/>
            </a:endParaRPr>
          </a:p>
          <a:p>
            <a:r>
              <a:rPr lang="en-GB" sz="1600"/>
              <a:t>·	Focus on three key messages (keep the message as short as possible, clear and concise. Consider using bullet 	points.)</a:t>
            </a:r>
            <a:endParaRPr lang="en-GB" sz="1600">
              <a:cs typeface="Arial"/>
            </a:endParaRPr>
          </a:p>
        </p:txBody>
      </p:sp>
    </p:spTree>
    <p:extLst>
      <p:ext uri="{BB962C8B-B14F-4D97-AF65-F5344CB8AC3E}">
        <p14:creationId xmlns:p14="http://schemas.microsoft.com/office/powerpoint/2010/main" val="30815690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25</a:t>
            </a:fld>
            <a:endParaRPr lang="en-US"/>
          </a:p>
        </p:txBody>
      </p:sp>
      <p:sp>
        <p:nvSpPr>
          <p:cNvPr id="4" name="Title 3"/>
          <p:cNvSpPr>
            <a:spLocks noGrp="1"/>
          </p:cNvSpPr>
          <p:nvPr>
            <p:ph type="title"/>
          </p:nvPr>
        </p:nvSpPr>
        <p:spPr/>
        <p:txBody>
          <a:bodyPr/>
          <a:lstStyle/>
          <a:p>
            <a:r>
              <a:rPr lang="en-GB" b="1"/>
              <a:t>Communications</a:t>
            </a:r>
            <a:endParaRPr lang="en-GB"/>
          </a:p>
        </p:txBody>
      </p:sp>
      <p:sp>
        <p:nvSpPr>
          <p:cNvPr id="7" name="Rectangle 6"/>
          <p:cNvSpPr/>
          <p:nvPr/>
        </p:nvSpPr>
        <p:spPr>
          <a:xfrm>
            <a:off x="304800" y="1027593"/>
            <a:ext cx="11287432" cy="4770537"/>
          </a:xfrm>
          <a:prstGeom prst="rect">
            <a:avLst/>
          </a:prstGeom>
        </p:spPr>
        <p:txBody>
          <a:bodyPr wrap="square" lIns="91440" tIns="45720" rIns="91440" bIns="45720" anchor="t">
            <a:spAutoFit/>
          </a:bodyPr>
          <a:lstStyle/>
          <a:p>
            <a:r>
              <a:rPr lang="en-GB" sz="1600" b="1"/>
              <a:t>Channels:</a:t>
            </a:r>
          </a:p>
          <a:p>
            <a:r>
              <a:rPr lang="en-GB" sz="1600"/>
              <a:t>·	Which channels will you communicate through?</a:t>
            </a:r>
          </a:p>
          <a:p>
            <a:r>
              <a:rPr lang="en-GB" sz="1600"/>
              <a:t>·	Consider internal (including Student Association) and external channels</a:t>
            </a:r>
          </a:p>
          <a:p>
            <a:endParaRPr lang="en-GB" sz="1600">
              <a:cs typeface="Arial"/>
            </a:endParaRPr>
          </a:p>
          <a:p>
            <a:r>
              <a:rPr lang="en-GB" sz="1600" b="1"/>
              <a:t>Reputation risk management:</a:t>
            </a:r>
            <a:endParaRPr lang="en-GB" sz="1600" b="1">
              <a:cs typeface="Arial"/>
            </a:endParaRPr>
          </a:p>
          <a:p>
            <a:r>
              <a:rPr lang="en-GB" sz="1600"/>
              <a:t>·	Before inviting speakers, conduct a background check. Look online for any news coverage of your speaker. Does 	this raise any concerns or associations that may negatively impact the reputation of the Club or School? If you 	are unsure, please ask the Communications department for advice (press@london.edu).</a:t>
            </a:r>
          </a:p>
          <a:p>
            <a:r>
              <a:rPr lang="en-GB" sz="1600"/>
              <a:t>·	If relevant, make sure speakers are aware in advance of others who will speak alongside them.</a:t>
            </a:r>
          </a:p>
          <a:p>
            <a:r>
              <a:rPr lang="en-GB" sz="1600"/>
              <a:t>·	Always seek speakers’ written consent in advance if media will be in attendance and potentially reporting/you are 	offering media interviews/you are recording (whether or not it is your plan to distribute digitally/on demand)</a:t>
            </a:r>
          </a:p>
          <a:p>
            <a:r>
              <a:rPr lang="en-GB" sz="1600"/>
              <a:t>·	Please also seek speakers’ written consent if you plan to release any of their commentary/bio to the media pre, 	post or during your event.</a:t>
            </a:r>
          </a:p>
          <a:p>
            <a:r>
              <a:rPr lang="en-GB" sz="1600"/>
              <a:t>·	If you are quoting another – or a speaker’s – organisation in any of your material, you should send your 	communication to their Press Office prior as a courtesy.</a:t>
            </a:r>
          </a:p>
          <a:p>
            <a:endParaRPr lang="en-GB" sz="1600"/>
          </a:p>
          <a:p>
            <a:r>
              <a:rPr lang="en-GB" sz="1600" b="1"/>
              <a:t>Measuring success:</a:t>
            </a:r>
          </a:p>
          <a:p>
            <a:r>
              <a:rPr lang="en-GB" sz="1600"/>
              <a:t>·	Consider how you will measure success e.g. event sign-ups, click-throughs, coverage, social media engagement.</a:t>
            </a:r>
          </a:p>
          <a:p>
            <a:endParaRPr lang="en-GB" sz="1600"/>
          </a:p>
        </p:txBody>
      </p:sp>
    </p:spTree>
    <p:extLst>
      <p:ext uri="{BB962C8B-B14F-4D97-AF65-F5344CB8AC3E}">
        <p14:creationId xmlns:p14="http://schemas.microsoft.com/office/powerpoint/2010/main" val="1206497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97EA6E0-ACB3-C744-814F-68814E5220CF}" type="slidenum">
              <a:rPr lang="en-US" smtClean="0"/>
              <a:t>26</a:t>
            </a:fld>
            <a:endParaRPr lang="en-US"/>
          </a:p>
        </p:txBody>
      </p:sp>
      <p:sp>
        <p:nvSpPr>
          <p:cNvPr id="4" name="Title 3"/>
          <p:cNvSpPr>
            <a:spLocks noGrp="1"/>
          </p:cNvSpPr>
          <p:nvPr>
            <p:ph type="title"/>
          </p:nvPr>
        </p:nvSpPr>
        <p:spPr/>
        <p:txBody>
          <a:bodyPr/>
          <a:lstStyle/>
          <a:p>
            <a:r>
              <a:rPr lang="en-GB" b="1"/>
              <a:t>Communications</a:t>
            </a:r>
          </a:p>
        </p:txBody>
      </p:sp>
      <p:sp>
        <p:nvSpPr>
          <p:cNvPr id="7" name="Rectangle 6"/>
          <p:cNvSpPr/>
          <p:nvPr/>
        </p:nvSpPr>
        <p:spPr>
          <a:xfrm>
            <a:off x="427703" y="622095"/>
            <a:ext cx="11336594" cy="5755422"/>
          </a:xfrm>
          <a:prstGeom prst="rect">
            <a:avLst/>
          </a:prstGeom>
        </p:spPr>
        <p:txBody>
          <a:bodyPr wrap="square">
            <a:spAutoFit/>
          </a:bodyPr>
          <a:lstStyle/>
          <a:p>
            <a:r>
              <a:rPr lang="en-GB" sz="1600" b="1"/>
              <a:t>Inviting media to your event</a:t>
            </a:r>
          </a:p>
          <a:p>
            <a:r>
              <a:rPr lang="en-GB" sz="1600"/>
              <a:t>In the main, journalists do not report on events they have not attended. Press coverage also tends to focus on newsworthy comment from keynote or other speakers.</a:t>
            </a:r>
          </a:p>
          <a:p>
            <a:endParaRPr lang="en-GB" sz="1600"/>
          </a:p>
          <a:p>
            <a:r>
              <a:rPr lang="en-GB" sz="1600"/>
              <a:t>If you would like to invite journalists to your event:</a:t>
            </a:r>
          </a:p>
          <a:p>
            <a:endParaRPr lang="en-GB" sz="1600"/>
          </a:p>
          <a:p>
            <a:r>
              <a:rPr lang="en-GB" sz="1600"/>
              <a:t>·	Consider sending a Media Invitation (see Press invitations below).</a:t>
            </a:r>
          </a:p>
          <a:p>
            <a:r>
              <a:rPr lang="en-GB" sz="1600"/>
              <a:t>·	The invitation should bear: Student Club logo or LBS logo and Student Club logo lockup. For more information 	please contact content@london.edu.</a:t>
            </a:r>
          </a:p>
          <a:p>
            <a:r>
              <a:rPr lang="en-GB" sz="1600"/>
              <a:t>·	Invitations should be individually topped and tailed. Avoid group/impersonal emails.</a:t>
            </a:r>
          </a:p>
          <a:p>
            <a:r>
              <a:rPr lang="en-GB" sz="1600"/>
              <a:t>·	Consider asking your speakers if they have any particular media contacts they would like you to invite on their 	behalf.</a:t>
            </a:r>
          </a:p>
          <a:p>
            <a:r>
              <a:rPr lang="en-GB" sz="1600"/>
              <a:t>·	Aim to send your media invitation two to three weeks in advance of the event. Any earlier and you are unlikely to 	get traction as the journalists will be focussed on news of the day.</a:t>
            </a:r>
          </a:p>
          <a:p>
            <a:r>
              <a:rPr lang="en-GB" sz="1600"/>
              <a:t>·	Copy and paste your Media Invitation into the body of an email rather than sending as an attachment.</a:t>
            </a:r>
          </a:p>
          <a:p>
            <a:r>
              <a:rPr lang="en-GB" sz="1600"/>
              <a:t>·	If interviews are being offered make clear in your invitation – Interviews are available.</a:t>
            </a:r>
          </a:p>
          <a:p>
            <a:r>
              <a:rPr lang="en-GB" sz="1600"/>
              <a:t>·	If your event is being held under Chatham House Rule (journalists can report on what was said but cannot 	attribute what was said to a named speaker), make this clear in your invitation (and also to speakers). Be aware 	that journalists rely on their sources for credibility. It is not impossible, but is significantly less likely, that a 	journalist will report on an event that is held under Chatham House Rule.</a:t>
            </a:r>
          </a:p>
          <a:p>
            <a:r>
              <a:rPr lang="en-GB" sz="1600"/>
              <a:t>·	If your event is a Closed Event, you should not be inviting journalists to this event.</a:t>
            </a:r>
          </a:p>
          <a:p>
            <a:r>
              <a:rPr lang="en-GB" sz="1600"/>
              <a:t>·	Follow up on a Media Invitation a maximum of once, one week out from your event. </a:t>
            </a:r>
          </a:p>
          <a:p>
            <a:r>
              <a:rPr lang="en-GB" sz="1600"/>
              <a:t>·	Media should be offered complimentary event passes.</a:t>
            </a:r>
          </a:p>
        </p:txBody>
      </p:sp>
    </p:spTree>
    <p:extLst>
      <p:ext uri="{BB962C8B-B14F-4D97-AF65-F5344CB8AC3E}">
        <p14:creationId xmlns:p14="http://schemas.microsoft.com/office/powerpoint/2010/main" val="16033473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27</a:t>
            </a:fld>
            <a:endParaRPr lang="en-US"/>
          </a:p>
        </p:txBody>
      </p:sp>
      <p:sp>
        <p:nvSpPr>
          <p:cNvPr id="6" name="Rectangle 5"/>
          <p:cNvSpPr/>
          <p:nvPr/>
        </p:nvSpPr>
        <p:spPr>
          <a:xfrm>
            <a:off x="427703" y="1182540"/>
            <a:ext cx="11336594" cy="2800767"/>
          </a:xfrm>
          <a:prstGeom prst="rect">
            <a:avLst/>
          </a:prstGeom>
        </p:spPr>
        <p:txBody>
          <a:bodyPr wrap="square">
            <a:spAutoFit/>
          </a:bodyPr>
          <a:lstStyle/>
          <a:p>
            <a:r>
              <a:rPr lang="en-GB" sz="1600"/>
              <a:t>Please avoid using all capital letters and high priority flags in initial or follow-up requests to a journalist and don’t insist upon their reply. Journalists receive many invitations and it is not always possible for them to reply individually. You may be contacting journalists who are also important contacts of our Communications department for the School. Thank you for being mindful of these relationships.</a:t>
            </a:r>
          </a:p>
          <a:p>
            <a:endParaRPr lang="en-GB" sz="1600"/>
          </a:p>
          <a:p>
            <a:pPr fontAlgn="base"/>
            <a:r>
              <a:rPr lang="en-GB" sz="1600" b="1"/>
              <a:t>Press invitations</a:t>
            </a:r>
            <a:endParaRPr lang="en-GB" sz="1600"/>
          </a:p>
          <a:p>
            <a:pPr fontAlgn="base"/>
            <a:r>
              <a:rPr lang="en-GB" sz="1600"/>
              <a:t>Please use the template on the following slide when inviting external media to your event:</a:t>
            </a:r>
          </a:p>
          <a:p>
            <a:pPr fontAlgn="base"/>
            <a:r>
              <a:rPr lang="en-GB" sz="1600"/>
              <a:t> </a:t>
            </a:r>
          </a:p>
          <a:p>
            <a:endParaRPr lang="en-GB" sz="1600"/>
          </a:p>
          <a:p>
            <a:endParaRPr lang="en-GB" sz="1600"/>
          </a:p>
          <a:p>
            <a:endParaRPr lang="en-GB" sz="1600"/>
          </a:p>
        </p:txBody>
      </p:sp>
      <p:sp>
        <p:nvSpPr>
          <p:cNvPr id="12" name="Title 11"/>
          <p:cNvSpPr>
            <a:spLocks noGrp="1"/>
          </p:cNvSpPr>
          <p:nvPr>
            <p:ph type="title"/>
          </p:nvPr>
        </p:nvSpPr>
        <p:spPr/>
        <p:txBody>
          <a:bodyPr/>
          <a:lstStyle/>
          <a:p>
            <a:r>
              <a:rPr lang="en-GB" b="1"/>
              <a:t>Communications</a:t>
            </a:r>
            <a:endParaRPr lang="en-GB"/>
          </a:p>
        </p:txBody>
      </p:sp>
    </p:spTree>
    <p:extLst>
      <p:ext uri="{BB962C8B-B14F-4D97-AF65-F5344CB8AC3E}">
        <p14:creationId xmlns:p14="http://schemas.microsoft.com/office/powerpoint/2010/main" val="25114645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28</a:t>
            </a:fld>
            <a:endParaRPr lang="en-US"/>
          </a:p>
        </p:txBody>
      </p:sp>
      <p:sp>
        <p:nvSpPr>
          <p:cNvPr id="4" name="Title 3"/>
          <p:cNvSpPr>
            <a:spLocks noGrp="1"/>
          </p:cNvSpPr>
          <p:nvPr>
            <p:ph type="title"/>
          </p:nvPr>
        </p:nvSpPr>
        <p:spPr/>
        <p:txBody>
          <a:bodyPr/>
          <a:lstStyle/>
          <a:p>
            <a:r>
              <a:rPr lang="en-GB" b="1"/>
              <a:t>Press invitation template</a:t>
            </a:r>
          </a:p>
        </p:txBody>
      </p:sp>
      <p:sp>
        <p:nvSpPr>
          <p:cNvPr id="6" name="Rectangle 5"/>
          <p:cNvSpPr/>
          <p:nvPr/>
        </p:nvSpPr>
        <p:spPr>
          <a:xfrm>
            <a:off x="427703" y="651598"/>
            <a:ext cx="11336594" cy="6324808"/>
          </a:xfrm>
          <a:prstGeom prst="rect">
            <a:avLst/>
          </a:prstGeom>
        </p:spPr>
        <p:txBody>
          <a:bodyPr wrap="square">
            <a:spAutoFit/>
          </a:bodyPr>
          <a:lstStyle/>
          <a:p>
            <a:pPr fontAlgn="base"/>
            <a:r>
              <a:rPr lang="en-GB" sz="1500"/>
              <a:t> </a:t>
            </a:r>
          </a:p>
          <a:p>
            <a:pPr fontAlgn="base"/>
            <a:r>
              <a:rPr lang="en-US" sz="1500" b="1"/>
              <a:t>[INSERT STUDENT CLUB LOGO/LBS LOGO + STUDENT CLUB LOGO LOCKUP]</a:t>
            </a:r>
            <a:endParaRPr lang="en-GB" sz="1500"/>
          </a:p>
          <a:p>
            <a:pPr fontAlgn="base"/>
            <a:r>
              <a:rPr lang="en-US" sz="1500" b="1"/>
              <a:t> </a:t>
            </a:r>
            <a:endParaRPr lang="en-GB" sz="1500"/>
          </a:p>
          <a:p>
            <a:pPr fontAlgn="base"/>
            <a:r>
              <a:rPr lang="en-US" sz="1500"/>
              <a:t>Dear [INSERT FIRST NAME OF JOURNALIST],</a:t>
            </a:r>
            <a:endParaRPr lang="en-GB" sz="1500"/>
          </a:p>
          <a:p>
            <a:pPr fontAlgn="base"/>
            <a:r>
              <a:rPr lang="en-US" sz="1500"/>
              <a:t>I wanted to let you know that London Business School’s [INSERT NAME OF STUDENT CLUB] will be holding its [INSERT NAME OF EVENT] on [INSERT DATE OF EVENT]. </a:t>
            </a:r>
          </a:p>
          <a:p>
            <a:pPr fontAlgn="base"/>
            <a:endParaRPr lang="en-US" sz="1500"/>
          </a:p>
          <a:p>
            <a:pPr fontAlgn="base"/>
            <a:endParaRPr lang="en-US" sz="1500"/>
          </a:p>
          <a:p>
            <a:pPr fontAlgn="base"/>
            <a:endParaRPr lang="en-US" sz="1500"/>
          </a:p>
          <a:p>
            <a:pPr fontAlgn="base"/>
            <a:endParaRPr lang="en-US" sz="1500"/>
          </a:p>
          <a:p>
            <a:pPr fontAlgn="base"/>
            <a:endParaRPr lang="en-US" sz="1500"/>
          </a:p>
          <a:p>
            <a:pPr fontAlgn="base"/>
            <a:endParaRPr lang="en-US" sz="1500"/>
          </a:p>
          <a:p>
            <a:pPr fontAlgn="base"/>
            <a:endParaRPr lang="en-US" sz="1500"/>
          </a:p>
          <a:p>
            <a:pPr fontAlgn="base"/>
            <a:endParaRPr lang="en-US" sz="1500"/>
          </a:p>
          <a:p>
            <a:pPr fontAlgn="base"/>
            <a:endParaRPr lang="en-US" sz="1500"/>
          </a:p>
          <a:p>
            <a:pPr fontAlgn="base"/>
            <a:endParaRPr lang="en-US" sz="1500"/>
          </a:p>
          <a:p>
            <a:pPr fontAlgn="base"/>
            <a:endParaRPr lang="en-US" sz="1500"/>
          </a:p>
          <a:p>
            <a:pPr fontAlgn="base"/>
            <a:endParaRPr lang="en-US" sz="1500"/>
          </a:p>
          <a:p>
            <a:pPr fontAlgn="base"/>
            <a:endParaRPr lang="en-US" sz="1500"/>
          </a:p>
          <a:p>
            <a:r>
              <a:rPr lang="en-GB" sz="1500"/>
              <a:t>More information on the Summit [EMBED HYPERLINK].</a:t>
            </a:r>
          </a:p>
          <a:p>
            <a:endParaRPr lang="en-GB" sz="1500"/>
          </a:p>
          <a:p>
            <a:r>
              <a:rPr lang="en-GB" sz="1500"/>
              <a:t>Do let me know if you or any of your colleagues would like to attend; we would gladly host you.</a:t>
            </a:r>
          </a:p>
          <a:p>
            <a:r>
              <a:rPr lang="en-GB" sz="1500"/>
              <a:t>Kind regards, 		</a:t>
            </a:r>
          </a:p>
          <a:p>
            <a:r>
              <a:rPr lang="en-GB" sz="1500"/>
              <a:t>[INSERT NAME OF SENDER]</a:t>
            </a:r>
          </a:p>
          <a:p>
            <a:endParaRPr lang="en-GB" sz="1500"/>
          </a:p>
          <a:p>
            <a:endParaRPr lang="en-GB" sz="1500"/>
          </a:p>
        </p:txBody>
      </p:sp>
      <p:graphicFrame>
        <p:nvGraphicFramePr>
          <p:cNvPr id="11" name="Table 10"/>
          <p:cNvGraphicFramePr>
            <a:graphicFrameLocks noGrp="1"/>
          </p:cNvGraphicFramePr>
          <p:nvPr>
            <p:extLst>
              <p:ext uri="{D42A27DB-BD31-4B8C-83A1-F6EECF244321}">
                <p14:modId xmlns:p14="http://schemas.microsoft.com/office/powerpoint/2010/main" val="2817888616"/>
              </p:ext>
            </p:extLst>
          </p:nvPr>
        </p:nvGraphicFramePr>
        <p:xfrm>
          <a:off x="501573" y="2208820"/>
          <a:ext cx="5724525" cy="2683066"/>
        </p:xfrm>
        <a:graphic>
          <a:graphicData uri="http://schemas.openxmlformats.org/drawingml/2006/table">
            <a:tbl>
              <a:tblPr firstRow="1" firstCol="1" lastRow="1" lastCol="1" bandRow="1" bandCol="1"/>
              <a:tblGrid>
                <a:gridCol w="1143000">
                  <a:extLst>
                    <a:ext uri="{9D8B030D-6E8A-4147-A177-3AD203B41FA5}">
                      <a16:colId xmlns:a16="http://schemas.microsoft.com/office/drawing/2014/main" val="1425974628"/>
                    </a:ext>
                  </a:extLst>
                </a:gridCol>
                <a:gridCol w="4581525">
                  <a:extLst>
                    <a:ext uri="{9D8B030D-6E8A-4147-A177-3AD203B41FA5}">
                      <a16:colId xmlns:a16="http://schemas.microsoft.com/office/drawing/2014/main" val="3623642918"/>
                    </a:ext>
                  </a:extLst>
                </a:gridCol>
              </a:tblGrid>
              <a:tr h="0">
                <a:tc>
                  <a:txBody>
                    <a:bodyPr/>
                    <a:lstStyle/>
                    <a:p>
                      <a:pPr>
                        <a:lnSpc>
                          <a:spcPct val="120000"/>
                        </a:lnSpc>
                        <a:spcAft>
                          <a:spcPts val="1200"/>
                        </a:spcAft>
                      </a:pPr>
                      <a:r>
                        <a:rPr lang="en-US" sz="1400" b="1">
                          <a:solidFill>
                            <a:srgbClr val="001E62"/>
                          </a:solidFill>
                          <a:effectLst/>
                          <a:latin typeface="Arial" panose="020B0604020202020204" pitchFamily="34" charset="0"/>
                          <a:ea typeface="Arial" panose="020B0604020202020204" pitchFamily="34" charset="0"/>
                          <a:cs typeface="Arial" panose="020B0604020202020204" pitchFamily="34" charset="0"/>
                        </a:rPr>
                        <a:t>What:</a:t>
                      </a:r>
                      <a:endParaRPr lang="en-GB" sz="1400">
                        <a:solidFill>
                          <a:srgbClr val="001E62"/>
                        </a:solidFill>
                        <a:effectLst/>
                        <a:latin typeface="Arial" panose="020B0604020202020204" pitchFamily="34" charset="0"/>
                        <a:ea typeface="Arial" panose="020B0604020202020204" pitchFamily="34" charset="0"/>
                        <a:cs typeface="Times New Roman" panose="02020603050405020304" pitchFamily="18" charset="0"/>
                      </a:endParaRPr>
                    </a:p>
                    <a:p>
                      <a:pPr>
                        <a:lnSpc>
                          <a:spcPct val="120000"/>
                        </a:lnSpc>
                        <a:spcAft>
                          <a:spcPts val="1200"/>
                        </a:spcAft>
                      </a:pPr>
                      <a:r>
                        <a:rPr lang="en-US" sz="1400" b="1">
                          <a:solidFill>
                            <a:srgbClr val="001E62"/>
                          </a:solidFill>
                          <a:effectLst/>
                          <a:latin typeface="Arial" panose="020B0604020202020204" pitchFamily="34" charset="0"/>
                          <a:ea typeface="Arial" panose="020B0604020202020204" pitchFamily="34" charset="0"/>
                          <a:cs typeface="Arial" panose="020B0604020202020204" pitchFamily="34" charset="0"/>
                        </a:rPr>
                        <a:t>Date:</a:t>
                      </a:r>
                      <a:endParaRPr lang="en-GB" sz="1400">
                        <a:solidFill>
                          <a:srgbClr val="001E62"/>
                        </a:solidFill>
                        <a:effectLst/>
                        <a:latin typeface="Arial" panose="020B0604020202020204" pitchFamily="34" charset="0"/>
                        <a:ea typeface="Arial" panose="020B0604020202020204" pitchFamily="34" charset="0"/>
                        <a:cs typeface="Times New Roman" panose="02020603050405020304" pitchFamily="18" charset="0"/>
                      </a:endParaRPr>
                    </a:p>
                    <a:p>
                      <a:pPr>
                        <a:lnSpc>
                          <a:spcPct val="120000"/>
                        </a:lnSpc>
                        <a:spcAft>
                          <a:spcPts val="1200"/>
                        </a:spcAft>
                      </a:pPr>
                      <a:r>
                        <a:rPr lang="en-US" sz="1400" b="1">
                          <a:solidFill>
                            <a:srgbClr val="001E62"/>
                          </a:solidFill>
                          <a:effectLst/>
                          <a:latin typeface="Arial" panose="020B0604020202020204" pitchFamily="34" charset="0"/>
                          <a:ea typeface="Arial" panose="020B0604020202020204" pitchFamily="34" charset="0"/>
                          <a:cs typeface="Arial" panose="020B0604020202020204" pitchFamily="34" charset="0"/>
                        </a:rPr>
                        <a:t>Time:</a:t>
                      </a:r>
                      <a:endParaRPr lang="en-GB" sz="1400">
                        <a:solidFill>
                          <a:srgbClr val="001E62"/>
                        </a:solidFill>
                        <a:effectLst/>
                        <a:latin typeface="Arial" panose="020B0604020202020204" pitchFamily="34" charset="0"/>
                        <a:ea typeface="Arial" panose="020B0604020202020204" pitchFamily="34" charset="0"/>
                        <a:cs typeface="Times New Roman" panose="02020603050405020304" pitchFamily="18" charset="0"/>
                      </a:endParaRPr>
                    </a:p>
                    <a:p>
                      <a:pPr>
                        <a:lnSpc>
                          <a:spcPct val="120000"/>
                        </a:lnSpc>
                        <a:spcAft>
                          <a:spcPts val="1200"/>
                        </a:spcAft>
                      </a:pPr>
                      <a:r>
                        <a:rPr lang="en-US" sz="1400" b="1">
                          <a:solidFill>
                            <a:srgbClr val="001E62"/>
                          </a:solidFill>
                          <a:effectLst/>
                          <a:latin typeface="Arial" panose="020B0604020202020204" pitchFamily="34" charset="0"/>
                          <a:ea typeface="Arial" panose="020B0604020202020204" pitchFamily="34" charset="0"/>
                          <a:cs typeface="Arial" panose="020B0604020202020204" pitchFamily="34" charset="0"/>
                        </a:rPr>
                        <a:t>Location:</a:t>
                      </a:r>
                      <a:endParaRPr lang="en-GB" sz="1400">
                        <a:solidFill>
                          <a:srgbClr val="001E62"/>
                        </a:solidFill>
                        <a:effectLst/>
                        <a:latin typeface="Arial" panose="020B0604020202020204" pitchFamily="34" charset="0"/>
                        <a:ea typeface="Arial" panose="020B0604020202020204" pitchFamily="34" charset="0"/>
                        <a:cs typeface="Times New Roman" panose="02020603050405020304" pitchFamily="18" charset="0"/>
                      </a:endParaRPr>
                    </a:p>
                    <a:p>
                      <a:pPr>
                        <a:lnSpc>
                          <a:spcPct val="120000"/>
                        </a:lnSpc>
                        <a:spcAft>
                          <a:spcPts val="1200"/>
                        </a:spcAft>
                      </a:pPr>
                      <a:r>
                        <a:rPr lang="en-US" sz="1400" b="1">
                          <a:solidFill>
                            <a:srgbClr val="001E62"/>
                          </a:solidFill>
                          <a:effectLst/>
                          <a:latin typeface="Arial" panose="020B0604020202020204" pitchFamily="34" charset="0"/>
                          <a:ea typeface="Arial" panose="020B0604020202020204" pitchFamily="34" charset="0"/>
                          <a:cs typeface="Arial" panose="020B0604020202020204" pitchFamily="34" charset="0"/>
                        </a:rPr>
                        <a:t>Theme:</a:t>
                      </a:r>
                      <a:endParaRPr lang="en-GB" sz="1400">
                        <a:solidFill>
                          <a:srgbClr val="001E62"/>
                        </a:solidFill>
                        <a:effectLst/>
                        <a:latin typeface="Arial" panose="020B0604020202020204" pitchFamily="34" charset="0"/>
                        <a:ea typeface="Arial" panose="020B0604020202020204" pitchFamily="34" charset="0"/>
                        <a:cs typeface="Times New Roman" panose="02020603050405020304" pitchFamily="18" charset="0"/>
                      </a:endParaRPr>
                    </a:p>
                    <a:p>
                      <a:pPr>
                        <a:lnSpc>
                          <a:spcPct val="120000"/>
                        </a:lnSpc>
                        <a:spcAft>
                          <a:spcPts val="1200"/>
                        </a:spcAft>
                      </a:pPr>
                      <a:r>
                        <a:rPr lang="en-US" sz="1400" b="1">
                          <a:solidFill>
                            <a:srgbClr val="001E62"/>
                          </a:solidFill>
                          <a:effectLst/>
                          <a:latin typeface="Arial" panose="020B0604020202020204" pitchFamily="34" charset="0"/>
                          <a:ea typeface="Arial" panose="020B0604020202020204" pitchFamily="34" charset="0"/>
                          <a:cs typeface="Arial" panose="020B0604020202020204" pitchFamily="34" charset="0"/>
                        </a:rPr>
                        <a:t>Speakers:</a:t>
                      </a:r>
                      <a:endParaRPr lang="en-GB" sz="1400">
                        <a:solidFill>
                          <a:srgbClr val="001E62"/>
                        </a:solidFill>
                        <a:effectLst/>
                        <a:latin typeface="Arial" panose="020B0604020202020204" pitchFamily="34" charset="0"/>
                        <a:ea typeface="Arial" panose="020B0604020202020204" pitchFamily="34" charset="0"/>
                        <a:cs typeface="Times New Roman" panose="02020603050405020304" pitchFamily="18" charset="0"/>
                      </a:endParaRPr>
                    </a:p>
                    <a:p>
                      <a:pPr>
                        <a:lnSpc>
                          <a:spcPct val="120000"/>
                        </a:lnSpc>
                        <a:spcAft>
                          <a:spcPts val="1200"/>
                        </a:spcAft>
                      </a:pPr>
                      <a:r>
                        <a:rPr lang="en-US" sz="1400" b="1">
                          <a:solidFill>
                            <a:srgbClr val="001E62"/>
                          </a:solidFill>
                          <a:effectLst/>
                          <a:latin typeface="Arial" panose="020B0604020202020204" pitchFamily="34" charset="0"/>
                          <a:ea typeface="Arial" panose="020B0604020202020204" pitchFamily="34" charset="0"/>
                          <a:cs typeface="Arial" panose="020B0604020202020204" pitchFamily="34" charset="0"/>
                        </a:rPr>
                        <a:t>RSVP:</a:t>
                      </a:r>
                      <a:endParaRPr lang="en-GB" sz="1400">
                        <a:solidFill>
                          <a:srgbClr val="001E62"/>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a:lnSpc>
                          <a:spcPct val="120000"/>
                        </a:lnSpc>
                        <a:spcAft>
                          <a:spcPts val="1200"/>
                        </a:spcAft>
                      </a:pPr>
                      <a:r>
                        <a:rPr lang="en-US" sz="1000">
                          <a:solidFill>
                            <a:srgbClr val="001E62"/>
                          </a:solidFill>
                          <a:effectLst/>
                          <a:latin typeface="Arial" panose="020B0604020202020204" pitchFamily="34" charset="0"/>
                          <a:ea typeface="Arial" panose="020B0604020202020204" pitchFamily="34" charset="0"/>
                          <a:cs typeface="Arial" panose="020B0604020202020204" pitchFamily="34" charset="0"/>
                        </a:rPr>
                        <a:t> </a:t>
                      </a:r>
                      <a:endParaRPr lang="en-GB" sz="1000">
                        <a:solidFill>
                          <a:srgbClr val="001E62"/>
                        </a:solidFill>
                        <a:effectLst/>
                        <a:latin typeface="Arial" panose="020B0604020202020204" pitchFamily="34" charset="0"/>
                        <a:ea typeface="Arial" panose="020B0604020202020204" pitchFamily="34" charset="0"/>
                        <a:cs typeface="Times New Roman" panose="02020603050405020304" pitchFamily="18" charset="0"/>
                      </a:endParaRPr>
                    </a:p>
                    <a:p>
                      <a:pPr>
                        <a:lnSpc>
                          <a:spcPct val="120000"/>
                        </a:lnSpc>
                        <a:spcAft>
                          <a:spcPts val="1200"/>
                        </a:spcAft>
                      </a:pPr>
                      <a:r>
                        <a:rPr lang="en-US" sz="1000">
                          <a:solidFill>
                            <a:srgbClr val="001E62"/>
                          </a:solidFill>
                          <a:effectLst/>
                          <a:latin typeface="Arial" panose="020B0604020202020204" pitchFamily="34" charset="0"/>
                          <a:ea typeface="Arial" panose="020B0604020202020204" pitchFamily="34" charset="0"/>
                          <a:cs typeface="Arial" panose="020B0604020202020204" pitchFamily="34" charset="0"/>
                        </a:rPr>
                        <a:t> </a:t>
                      </a:r>
                      <a:endParaRPr lang="en-GB" sz="1000">
                        <a:solidFill>
                          <a:srgbClr val="001E62"/>
                        </a:solidFill>
                        <a:effectLst/>
                        <a:latin typeface="Arial" panose="020B0604020202020204" pitchFamily="34" charset="0"/>
                        <a:ea typeface="Arial" panose="020B0604020202020204" pitchFamily="34" charset="0"/>
                        <a:cs typeface="Times New Roman" panose="02020603050405020304" pitchFamily="18" charset="0"/>
                      </a:endParaRPr>
                    </a:p>
                    <a:p>
                      <a:pPr>
                        <a:lnSpc>
                          <a:spcPct val="120000"/>
                        </a:lnSpc>
                        <a:spcAft>
                          <a:spcPts val="1200"/>
                        </a:spcAft>
                      </a:pPr>
                      <a:r>
                        <a:rPr lang="en-US" sz="1000">
                          <a:solidFill>
                            <a:srgbClr val="001E62"/>
                          </a:solidFill>
                          <a:effectLst/>
                          <a:latin typeface="Arial" panose="020B0604020202020204" pitchFamily="34" charset="0"/>
                          <a:ea typeface="Arial" panose="020B0604020202020204" pitchFamily="34" charset="0"/>
                          <a:cs typeface="Arial" panose="020B0604020202020204" pitchFamily="34" charset="0"/>
                        </a:rPr>
                        <a:t> </a:t>
                      </a:r>
                      <a:endParaRPr lang="en-GB" sz="1000">
                        <a:solidFill>
                          <a:srgbClr val="001E62"/>
                        </a:solidFill>
                        <a:effectLst/>
                        <a:latin typeface="Arial" panose="020B0604020202020204" pitchFamily="34" charset="0"/>
                        <a:ea typeface="Arial" panose="020B0604020202020204" pitchFamily="34" charset="0"/>
                        <a:cs typeface="Times New Roman" panose="02020603050405020304" pitchFamily="18" charset="0"/>
                      </a:endParaRPr>
                    </a:p>
                    <a:p>
                      <a:pPr>
                        <a:lnSpc>
                          <a:spcPct val="120000"/>
                        </a:lnSpc>
                        <a:spcAft>
                          <a:spcPts val="1200"/>
                        </a:spcAft>
                      </a:pPr>
                      <a:r>
                        <a:rPr lang="en-US" sz="1000">
                          <a:solidFill>
                            <a:srgbClr val="001E62"/>
                          </a:solidFill>
                          <a:effectLst/>
                          <a:latin typeface="Arial" panose="020B0604020202020204" pitchFamily="34" charset="0"/>
                          <a:ea typeface="Arial" panose="020B0604020202020204" pitchFamily="34" charset="0"/>
                          <a:cs typeface="Arial" panose="020B0604020202020204" pitchFamily="34" charset="0"/>
                        </a:rPr>
                        <a:t> </a:t>
                      </a:r>
                      <a:endParaRPr lang="en-GB" sz="1000">
                        <a:solidFill>
                          <a:srgbClr val="001E62"/>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349579939"/>
                  </a:ext>
                </a:extLst>
              </a:tr>
            </a:tbl>
          </a:graphicData>
        </a:graphic>
      </p:graphicFrame>
    </p:spTree>
    <p:extLst>
      <p:ext uri="{BB962C8B-B14F-4D97-AF65-F5344CB8AC3E}">
        <p14:creationId xmlns:p14="http://schemas.microsoft.com/office/powerpoint/2010/main" val="17976312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29</a:t>
            </a:fld>
            <a:endParaRPr lang="en-US"/>
          </a:p>
        </p:txBody>
      </p:sp>
      <p:sp>
        <p:nvSpPr>
          <p:cNvPr id="4" name="Title 3"/>
          <p:cNvSpPr>
            <a:spLocks noGrp="1"/>
          </p:cNvSpPr>
          <p:nvPr>
            <p:ph type="title"/>
          </p:nvPr>
        </p:nvSpPr>
        <p:spPr/>
        <p:txBody>
          <a:bodyPr/>
          <a:lstStyle/>
          <a:p>
            <a:r>
              <a:rPr lang="en-GB" b="1"/>
              <a:t>Communications</a:t>
            </a:r>
            <a:endParaRPr lang="en-GB"/>
          </a:p>
        </p:txBody>
      </p:sp>
      <p:sp>
        <p:nvSpPr>
          <p:cNvPr id="6" name="Rectangle 5"/>
          <p:cNvSpPr/>
          <p:nvPr/>
        </p:nvSpPr>
        <p:spPr>
          <a:xfrm>
            <a:off x="442451" y="959973"/>
            <a:ext cx="11307097" cy="5088060"/>
          </a:xfrm>
          <a:prstGeom prst="rect">
            <a:avLst/>
          </a:prstGeom>
        </p:spPr>
        <p:txBody>
          <a:bodyPr wrap="square">
            <a:spAutoFit/>
          </a:bodyPr>
          <a:lstStyle/>
          <a:p>
            <a:pPr fontAlgn="base">
              <a:lnSpc>
                <a:spcPct val="120000"/>
              </a:lnSpc>
              <a:spcAft>
                <a:spcPts val="0"/>
              </a:spcAft>
            </a:pPr>
            <a:r>
              <a:rPr lang="en-GB" sz="1600" b="1" dirty="0">
                <a:latin typeface="Arial" panose="020B0604020202020204" pitchFamily="34" charset="0"/>
                <a:ea typeface="Arial" panose="020B0604020202020204" pitchFamily="34" charset="0"/>
                <a:cs typeface="Arial" panose="020B0604020202020204" pitchFamily="34" charset="0"/>
              </a:rPr>
              <a:t>Press releases</a:t>
            </a:r>
            <a:endParaRPr lang="en-GB" sz="16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600" dirty="0">
                <a:latin typeface="Arial" panose="020B0604020202020204" pitchFamily="34" charset="0"/>
                <a:ea typeface="Arial" panose="020B0604020202020204" pitchFamily="34" charset="0"/>
                <a:cs typeface="Arial" panose="020B0604020202020204" pitchFamily="34" charset="0"/>
              </a:rPr>
              <a:t>A press release – especially pre-event – is not necessarily the best way to secure coverage of your event. Journalists are unlikely to cover an event they have not yet attended and their decision to write about it (attendance doesn’t guarantee media coverage) will be determined largely by strength of content and its relevance to the news agenda.</a:t>
            </a:r>
            <a:endParaRPr lang="en-GB" sz="1600" dirty="0">
              <a:latin typeface="Arial" panose="020B0604020202020204" pitchFamily="34" charset="0"/>
              <a:ea typeface="Arial" panose="020B0604020202020204" pitchFamily="34" charset="0"/>
              <a:cs typeface="Times New Roman" panose="02020603050405020304" pitchFamily="18" charset="0"/>
            </a:endParaRPr>
          </a:p>
          <a:p>
            <a:pPr>
              <a:lnSpc>
                <a:spcPct val="120000"/>
              </a:lnSpc>
              <a:spcAft>
                <a:spcPts val="0"/>
              </a:spcAft>
            </a:pPr>
            <a:r>
              <a:rPr lang="en-GB" sz="1600" dirty="0">
                <a:latin typeface="Arial" panose="020B0604020202020204" pitchFamily="34" charset="0"/>
                <a:ea typeface="Arial" panose="020B0604020202020204" pitchFamily="34" charset="0"/>
                <a:cs typeface="Times New Roman" panose="02020603050405020304" pitchFamily="18" charset="0"/>
              </a:rPr>
              <a:t> </a:t>
            </a:r>
          </a:p>
          <a:p>
            <a:pPr fontAlgn="base">
              <a:lnSpc>
                <a:spcPct val="120000"/>
              </a:lnSpc>
              <a:spcAft>
                <a:spcPts val="0"/>
              </a:spcAft>
            </a:pPr>
            <a:r>
              <a:rPr lang="en-GB" sz="1600" dirty="0">
                <a:latin typeface="Arial" panose="020B0604020202020204" pitchFamily="34" charset="0"/>
                <a:ea typeface="Arial" panose="020B0604020202020204" pitchFamily="34" charset="0"/>
                <a:cs typeface="Arial" panose="020B0604020202020204" pitchFamily="34" charset="0"/>
              </a:rPr>
              <a:t>If you are sending a press release to media post-event, consider offering follow-up interviews with speaker/participant (as appropriate) consent. Please email your release to </a:t>
            </a:r>
            <a:r>
              <a:rPr lang="en-GB" sz="1600" u="sng" dirty="0">
                <a:latin typeface="Arial" panose="020B0604020202020204" pitchFamily="34" charset="0"/>
                <a:ea typeface="Arial" panose="020B0604020202020204" pitchFamily="34" charset="0"/>
                <a:cs typeface="Arial" panose="020B0604020202020204" pitchFamily="34" charset="0"/>
                <a:hlinkClick r:id="rId2"/>
              </a:rPr>
              <a:t>press@london.edu</a:t>
            </a:r>
            <a:r>
              <a:rPr lang="en-GB" sz="1600" dirty="0">
                <a:latin typeface="Arial" panose="020B0604020202020204" pitchFamily="34" charset="0"/>
                <a:ea typeface="Arial" panose="020B0604020202020204" pitchFamily="34" charset="0"/>
                <a:cs typeface="Arial" panose="020B0604020202020204" pitchFamily="34" charset="0"/>
              </a:rPr>
              <a:t> allowing for a minimum 24-hour turnaround if it references LBS and or uses the LBS logo. Thank you in advance for sharing this with us.</a:t>
            </a:r>
            <a:endParaRPr lang="en-GB" sz="16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600" b="1" dirty="0">
                <a:latin typeface="Arial" panose="020B0604020202020204" pitchFamily="34" charset="0"/>
                <a:ea typeface="Arial" panose="020B0604020202020204" pitchFamily="34" charset="0"/>
                <a:cs typeface="Arial" panose="020B0604020202020204" pitchFamily="34" charset="0"/>
              </a:rPr>
              <a:t> </a:t>
            </a:r>
            <a:endParaRPr lang="en-GB" sz="16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600" b="1" dirty="0">
                <a:latin typeface="Arial" panose="020B0604020202020204" pitchFamily="34" charset="0"/>
                <a:ea typeface="Arial" panose="020B0604020202020204" pitchFamily="34" charset="0"/>
                <a:cs typeface="Arial" panose="020B0604020202020204" pitchFamily="34" charset="0"/>
              </a:rPr>
              <a:t>Public Relations agencies</a:t>
            </a:r>
            <a:endParaRPr lang="en-GB" sz="16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600" dirty="0">
                <a:latin typeface="Arial" panose="020B0604020202020204" pitchFamily="34" charset="0"/>
                <a:ea typeface="Arial" panose="020B0604020202020204" pitchFamily="34" charset="0"/>
                <a:cs typeface="Arial" panose="020B0604020202020204" pitchFamily="34" charset="0"/>
              </a:rPr>
              <a:t>If you have engaged the services of a Public Relations agency to promote your event, we would be grateful if you could please advise us at </a:t>
            </a:r>
            <a:r>
              <a:rPr lang="en-GB" sz="1600" u="sng" dirty="0">
                <a:latin typeface="Arial" panose="020B0604020202020204" pitchFamily="34" charset="0"/>
                <a:ea typeface="Arial" panose="020B0604020202020204" pitchFamily="34" charset="0"/>
                <a:cs typeface="Arial" panose="020B0604020202020204" pitchFamily="34" charset="0"/>
                <a:hlinkClick r:id="rId2"/>
              </a:rPr>
              <a:t>press@london.edu</a:t>
            </a:r>
            <a:r>
              <a:rPr lang="en-GB" sz="1600" dirty="0">
                <a:latin typeface="Arial" panose="020B0604020202020204" pitchFamily="34" charset="0"/>
                <a:ea typeface="Arial" panose="020B0604020202020204" pitchFamily="34" charset="0"/>
                <a:cs typeface="Arial" panose="020B0604020202020204" pitchFamily="34" charset="0"/>
              </a:rPr>
              <a:t>. Thank you.</a:t>
            </a:r>
            <a:endParaRPr lang="en-GB" sz="16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US" sz="1600" dirty="0">
                <a:latin typeface="Arial" panose="020B0604020202020204" pitchFamily="34" charset="0"/>
                <a:ea typeface="Arial" panose="020B0604020202020204" pitchFamily="34" charset="0"/>
                <a:cs typeface="Arial" panose="020B0604020202020204" pitchFamily="34" charset="0"/>
              </a:rPr>
              <a:t> </a:t>
            </a:r>
            <a:endParaRPr lang="en-GB" sz="16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600" b="1" dirty="0">
                <a:latin typeface="Arial" panose="020B0604020202020204" pitchFamily="34" charset="0"/>
                <a:ea typeface="Arial" panose="020B0604020202020204" pitchFamily="34" charset="0"/>
                <a:cs typeface="Arial" panose="020B0604020202020204" pitchFamily="34" charset="0"/>
              </a:rPr>
              <a:t>Journalist enquiries</a:t>
            </a:r>
            <a:endParaRPr lang="en-GB" sz="16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600" dirty="0">
                <a:latin typeface="Arial" panose="020B0604020202020204" pitchFamily="34" charset="0"/>
                <a:ea typeface="Arial" panose="020B0604020202020204" pitchFamily="34" charset="0"/>
                <a:cs typeface="Arial" panose="020B0604020202020204" pitchFamily="34" charset="0"/>
              </a:rPr>
              <a:t>Please forward or direct any enquiries from journalists that are not in direct response to an invitation/communication from you to </a:t>
            </a:r>
            <a:r>
              <a:rPr lang="en-GB" sz="1600" u="sng" dirty="0">
                <a:latin typeface="Arial" panose="020B0604020202020204" pitchFamily="34" charset="0"/>
                <a:ea typeface="Arial" panose="020B0604020202020204" pitchFamily="34" charset="0"/>
                <a:cs typeface="Arial" panose="020B0604020202020204" pitchFamily="34" charset="0"/>
                <a:hlinkClick r:id="rId2"/>
              </a:rPr>
              <a:t>press@london.edu</a:t>
            </a:r>
            <a:r>
              <a:rPr lang="en-GB" sz="1600" dirty="0">
                <a:latin typeface="Arial" panose="020B0604020202020204" pitchFamily="34" charset="0"/>
                <a:ea typeface="Arial" panose="020B0604020202020204" pitchFamily="34" charset="0"/>
                <a:cs typeface="Arial" panose="020B0604020202020204" pitchFamily="34" charset="0"/>
              </a:rPr>
              <a:t>. Likewise if you are asked any questions or for information that is out with the scope of your event.</a:t>
            </a:r>
            <a:endParaRPr lang="en-GB" sz="1600" dirty="0">
              <a:effectLst/>
              <a:latin typeface="Arial" panose="020B0604020202020204" pitchFamily="34" charset="0"/>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1330685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30</a:t>
            </a:fld>
            <a:endParaRPr lang="en-US"/>
          </a:p>
        </p:txBody>
      </p:sp>
      <p:sp>
        <p:nvSpPr>
          <p:cNvPr id="4" name="Title 3"/>
          <p:cNvSpPr>
            <a:spLocks noGrp="1"/>
          </p:cNvSpPr>
          <p:nvPr>
            <p:ph type="title"/>
          </p:nvPr>
        </p:nvSpPr>
        <p:spPr/>
        <p:txBody>
          <a:bodyPr/>
          <a:lstStyle/>
          <a:p>
            <a:r>
              <a:rPr lang="en-GB" b="1"/>
              <a:t>Communications</a:t>
            </a:r>
            <a:endParaRPr lang="en-GB"/>
          </a:p>
        </p:txBody>
      </p:sp>
      <p:sp>
        <p:nvSpPr>
          <p:cNvPr id="6" name="Rectangle 5"/>
          <p:cNvSpPr/>
          <p:nvPr/>
        </p:nvSpPr>
        <p:spPr>
          <a:xfrm>
            <a:off x="511276" y="563110"/>
            <a:ext cx="11228439" cy="5900590"/>
          </a:xfrm>
          <a:prstGeom prst="rect">
            <a:avLst/>
          </a:prstGeom>
        </p:spPr>
        <p:txBody>
          <a:bodyPr wrap="square">
            <a:spAutoFit/>
          </a:bodyPr>
          <a:lstStyle/>
          <a:p>
            <a:pPr fontAlgn="base">
              <a:lnSpc>
                <a:spcPct val="120000"/>
              </a:lnSpc>
              <a:spcAft>
                <a:spcPts val="0"/>
              </a:spcAft>
            </a:pPr>
            <a:r>
              <a:rPr lang="en-GB" sz="1500" b="1" dirty="0">
                <a:latin typeface="Arial" panose="020B0604020202020204" pitchFamily="34" charset="0"/>
                <a:ea typeface="Arial" panose="020B0604020202020204" pitchFamily="34" charset="0"/>
                <a:cs typeface="Arial" panose="020B0604020202020204" pitchFamily="34" charset="0"/>
              </a:rPr>
              <a:t>LBS Communications department:</a:t>
            </a:r>
            <a:endParaRPr lang="en-GB" sz="15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500" dirty="0">
                <a:latin typeface="Arial" panose="020B0604020202020204" pitchFamily="34" charset="0"/>
                <a:ea typeface="Arial" panose="020B0604020202020204" pitchFamily="34" charset="0"/>
                <a:cs typeface="Arial" panose="020B0604020202020204" pitchFamily="34" charset="0"/>
              </a:rPr>
              <a:t>Creates conversations that inspire, inform and engage our internal, connected and influencer communities, developing powerful advocacy and celebrating our impact on business and the wider world.</a:t>
            </a:r>
            <a:endParaRPr lang="en-GB" sz="1500" dirty="0">
              <a:latin typeface="Arial" panose="020B0604020202020204" pitchFamily="34" charset="0"/>
              <a:ea typeface="Arial" panose="020B0604020202020204" pitchFamily="34" charset="0"/>
              <a:cs typeface="Times New Roman" panose="02020603050405020304" pitchFamily="18" charset="0"/>
            </a:endParaRPr>
          </a:p>
          <a:p>
            <a:pPr>
              <a:lnSpc>
                <a:spcPct val="120000"/>
              </a:lnSpc>
              <a:spcAft>
                <a:spcPts val="0"/>
              </a:spcAft>
            </a:pPr>
            <a:r>
              <a:rPr lang="en-GB" sz="1500" dirty="0">
                <a:latin typeface="Arial" panose="020B0604020202020204" pitchFamily="34" charset="0"/>
                <a:ea typeface="Arial" panose="020B0604020202020204" pitchFamily="34" charset="0"/>
                <a:cs typeface="Times New Roman" panose="02020603050405020304" pitchFamily="18" charset="0"/>
              </a:rPr>
              <a:t> </a:t>
            </a:r>
          </a:p>
          <a:p>
            <a:pPr fontAlgn="base">
              <a:lnSpc>
                <a:spcPct val="120000"/>
              </a:lnSpc>
              <a:spcAft>
                <a:spcPts val="0"/>
              </a:spcAft>
            </a:pPr>
            <a:r>
              <a:rPr lang="en-GB" sz="1500" dirty="0">
                <a:latin typeface="Arial" panose="020B0604020202020204" pitchFamily="34" charset="0"/>
                <a:ea typeface="Arial" panose="020B0604020202020204" pitchFamily="34" charset="0"/>
                <a:cs typeface="Arial" panose="020B0604020202020204" pitchFamily="34" charset="0"/>
              </a:rPr>
              <a:t>The department partners cross-School to elevate and protect LBS brand reputation, amplify research and the LBS learning experience, encourage advocacy and develop a consistent School-wide communications framework. The department is also responsible for corporate media relations.</a:t>
            </a:r>
            <a:endParaRPr lang="en-GB" sz="15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500" dirty="0">
                <a:latin typeface="Arial" panose="020B0604020202020204" pitchFamily="34" charset="0"/>
                <a:ea typeface="Arial" panose="020B0604020202020204" pitchFamily="34" charset="0"/>
                <a:cs typeface="Times New Roman" panose="02020603050405020304" pitchFamily="18" charset="0"/>
              </a:rPr>
              <a:t> </a:t>
            </a:r>
          </a:p>
          <a:p>
            <a:pPr fontAlgn="base">
              <a:lnSpc>
                <a:spcPct val="120000"/>
              </a:lnSpc>
              <a:spcAft>
                <a:spcPts val="0"/>
              </a:spcAft>
            </a:pPr>
            <a:r>
              <a:rPr lang="en-GB" sz="1500" dirty="0">
                <a:latin typeface="Arial" panose="020B0604020202020204" pitchFamily="34" charset="0"/>
                <a:ea typeface="Arial" panose="020B0604020202020204" pitchFamily="34" charset="0"/>
                <a:cs typeface="Arial" panose="020B0604020202020204" pitchFamily="34" charset="0"/>
              </a:rPr>
              <a:t>Useful contacts:</a:t>
            </a:r>
            <a:endParaRPr lang="en-GB" sz="15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500" b="1" dirty="0">
                <a:latin typeface="Arial" panose="020B0604020202020204" pitchFamily="34" charset="0"/>
                <a:ea typeface="Arial" panose="020B0604020202020204" pitchFamily="34" charset="0"/>
                <a:cs typeface="Arial" panose="020B0604020202020204" pitchFamily="34" charset="0"/>
              </a:rPr>
              <a:t>External Communications</a:t>
            </a:r>
            <a:endParaRPr lang="en-GB" sz="15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500" dirty="0">
                <a:latin typeface="Arial" panose="020B0604020202020204" pitchFamily="34" charset="0"/>
                <a:ea typeface="Arial" panose="020B0604020202020204" pitchFamily="34" charset="0"/>
                <a:cs typeface="Arial" panose="020B0604020202020204" pitchFamily="34" charset="0"/>
              </a:rPr>
              <a:t>Email: </a:t>
            </a:r>
            <a:r>
              <a:rPr lang="en-GB" sz="1500" u="sng" dirty="0">
                <a:latin typeface="Arial" panose="020B0604020202020204" pitchFamily="34" charset="0"/>
                <a:ea typeface="Arial" panose="020B0604020202020204" pitchFamily="34" charset="0"/>
                <a:cs typeface="Arial" panose="020B0604020202020204" pitchFamily="34" charset="0"/>
                <a:hlinkClick r:id="rId2"/>
              </a:rPr>
              <a:t>press@london.edu</a:t>
            </a:r>
            <a:endParaRPr lang="en-GB" sz="15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500" dirty="0">
                <a:latin typeface="Arial" panose="020B0604020202020204" pitchFamily="34" charset="0"/>
                <a:ea typeface="Arial" panose="020B0604020202020204" pitchFamily="34" charset="0"/>
                <a:cs typeface="Arial" panose="020B0604020202020204" pitchFamily="34" charset="0"/>
              </a:rPr>
              <a:t>Phone: 020 7000 7111</a:t>
            </a:r>
            <a:endParaRPr lang="en-GB" sz="15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US" sz="1500" dirty="0">
                <a:latin typeface="Arial" panose="020B0604020202020204" pitchFamily="34" charset="0"/>
                <a:ea typeface="Arial" panose="020B0604020202020204" pitchFamily="34" charset="0"/>
                <a:cs typeface="Arial" panose="020B0604020202020204" pitchFamily="34" charset="0"/>
              </a:rPr>
              <a:t> </a:t>
            </a:r>
            <a:endParaRPr lang="en-GB" sz="15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500" b="1" dirty="0">
                <a:latin typeface="Arial" panose="020B0604020202020204" pitchFamily="34" charset="0"/>
                <a:ea typeface="Arial" panose="020B0604020202020204" pitchFamily="34" charset="0"/>
                <a:cs typeface="Arial" panose="020B0604020202020204" pitchFamily="34" charset="0"/>
              </a:rPr>
              <a:t>School Communications</a:t>
            </a:r>
            <a:endParaRPr lang="en-GB" sz="15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500" dirty="0">
                <a:latin typeface="Arial" panose="020B0604020202020204" pitchFamily="34" charset="0"/>
                <a:ea typeface="Arial" panose="020B0604020202020204" pitchFamily="34" charset="0"/>
                <a:cs typeface="Arial" panose="020B0604020202020204" pitchFamily="34" charset="0"/>
              </a:rPr>
              <a:t>Email: </a:t>
            </a:r>
            <a:r>
              <a:rPr lang="en-GB" sz="1500" u="sng" dirty="0">
                <a:latin typeface="Arial" panose="020B0604020202020204" pitchFamily="34" charset="0"/>
                <a:ea typeface="Arial" panose="020B0604020202020204" pitchFamily="34" charset="0"/>
                <a:cs typeface="Arial" panose="020B0604020202020204" pitchFamily="34" charset="0"/>
                <a:hlinkClick r:id="rId3"/>
              </a:rPr>
              <a:t>internalcomms@london.edu</a:t>
            </a:r>
            <a:br>
              <a:rPr lang="en-US" sz="1500" dirty="0">
                <a:latin typeface="Arial" panose="020B0604020202020204" pitchFamily="34" charset="0"/>
                <a:ea typeface="Arial" panose="020B0604020202020204" pitchFamily="34" charset="0"/>
                <a:cs typeface="Times New Roman" panose="02020603050405020304" pitchFamily="18" charset="0"/>
              </a:rPr>
            </a:br>
            <a:r>
              <a:rPr lang="en-US" sz="1500" dirty="0">
                <a:latin typeface="Arial" panose="020B0604020202020204" pitchFamily="34" charset="0"/>
                <a:ea typeface="Arial" panose="020B0604020202020204" pitchFamily="34" charset="0"/>
                <a:cs typeface="Times New Roman" panose="02020603050405020304" pitchFamily="18" charset="0"/>
              </a:rPr>
              <a:t> </a:t>
            </a:r>
            <a:endParaRPr lang="en-GB" sz="1500" dirty="0">
              <a:latin typeface="Arial" panose="020B0604020202020204" pitchFamily="34" charset="0"/>
              <a:ea typeface="Arial" panose="020B0604020202020204" pitchFamily="34" charset="0"/>
              <a:cs typeface="Times New Roman" panose="02020603050405020304" pitchFamily="18" charset="0"/>
            </a:endParaRPr>
          </a:p>
          <a:p>
            <a:pPr fontAlgn="base">
              <a:lnSpc>
                <a:spcPct val="120000"/>
              </a:lnSpc>
              <a:spcAft>
                <a:spcPts val="0"/>
              </a:spcAft>
            </a:pPr>
            <a:r>
              <a:rPr lang="en-GB" sz="1500" dirty="0">
                <a:latin typeface="Arial" panose="020B0604020202020204" pitchFamily="34" charset="0"/>
                <a:ea typeface="Arial" panose="020B0604020202020204" pitchFamily="34" charset="0"/>
                <a:cs typeface="Arial" panose="020B0604020202020204" pitchFamily="34" charset="0"/>
              </a:rPr>
              <a:t>Due to the number of </a:t>
            </a:r>
            <a:r>
              <a:rPr lang="en-GB" sz="1500" dirty="0" err="1">
                <a:latin typeface="Arial" panose="020B0604020202020204" pitchFamily="34" charset="0"/>
                <a:ea typeface="Arial" panose="020B0604020202020204" pitchFamily="34" charset="0"/>
                <a:cs typeface="Arial" panose="020B0604020202020204" pitchFamily="34" charset="0"/>
              </a:rPr>
              <a:t>student-led</a:t>
            </a:r>
            <a:r>
              <a:rPr lang="en-GB" sz="1500" dirty="0">
                <a:latin typeface="Arial" panose="020B0604020202020204" pitchFamily="34" charset="0"/>
                <a:ea typeface="Arial" panose="020B0604020202020204" pitchFamily="34" charset="0"/>
                <a:cs typeface="Arial" panose="020B0604020202020204" pitchFamily="34" charset="0"/>
              </a:rPr>
              <a:t> events, the central Communications department is unable to contact journalists on your behalf, provide on-day media handling or School-wide emails (except in exceptional circumstances).</a:t>
            </a:r>
            <a:endParaRPr lang="en-GB" sz="1500" dirty="0">
              <a:latin typeface="Arial" panose="020B0604020202020204" pitchFamily="34" charset="0"/>
              <a:ea typeface="Arial" panose="020B0604020202020204" pitchFamily="34" charset="0"/>
              <a:cs typeface="Times New Roman" panose="02020603050405020304" pitchFamily="18" charset="0"/>
            </a:endParaRPr>
          </a:p>
          <a:p>
            <a:pPr>
              <a:lnSpc>
                <a:spcPct val="120000"/>
              </a:lnSpc>
              <a:spcAft>
                <a:spcPts val="0"/>
              </a:spcAft>
            </a:pPr>
            <a:r>
              <a:rPr lang="en-GB" sz="1500" dirty="0">
                <a:latin typeface="Arial" panose="020B0604020202020204" pitchFamily="34" charset="0"/>
                <a:ea typeface="Arial" panose="020B0604020202020204" pitchFamily="34" charset="0"/>
                <a:cs typeface="Times New Roman" panose="02020603050405020304" pitchFamily="18" charset="0"/>
              </a:rPr>
              <a:t> </a:t>
            </a:r>
          </a:p>
          <a:p>
            <a:pPr fontAlgn="base">
              <a:lnSpc>
                <a:spcPct val="120000"/>
              </a:lnSpc>
              <a:spcAft>
                <a:spcPts val="0"/>
              </a:spcAft>
            </a:pPr>
            <a:r>
              <a:rPr lang="en-GB" sz="1500" dirty="0">
                <a:latin typeface="Arial" panose="020B0604020202020204" pitchFamily="34" charset="0"/>
                <a:ea typeface="Arial" panose="020B0604020202020204" pitchFamily="34" charset="0"/>
                <a:cs typeface="Arial" panose="020B0604020202020204" pitchFamily="34" charset="0"/>
              </a:rPr>
              <a:t>The team can advise you on choice of channels, reputational considerations and general communications questions you may have when putting together your event</a:t>
            </a:r>
            <a:r>
              <a:rPr lang="en-GB" sz="1600" dirty="0">
                <a:latin typeface="Arial" panose="020B0604020202020204" pitchFamily="34" charset="0"/>
                <a:ea typeface="Arial" panose="020B0604020202020204" pitchFamily="34" charset="0"/>
                <a:cs typeface="Arial" panose="020B0604020202020204" pitchFamily="34" charset="0"/>
              </a:rPr>
              <a:t>.</a:t>
            </a:r>
            <a:endParaRPr lang="en-GB" sz="1600" dirty="0">
              <a:effectLst/>
              <a:latin typeface="Arial" panose="020B0604020202020204" pitchFamily="34" charset="0"/>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1212570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31</a:t>
            </a:fld>
            <a:endParaRPr lang="en-US"/>
          </a:p>
        </p:txBody>
      </p:sp>
      <p:sp>
        <p:nvSpPr>
          <p:cNvPr id="4" name="Title 3"/>
          <p:cNvSpPr>
            <a:spLocks noGrp="1"/>
          </p:cNvSpPr>
          <p:nvPr>
            <p:ph type="title"/>
          </p:nvPr>
        </p:nvSpPr>
        <p:spPr/>
        <p:txBody>
          <a:bodyPr/>
          <a:lstStyle/>
          <a:p>
            <a:r>
              <a:rPr lang="en-GB" b="1"/>
              <a:t>Communications</a:t>
            </a:r>
            <a:endParaRPr lang="en-GB"/>
          </a:p>
        </p:txBody>
      </p:sp>
      <p:sp>
        <p:nvSpPr>
          <p:cNvPr id="8" name="Rectangle 7"/>
          <p:cNvSpPr/>
          <p:nvPr/>
        </p:nvSpPr>
        <p:spPr>
          <a:xfrm>
            <a:off x="476864" y="779414"/>
            <a:ext cx="11154698" cy="5786199"/>
          </a:xfrm>
          <a:prstGeom prst="rect">
            <a:avLst/>
          </a:prstGeom>
        </p:spPr>
        <p:txBody>
          <a:bodyPr wrap="square" lIns="91440" tIns="45720" rIns="91440" bIns="45720" anchor="t">
            <a:spAutoFit/>
          </a:bodyPr>
          <a:lstStyle/>
          <a:p>
            <a:r>
              <a:rPr lang="en-GB" sz="1600"/>
              <a:t>We advise that within your organising committee, you have a dedicated Communications Officer role to manage this aspect of your event. They – or another designated representative – should anticipate:</a:t>
            </a:r>
            <a:endParaRPr lang="en-GB" sz="1600">
              <a:cs typeface="Arial"/>
            </a:endParaRPr>
          </a:p>
          <a:p>
            <a:endParaRPr lang="en-GB" sz="1600">
              <a:cs typeface="Arial"/>
            </a:endParaRPr>
          </a:p>
          <a:p>
            <a:r>
              <a:rPr lang="en-GB" sz="1600"/>
              <a:t>·	Meeting and greeting any journalists attending on arrival (for easy identification you may wish to tailor their 	name badges with e.g. a coloured dot or other identifier. This will allow them to be more easily identified 	later in the day). Journalist name badges/passes should include the outlet they write for.</a:t>
            </a:r>
          </a:p>
          <a:p>
            <a:r>
              <a:rPr lang="en-GB" sz="1600"/>
              <a:t>·	Introducing journalists to speakers for pre-arranged interviews.</a:t>
            </a:r>
          </a:p>
          <a:p>
            <a:r>
              <a:rPr lang="en-GB" sz="1600"/>
              <a:t>·	Managing any interview requests journalists may approach you with and liaising with speakers to facilitate 	interviews (if they give their consent to be interviewed).</a:t>
            </a:r>
          </a:p>
          <a:p>
            <a:r>
              <a:rPr lang="en-GB" sz="1600"/>
              <a:t>·	Addressing any follow-up questions/queries the journalist may have.</a:t>
            </a:r>
          </a:p>
          <a:p>
            <a:endParaRPr lang="en-GB" sz="1600"/>
          </a:p>
          <a:p>
            <a:r>
              <a:rPr lang="en-GB" sz="1600"/>
              <a:t>For the School’s Social Media policy or advice on School social media, please email socialmedia@london.edu to connect with the School’s Brand &amp; Marketing department.</a:t>
            </a:r>
          </a:p>
          <a:p>
            <a:endParaRPr lang="en-GB" sz="1600"/>
          </a:p>
          <a:p>
            <a:pPr fontAlgn="base"/>
            <a:r>
              <a:rPr lang="en-GB" b="1"/>
              <a:t>Summary checklist</a:t>
            </a:r>
            <a:endParaRPr lang="en-GB" sz="1600"/>
          </a:p>
          <a:p>
            <a:pPr marL="285750" lvl="0" indent="-285750" fontAlgn="base">
              <a:buFont typeface="Wingdings" panose="05000000000000000000" pitchFamily="2" charset="2"/>
              <a:buChar char="q"/>
            </a:pPr>
            <a:r>
              <a:rPr lang="en-GB" sz="1600"/>
              <a:t>	Have media been given at least two weeks’ notice of the event?</a:t>
            </a:r>
          </a:p>
          <a:p>
            <a:pPr marL="285750" lvl="0" indent="-285750" fontAlgn="base">
              <a:buFont typeface="Wingdings" panose="05000000000000000000" pitchFamily="2" charset="2"/>
              <a:buChar char="q"/>
            </a:pPr>
            <a:r>
              <a:rPr lang="en-GB" sz="1600"/>
              <a:t>	Have all speakers signed a consent form acknowledging that media may be in attendance at the event and their 	comments may be reported?</a:t>
            </a:r>
          </a:p>
          <a:p>
            <a:pPr marL="285750" lvl="0" indent="-285750" fontAlgn="base">
              <a:buFont typeface="Wingdings" panose="05000000000000000000" pitchFamily="2" charset="2"/>
              <a:buChar char="q"/>
            </a:pPr>
            <a:r>
              <a:rPr lang="en-GB" sz="1600"/>
              <a:t>	Who will be available to be interviewed at the event? Have media been made aware?</a:t>
            </a:r>
          </a:p>
          <a:p>
            <a:pPr marL="285750" lvl="0" indent="-285750" fontAlgn="base">
              <a:buFont typeface="Wingdings" panose="05000000000000000000" pitchFamily="2" charset="2"/>
              <a:buChar char="q"/>
            </a:pPr>
            <a:r>
              <a:rPr lang="en-GB" sz="1600"/>
              <a:t>	Are any sessions closed to media? Have media been made aware of this from the start?</a:t>
            </a:r>
          </a:p>
          <a:p>
            <a:pPr marL="285750" lvl="0" indent="-285750" fontAlgn="base">
              <a:buFont typeface="Wingdings" panose="05000000000000000000" pitchFamily="2" charset="2"/>
              <a:buChar char="q"/>
            </a:pPr>
            <a:r>
              <a:rPr lang="en-GB" sz="1600"/>
              <a:t>	Is Chatham House Rule being applied to any of the sessions? </a:t>
            </a:r>
          </a:p>
          <a:p>
            <a:pPr marL="285750" lvl="0" indent="-285750" fontAlgn="base">
              <a:buFont typeface="Wingdings" panose="05000000000000000000" pitchFamily="2" charset="2"/>
              <a:buChar char="q"/>
            </a:pPr>
            <a:r>
              <a:rPr lang="en-GB" sz="1600"/>
              <a:t>	Has a committee member been appointed to liaise with journalists on the day?</a:t>
            </a:r>
          </a:p>
          <a:p>
            <a:endParaRPr lang="en-GB" sz="1600"/>
          </a:p>
        </p:txBody>
      </p:sp>
    </p:spTree>
    <p:extLst>
      <p:ext uri="{BB962C8B-B14F-4D97-AF65-F5344CB8AC3E}">
        <p14:creationId xmlns:p14="http://schemas.microsoft.com/office/powerpoint/2010/main" val="30252042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2B2D30-1DA7-4A43-9507-E3C2EDE6BF35}"/>
              </a:ext>
            </a:extLst>
          </p:cNvPr>
          <p:cNvSpPr>
            <a:spLocks noGrp="1"/>
          </p:cNvSpPr>
          <p:nvPr>
            <p:ph type="body" sz="quarter" idx="11"/>
          </p:nvPr>
        </p:nvSpPr>
        <p:spPr/>
        <p:txBody>
          <a:bodyPr/>
          <a:lstStyle/>
          <a:p>
            <a:r>
              <a:rPr lang="en-GB"/>
              <a:t>Ticketing</a:t>
            </a:r>
            <a:endParaRPr lang="en-US"/>
          </a:p>
        </p:txBody>
      </p:sp>
      <p:sp>
        <p:nvSpPr>
          <p:cNvPr id="3" name="Text Placeholder 2">
            <a:extLst>
              <a:ext uri="{FF2B5EF4-FFF2-40B4-BE49-F238E27FC236}">
                <a16:creationId xmlns:a16="http://schemas.microsoft.com/office/drawing/2014/main" id="{F276C225-1940-2346-BA5A-192226BF693F}"/>
              </a:ext>
            </a:extLst>
          </p:cNvPr>
          <p:cNvSpPr>
            <a:spLocks noGrp="1"/>
          </p:cNvSpPr>
          <p:nvPr>
            <p:ph type="body" sz="quarter" idx="12"/>
          </p:nvPr>
        </p:nvSpPr>
        <p:spPr/>
        <p:txBody>
          <a:bodyPr>
            <a:normAutofit/>
          </a:bodyPr>
          <a:lstStyle/>
          <a:p>
            <a:endParaRPr lang="en-US"/>
          </a:p>
        </p:txBody>
      </p:sp>
    </p:spTree>
    <p:extLst>
      <p:ext uri="{BB962C8B-B14F-4D97-AF65-F5344CB8AC3E}">
        <p14:creationId xmlns:p14="http://schemas.microsoft.com/office/powerpoint/2010/main" val="3341439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33</a:t>
            </a:fld>
            <a:endParaRPr lang="en-US"/>
          </a:p>
        </p:txBody>
      </p:sp>
      <p:sp>
        <p:nvSpPr>
          <p:cNvPr id="7" name="Rectangle 6"/>
          <p:cNvSpPr/>
          <p:nvPr/>
        </p:nvSpPr>
        <p:spPr>
          <a:xfrm>
            <a:off x="427701" y="704708"/>
            <a:ext cx="11336594" cy="5478423"/>
          </a:xfrm>
          <a:prstGeom prst="rect">
            <a:avLst/>
          </a:prstGeom>
        </p:spPr>
        <p:txBody>
          <a:bodyPr wrap="square" lIns="91440" tIns="45720" rIns="91440" bIns="45720" anchor="t">
            <a:spAutoFit/>
          </a:bodyPr>
          <a:lstStyle/>
          <a:p>
            <a:r>
              <a:rPr lang="en-US" sz="1600" b="1"/>
              <a:t>Ticket platforms</a:t>
            </a:r>
            <a:endParaRPr lang="en-GB" sz="1600" b="1">
              <a:cs typeface="Arial"/>
            </a:endParaRPr>
          </a:p>
          <a:p>
            <a:r>
              <a:rPr lang="en-GB" sz="1600">
                <a:ea typeface="+mn-lt"/>
                <a:cs typeface="+mn-lt"/>
              </a:rPr>
              <a:t>Students must use Campus Groups for all event ticket sales related to club events. In case of external attendees (alumni, other university delegates, public) clubs should use </a:t>
            </a:r>
            <a:r>
              <a:rPr lang="en-GB" sz="1600" err="1">
                <a:ea typeface="+mn-lt"/>
                <a:cs typeface="+mn-lt"/>
              </a:rPr>
              <a:t>Eventscase</a:t>
            </a:r>
            <a:r>
              <a:rPr lang="en-GB" sz="1600">
                <a:ea typeface="+mn-lt"/>
                <a:cs typeface="+mn-lt"/>
              </a:rPr>
              <a:t> for their ticketing purposes. Use of any other websites such as Eventbrite is not permitted and any proceeds from sales will not be eligible to be added to the club balances. For any further information or clarification, please contact SA Finance.  </a:t>
            </a:r>
            <a:r>
              <a:rPr lang="en-GB" sz="1500" b="1">
                <a:ea typeface="+mn-lt"/>
                <a:cs typeface="+mn-lt"/>
              </a:rPr>
              <a:t>ONCE YOU START SELLING TICKETS DO NOT CHANGE YOUR EVENT! IF YOU WANT TO MAKE A SECOND TICKET DROP, CREATE A NEW EVENT OR TIER AND DO NOT EDIT CURRENT TICKETS.</a:t>
            </a:r>
            <a:endParaRPr lang="en-GB"/>
          </a:p>
          <a:p>
            <a:endParaRPr lang="en-GB" sz="1600"/>
          </a:p>
          <a:p>
            <a:pPr fontAlgn="base"/>
            <a:r>
              <a:rPr lang="en-GB" sz="1600"/>
              <a:t>​</a:t>
            </a:r>
            <a:r>
              <a:rPr lang="en-US" sz="1600" b="1"/>
              <a:t>Ticket pricing</a:t>
            </a:r>
            <a:endParaRPr lang="en-GB" sz="1600" b="1">
              <a:cs typeface="Arial"/>
            </a:endParaRPr>
          </a:p>
          <a:p>
            <a:pPr fontAlgn="base"/>
            <a:r>
              <a:rPr lang="en-GB" sz="1600"/>
              <a:t>What is your ticket pricing strategy? If this event has been held before, check ticket prices of previous events and any post-event feedback related to this.</a:t>
            </a:r>
            <a:endParaRPr lang="en-GB" sz="1600">
              <a:cs typeface="Arial"/>
            </a:endParaRPr>
          </a:p>
          <a:p>
            <a:pPr fontAlgn="base"/>
            <a:endParaRPr lang="en-GB" sz="1600">
              <a:cs typeface="Arial"/>
            </a:endParaRPr>
          </a:p>
          <a:p>
            <a:pPr fontAlgn="base"/>
            <a:r>
              <a:rPr lang="en-GB" sz="1600"/>
              <a:t>First, consider what the goal of the event is financially. Is it to generate revenue, to break even or will the costs be fully covered by the School, in which case attendance will be free of charge?  </a:t>
            </a:r>
            <a:endParaRPr lang="en-GB" sz="1600">
              <a:cs typeface="Arial"/>
            </a:endParaRPr>
          </a:p>
          <a:p>
            <a:pPr fontAlgn="base"/>
            <a:endParaRPr lang="en-GB" sz="1600">
              <a:cs typeface="Arial"/>
            </a:endParaRPr>
          </a:p>
          <a:p>
            <a:pPr fontAlgn="base"/>
            <a:r>
              <a:rPr lang="en-GB" sz="1600"/>
              <a:t>It is important to set the right ticket price for your event: </a:t>
            </a:r>
            <a:endParaRPr lang="en-GB" sz="1600">
              <a:cs typeface="Arial"/>
            </a:endParaRPr>
          </a:p>
          <a:p>
            <a:pPr marL="285750" indent="-285750" fontAlgn="base">
              <a:buFont typeface="Wingdings"/>
              <a:buChar char="Ø"/>
            </a:pPr>
            <a:r>
              <a:rPr lang="en-GB" sz="1600"/>
              <a:t>Ticket cost too high &gt; this can discourage attendees and mean low engagement and attendance numbers </a:t>
            </a:r>
            <a:endParaRPr lang="en-GB" sz="1600">
              <a:cs typeface="Arial" panose="020B0604020202020204"/>
            </a:endParaRPr>
          </a:p>
          <a:p>
            <a:pPr marL="285750" indent="-285750" fontAlgn="base">
              <a:buFont typeface="Wingdings"/>
              <a:buChar char="Ø"/>
            </a:pPr>
            <a:r>
              <a:rPr lang="en-GB" sz="1600"/>
              <a:t>Ticket cost too low &gt; this can negatively impact the perceived value of your event  </a:t>
            </a:r>
            <a:endParaRPr lang="en-GB" sz="1600">
              <a:cs typeface="Arial" panose="020B0604020202020204"/>
            </a:endParaRPr>
          </a:p>
          <a:p>
            <a:pPr fontAlgn="base"/>
            <a:endParaRPr lang="en-GB" sz="1600">
              <a:cs typeface="Arial" panose="020B0604020202020204"/>
            </a:endParaRPr>
          </a:p>
          <a:p>
            <a:pPr fontAlgn="base"/>
            <a:r>
              <a:rPr lang="en-GB" sz="1600" b="1"/>
              <a:t>Research the competition: </a:t>
            </a:r>
            <a:endParaRPr lang="en-GB" sz="1600" b="1">
              <a:cs typeface="Arial"/>
            </a:endParaRPr>
          </a:p>
          <a:p>
            <a:pPr fontAlgn="base"/>
            <a:r>
              <a:rPr lang="en-GB" sz="1600"/>
              <a:t>Look to see if there are similar events available to your audience. If so, benchmark your ticket prices against these.</a:t>
            </a:r>
            <a:endParaRPr lang="en-GB" sz="1600">
              <a:cs typeface="Arial"/>
            </a:endParaRPr>
          </a:p>
          <a:p>
            <a:pPr fontAlgn="base"/>
            <a:endParaRPr lang="en-GB" sz="1600">
              <a:solidFill>
                <a:srgbClr val="FF0000"/>
              </a:solidFill>
            </a:endParaRPr>
          </a:p>
        </p:txBody>
      </p:sp>
      <p:sp>
        <p:nvSpPr>
          <p:cNvPr id="5" name="Title 4"/>
          <p:cNvSpPr>
            <a:spLocks noGrp="1"/>
          </p:cNvSpPr>
          <p:nvPr>
            <p:ph type="title"/>
          </p:nvPr>
        </p:nvSpPr>
        <p:spPr/>
        <p:txBody>
          <a:bodyPr lIns="90000" tIns="45720" rIns="0" bIns="45720" anchor="t"/>
          <a:lstStyle/>
          <a:p>
            <a:r>
              <a:rPr lang="en-GB" b="1"/>
              <a:t>Ticketing</a:t>
            </a:r>
            <a:endParaRPr lang="en-US"/>
          </a:p>
        </p:txBody>
      </p:sp>
    </p:spTree>
    <p:extLst>
      <p:ext uri="{BB962C8B-B14F-4D97-AF65-F5344CB8AC3E}">
        <p14:creationId xmlns:p14="http://schemas.microsoft.com/office/powerpoint/2010/main" val="32679556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0DA9967-4450-3767-CA00-217857B79769}"/>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7EB82451-2B77-3CC1-AEC7-4A5F34EB706D}"/>
              </a:ext>
            </a:extLst>
          </p:cNvPr>
          <p:cNvSpPr>
            <a:spLocks noGrp="1"/>
          </p:cNvSpPr>
          <p:nvPr>
            <p:ph type="sldNum" sz="quarter" idx="12"/>
          </p:nvPr>
        </p:nvSpPr>
        <p:spPr/>
        <p:txBody>
          <a:bodyPr/>
          <a:lstStyle/>
          <a:p>
            <a:fld id="{F97EA6E0-ACB3-C744-814F-68814E5220CF}" type="slidenum">
              <a:rPr lang="en-US" dirty="0" smtClean="0"/>
              <a:t>34</a:t>
            </a:fld>
            <a:endParaRPr lang="en-US"/>
          </a:p>
        </p:txBody>
      </p:sp>
      <p:sp>
        <p:nvSpPr>
          <p:cNvPr id="4" name="Title 3">
            <a:extLst>
              <a:ext uri="{FF2B5EF4-FFF2-40B4-BE49-F238E27FC236}">
                <a16:creationId xmlns:a16="http://schemas.microsoft.com/office/drawing/2014/main" id="{26FAC4C4-55E8-C069-9047-570722F53B49}"/>
              </a:ext>
            </a:extLst>
          </p:cNvPr>
          <p:cNvSpPr>
            <a:spLocks noGrp="1"/>
          </p:cNvSpPr>
          <p:nvPr>
            <p:ph type="title"/>
          </p:nvPr>
        </p:nvSpPr>
        <p:spPr/>
        <p:txBody>
          <a:bodyPr lIns="90000" tIns="45720" rIns="0" bIns="45720" anchor="t"/>
          <a:lstStyle/>
          <a:p>
            <a:r>
              <a:rPr lang="en-US" b="1">
                <a:cs typeface="Arial"/>
              </a:rPr>
              <a:t>Ticketing</a:t>
            </a:r>
          </a:p>
        </p:txBody>
      </p:sp>
      <p:sp>
        <p:nvSpPr>
          <p:cNvPr id="6" name="TextBox 5">
            <a:extLst>
              <a:ext uri="{FF2B5EF4-FFF2-40B4-BE49-F238E27FC236}">
                <a16:creationId xmlns:a16="http://schemas.microsoft.com/office/drawing/2014/main" id="{773D9CB0-8E22-8E08-BE5D-3BB220A2A634}"/>
              </a:ext>
            </a:extLst>
          </p:cNvPr>
          <p:cNvSpPr txBox="1"/>
          <p:nvPr/>
        </p:nvSpPr>
        <p:spPr>
          <a:xfrm>
            <a:off x="329601" y="465826"/>
            <a:ext cx="11470256" cy="59708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FF0000"/>
                </a:solidFill>
                <a:cs typeface="Segoe UI"/>
              </a:rPr>
              <a:t>​</a:t>
            </a:r>
          </a:p>
          <a:p>
            <a:r>
              <a:rPr lang="en-GB" sz="1600" b="1">
                <a:cs typeface="Segoe UI"/>
              </a:rPr>
              <a:t>Ticket types and price points: </a:t>
            </a:r>
            <a:r>
              <a:rPr lang="en-US" sz="1600" b="1">
                <a:cs typeface="Segoe UI"/>
              </a:rPr>
              <a:t>​</a:t>
            </a:r>
          </a:p>
          <a:p>
            <a:pPr marL="285750" indent="-285750">
              <a:buFont typeface="Arial"/>
              <a:buChar char="•"/>
            </a:pPr>
            <a:r>
              <a:rPr lang="en-GB" sz="1600">
                <a:cs typeface="Segoe UI"/>
              </a:rPr>
              <a:t>Consider different ticket types and price points for types of participants (i.e. public, alumni, students) depending on who your target audience is </a:t>
            </a:r>
            <a:r>
              <a:rPr lang="en-US" sz="1600">
                <a:cs typeface="Segoe UI"/>
              </a:rPr>
              <a:t>​</a:t>
            </a:r>
          </a:p>
          <a:p>
            <a:pPr marL="285750" indent="-285750">
              <a:buFont typeface="Arial"/>
              <a:buChar char="•"/>
            </a:pPr>
            <a:r>
              <a:rPr lang="en-GB" sz="1600">
                <a:cs typeface="Segoe UI"/>
              </a:rPr>
              <a:t>If you are charging for tickets, consider who you want to offer complimentary tickets to. This could be donors/prospects, speaker guests, or sponsors . </a:t>
            </a:r>
            <a:r>
              <a:rPr lang="en-GB" sz="1500" b="1">
                <a:cs typeface="Arial"/>
              </a:rPr>
              <a:t>ONCE YOU START SELLING TICKETS DO NOT CHANGE YOUR EVENT! IF YOU WANT TO MAKE A SECOND TICKET DROP, CREATE A NEW EVENT OR TIER AND DO NOT EDIT CURRENT TICKETS.</a:t>
            </a:r>
            <a:endParaRPr lang="en-US" sz="1600">
              <a:solidFill>
                <a:srgbClr val="001E61"/>
              </a:solidFill>
              <a:cs typeface="Segoe UI"/>
            </a:endParaRPr>
          </a:p>
          <a:p>
            <a:pPr marL="285750" indent="-285750">
              <a:buFont typeface="Arial"/>
              <a:buChar char="•"/>
            </a:pPr>
            <a:r>
              <a:rPr lang="en-GB" sz="1600">
                <a:solidFill>
                  <a:srgbClr val="FF0000"/>
                </a:solidFill>
                <a:cs typeface="Segoe UI"/>
              </a:rPr>
              <a:t> </a:t>
            </a:r>
            <a:r>
              <a:rPr lang="en-US" sz="1600">
                <a:solidFill>
                  <a:srgbClr val="FF0000"/>
                </a:solidFill>
                <a:cs typeface="Segoe UI"/>
              </a:rPr>
              <a:t>​</a:t>
            </a:r>
            <a:endParaRPr lang="en-US" sz="1600">
              <a:solidFill>
                <a:srgbClr val="001E61"/>
              </a:solidFill>
              <a:cs typeface="Segoe UI"/>
            </a:endParaRPr>
          </a:p>
          <a:p>
            <a:r>
              <a:rPr lang="en-GB" sz="1600" b="1">
                <a:cs typeface="Segoe UI"/>
              </a:rPr>
              <a:t>Ticket sales strategy: </a:t>
            </a:r>
            <a:r>
              <a:rPr lang="en-US" sz="1600" b="1">
                <a:cs typeface="Segoe UI"/>
              </a:rPr>
              <a:t>​</a:t>
            </a:r>
          </a:p>
          <a:p>
            <a:pPr marL="285750" indent="-285750">
              <a:buFont typeface="Arial"/>
              <a:buChar char="•"/>
            </a:pPr>
            <a:r>
              <a:rPr lang="en-GB" sz="1600">
                <a:cs typeface="Segoe UI"/>
              </a:rPr>
              <a:t>Consider offering an early bird rate to encourage early sign ups. If you do this, ensure that the price offers enough of a discount to prompt people to take action and book early </a:t>
            </a:r>
            <a:r>
              <a:rPr lang="en-US" sz="1600">
                <a:cs typeface="Segoe UI"/>
              </a:rPr>
              <a:t>​</a:t>
            </a:r>
          </a:p>
          <a:p>
            <a:pPr marL="285750" indent="-285750">
              <a:buFont typeface="Arial"/>
              <a:buChar char="•"/>
            </a:pPr>
            <a:r>
              <a:rPr lang="en-GB" sz="1600">
                <a:cs typeface="Segoe UI"/>
              </a:rPr>
              <a:t>You can also offer additional incentives to purchase tickets such as group booking discounts, referral discounts and other discount codes </a:t>
            </a:r>
            <a:r>
              <a:rPr lang="en-US" sz="1600">
                <a:cs typeface="Segoe UI"/>
              </a:rPr>
              <a:t>​</a:t>
            </a:r>
          </a:p>
          <a:p>
            <a:r>
              <a:rPr lang="en-GB" sz="1600">
                <a:solidFill>
                  <a:srgbClr val="FF0000"/>
                </a:solidFill>
                <a:cs typeface="Segoe UI"/>
              </a:rPr>
              <a:t> </a:t>
            </a:r>
            <a:r>
              <a:rPr lang="en-US" sz="1600">
                <a:solidFill>
                  <a:srgbClr val="FF0000"/>
                </a:solidFill>
                <a:cs typeface="Segoe UI"/>
              </a:rPr>
              <a:t>​</a:t>
            </a:r>
          </a:p>
          <a:p>
            <a:r>
              <a:rPr lang="en-GB" sz="1600" b="1">
                <a:cs typeface="Segoe UI"/>
              </a:rPr>
              <a:t>Payment logistics: </a:t>
            </a:r>
            <a:r>
              <a:rPr lang="en-US" sz="1600" b="1">
                <a:cs typeface="Segoe UI"/>
              </a:rPr>
              <a:t>​</a:t>
            </a:r>
          </a:p>
          <a:p>
            <a:pPr marL="285750" indent="-285750">
              <a:buFont typeface="Arial"/>
              <a:buChar char="•"/>
            </a:pPr>
            <a:r>
              <a:rPr lang="en-GB" sz="1600">
                <a:cs typeface="Segoe UI"/>
              </a:rPr>
              <a:t>Check what payment gateway your registration site is compatible with </a:t>
            </a:r>
            <a:r>
              <a:rPr lang="en-US" sz="1600">
                <a:cs typeface="Segoe UI"/>
              </a:rPr>
              <a:t>​</a:t>
            </a:r>
          </a:p>
          <a:p>
            <a:pPr marL="285750" indent="-285750">
              <a:buFont typeface="Arial"/>
              <a:buChar char="•"/>
            </a:pPr>
            <a:r>
              <a:rPr lang="en-GB" sz="1600">
                <a:cs typeface="Segoe UI"/>
              </a:rPr>
              <a:t>Decide which methods of payment you will accept i.e. card only or invoice payment. It is advisable to use card only and request payment at the point of registration – invoices are difficult to track and money may not be received in advance of the event</a:t>
            </a:r>
            <a:endParaRPr lang="en-US" sz="1600">
              <a:cs typeface="Segoe UI"/>
            </a:endParaRPr>
          </a:p>
          <a:p>
            <a:pPr marL="285750" indent="-285750">
              <a:buFont typeface="Arial"/>
              <a:buChar char="•"/>
            </a:pPr>
            <a:r>
              <a:rPr lang="en-GB" sz="1600">
                <a:cs typeface="Segoe UI"/>
              </a:rPr>
              <a:t>Set out your cancellation terms clearly from the outset  </a:t>
            </a:r>
            <a:r>
              <a:rPr lang="en-US" sz="1600">
                <a:cs typeface="Segoe UI"/>
              </a:rPr>
              <a:t>​</a:t>
            </a:r>
          </a:p>
          <a:p>
            <a:pPr marL="285750" indent="-285750">
              <a:buFont typeface="Arial"/>
              <a:buChar char="•"/>
            </a:pPr>
            <a:r>
              <a:rPr lang="en-GB" sz="1600">
                <a:cs typeface="Segoe UI"/>
              </a:rPr>
              <a:t>Ensure that you can provide attendees with a payment receipt – they may need this to claim expenses or for their accounts departments records if their ticket is paid for by their employer </a:t>
            </a:r>
            <a:r>
              <a:rPr lang="en-US" sz="1600">
                <a:cs typeface="Segoe UI"/>
              </a:rPr>
              <a:t>​</a:t>
            </a:r>
            <a:r>
              <a:rPr lang="en-GB" sz="1600">
                <a:cs typeface="Segoe UI"/>
              </a:rPr>
              <a:t>​</a:t>
            </a:r>
          </a:p>
          <a:p>
            <a:pPr marL="285750" indent="-285750">
              <a:buFont typeface="Arial"/>
              <a:buChar char="•"/>
            </a:pPr>
            <a:r>
              <a:rPr lang="en-GB" sz="1600">
                <a:cs typeface="Segoe UI"/>
              </a:rPr>
              <a:t>Decide how you will take payments at the event if you are allowing on the day registrations</a:t>
            </a:r>
          </a:p>
        </p:txBody>
      </p:sp>
    </p:spTree>
    <p:extLst>
      <p:ext uri="{BB962C8B-B14F-4D97-AF65-F5344CB8AC3E}">
        <p14:creationId xmlns:p14="http://schemas.microsoft.com/office/powerpoint/2010/main" val="32733593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2B2D30-1DA7-4A43-9507-E3C2EDE6BF35}"/>
              </a:ext>
            </a:extLst>
          </p:cNvPr>
          <p:cNvSpPr>
            <a:spLocks noGrp="1"/>
          </p:cNvSpPr>
          <p:nvPr>
            <p:ph type="body" sz="quarter" idx="11"/>
          </p:nvPr>
        </p:nvSpPr>
        <p:spPr/>
        <p:txBody>
          <a:bodyPr/>
          <a:lstStyle/>
          <a:p>
            <a:r>
              <a:rPr lang="en-GB"/>
              <a:t>Speakers</a:t>
            </a:r>
            <a:endParaRPr lang="en-US"/>
          </a:p>
        </p:txBody>
      </p:sp>
      <p:sp>
        <p:nvSpPr>
          <p:cNvPr id="3" name="Text Placeholder 2">
            <a:extLst>
              <a:ext uri="{FF2B5EF4-FFF2-40B4-BE49-F238E27FC236}">
                <a16:creationId xmlns:a16="http://schemas.microsoft.com/office/drawing/2014/main" id="{F276C225-1940-2346-BA5A-192226BF693F}"/>
              </a:ext>
            </a:extLst>
          </p:cNvPr>
          <p:cNvSpPr>
            <a:spLocks noGrp="1"/>
          </p:cNvSpPr>
          <p:nvPr>
            <p:ph type="body" sz="quarter" idx="12"/>
          </p:nvPr>
        </p:nvSpPr>
        <p:spPr/>
        <p:txBody>
          <a:bodyPr>
            <a:normAutofit/>
          </a:bodyPr>
          <a:lstStyle/>
          <a:p>
            <a:endParaRPr lang="en-US"/>
          </a:p>
        </p:txBody>
      </p:sp>
    </p:spTree>
    <p:extLst>
      <p:ext uri="{BB962C8B-B14F-4D97-AF65-F5344CB8AC3E}">
        <p14:creationId xmlns:p14="http://schemas.microsoft.com/office/powerpoint/2010/main" val="23044087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36</a:t>
            </a:fld>
            <a:endParaRPr lang="en-US"/>
          </a:p>
        </p:txBody>
      </p:sp>
      <p:sp>
        <p:nvSpPr>
          <p:cNvPr id="6" name="Rectangle 5"/>
          <p:cNvSpPr/>
          <p:nvPr/>
        </p:nvSpPr>
        <p:spPr>
          <a:xfrm>
            <a:off x="100461" y="91515"/>
            <a:ext cx="11872016" cy="6771084"/>
          </a:xfrm>
          <a:prstGeom prst="rect">
            <a:avLst/>
          </a:prstGeom>
          <a:solidFill>
            <a:schemeClr val="bg1"/>
          </a:solidFill>
        </p:spPr>
        <p:txBody>
          <a:bodyPr wrap="square" lIns="91440" tIns="45720" rIns="91440" bIns="45720" anchor="t">
            <a:spAutoFit/>
          </a:bodyPr>
          <a:lstStyle/>
          <a:p>
            <a:r>
              <a:rPr lang="en-GB" sz="1400" b="1" dirty="0"/>
              <a:t>Build your speaker database</a:t>
            </a:r>
          </a:p>
          <a:p>
            <a:r>
              <a:rPr lang="en-GB" sz="1400" dirty="0"/>
              <a:t>Find your club database for logging speakers that have been contacted. Otherwise, create one that can be handed from year to year to ensure consistency and that all your hard work is not wasted!</a:t>
            </a:r>
            <a:endParaRPr lang="en-GB" sz="1400" dirty="0">
              <a:cs typeface="Arial"/>
            </a:endParaRPr>
          </a:p>
          <a:p>
            <a:endParaRPr lang="en-GB" sz="1400"/>
          </a:p>
          <a:p>
            <a:r>
              <a:rPr lang="en-GB" sz="1400" dirty="0"/>
              <a:t>Include the following information on your database:</a:t>
            </a:r>
            <a:endParaRPr lang="en-GB" sz="1400" dirty="0">
              <a:cs typeface="Arial"/>
            </a:endParaRPr>
          </a:p>
          <a:p>
            <a:r>
              <a:rPr lang="en-GB" sz="1400" dirty="0"/>
              <a:t>•	Speakers name</a:t>
            </a:r>
            <a:endParaRPr lang="en-GB" sz="1400" dirty="0">
              <a:cs typeface="Arial"/>
            </a:endParaRPr>
          </a:p>
          <a:p>
            <a:r>
              <a:rPr lang="en-GB" sz="1400" dirty="0"/>
              <a:t>•	Job title</a:t>
            </a:r>
            <a:endParaRPr lang="en-GB" sz="1400" dirty="0">
              <a:cs typeface="Arial"/>
            </a:endParaRPr>
          </a:p>
          <a:p>
            <a:r>
              <a:rPr lang="en-GB" sz="1400" dirty="0"/>
              <a:t>•	Company</a:t>
            </a:r>
            <a:endParaRPr lang="en-GB" sz="1400" dirty="0">
              <a:cs typeface="Arial"/>
            </a:endParaRPr>
          </a:p>
          <a:p>
            <a:r>
              <a:rPr lang="en-GB" sz="1400" dirty="0"/>
              <a:t>•	Contact person and details</a:t>
            </a:r>
            <a:endParaRPr lang="en-GB" sz="1400" dirty="0">
              <a:cs typeface="Arial"/>
            </a:endParaRPr>
          </a:p>
          <a:p>
            <a:r>
              <a:rPr lang="en-GB" sz="1400" dirty="0"/>
              <a:t>•	Details of when you contacted the speaker and the answer</a:t>
            </a:r>
            <a:endParaRPr lang="en-GB" sz="1400" dirty="0">
              <a:cs typeface="Arial"/>
            </a:endParaRPr>
          </a:p>
          <a:p>
            <a:endParaRPr lang="en-GB" sz="1400" b="1">
              <a:cs typeface="Arial"/>
            </a:endParaRPr>
          </a:p>
          <a:p>
            <a:r>
              <a:rPr lang="en-GB" sz="1400" b="1" dirty="0"/>
              <a:t>Select and invite speakers</a:t>
            </a:r>
            <a:endParaRPr lang="en-GB" sz="1400" b="1" dirty="0">
              <a:cs typeface="Arial"/>
            </a:endParaRPr>
          </a:p>
          <a:p>
            <a:r>
              <a:rPr lang="en-GB" sz="1400" u="sng" dirty="0">
                <a:cs typeface="Arial"/>
              </a:rPr>
              <a:t>•As part of your event planning, it is important to review the news coverage of speakers you intend to invite so that you are aware of any reputational issues which could have an impact on your event and / or on the reputation of the School more broadly</a:t>
            </a:r>
            <a:endParaRPr lang="en-GB" u="sng" dirty="0"/>
          </a:p>
          <a:p>
            <a:pPr marL="285750" indent="-285750">
              <a:buFont typeface="Arial"/>
              <a:buChar char="•"/>
            </a:pPr>
            <a:r>
              <a:rPr lang="en-GB" sz="1400" b="1" u="sng" dirty="0">
                <a:ea typeface="+mn-lt"/>
                <a:cs typeface="+mn-lt"/>
              </a:rPr>
              <a:t>It is very important that you let the security team know with plenty of notice if you plan to invite any high profile or potentially controversial speakers or guests</a:t>
            </a:r>
            <a:r>
              <a:rPr lang="en-GB" sz="1400" dirty="0">
                <a:ea typeface="+mn-lt"/>
                <a:cs typeface="+mn-lt"/>
              </a:rPr>
              <a:t>. The team will work with you to assess any risks involved and ensure that appropriate provisions are in place. They will also liaise with their respective security teams if necessary. </a:t>
            </a:r>
            <a:r>
              <a:rPr lang="en-GB" sz="1400" b="1" dirty="0">
                <a:ea typeface="+mn-lt"/>
                <a:cs typeface="+mn-lt"/>
              </a:rPr>
              <a:t>Please note that if additional security expenses are incurred relating to speaker requirements the event organiser will be required to cover this.</a:t>
            </a:r>
            <a:endParaRPr lang="en-GB" dirty="0">
              <a:ea typeface="+mn-lt"/>
              <a:cs typeface="+mn-lt"/>
            </a:endParaRPr>
          </a:p>
          <a:p>
            <a:r>
              <a:rPr lang="en-GB" sz="1400" dirty="0"/>
              <a:t>•	Create a theme to decide the ideas and topics you’ll be sharing with your audience</a:t>
            </a:r>
            <a:endParaRPr lang="en-GB" sz="1400" dirty="0">
              <a:cs typeface="Arial"/>
            </a:endParaRPr>
          </a:p>
          <a:p>
            <a:r>
              <a:rPr lang="en-GB" sz="1400" dirty="0"/>
              <a:t>•	Draw up a ‘</a:t>
            </a:r>
            <a:r>
              <a:rPr lang="en-GB" sz="1400" dirty="0" err="1"/>
              <a:t>wishlist</a:t>
            </a:r>
            <a:r>
              <a:rPr lang="en-GB" sz="1400" dirty="0"/>
              <a:t>’ of top keynote speaker names</a:t>
            </a:r>
            <a:endParaRPr lang="en-GB" sz="1400" dirty="0">
              <a:cs typeface="Arial"/>
            </a:endParaRPr>
          </a:p>
          <a:p>
            <a:r>
              <a:rPr lang="en-GB" sz="1400" dirty="0"/>
              <a:t>•	Tier your speaker invitations: Invite the first 15 top level speakers, gauge responses. Then invite the next 15 and so on</a:t>
            </a:r>
            <a:endParaRPr lang="en-GB" sz="1400" dirty="0">
              <a:cs typeface="Arial"/>
            </a:endParaRPr>
          </a:p>
          <a:p>
            <a:r>
              <a:rPr lang="en-GB" sz="1400" dirty="0"/>
              <a:t>•	Invitations to senior speakers should ideally go out at least 6 months before the event. Very high profile speakers will be booked 	up 	at least 12 months in advance. For virtual events, speakers should be secured at least 3 months before the event</a:t>
            </a:r>
            <a:endParaRPr lang="en-GB" sz="1400" dirty="0">
              <a:cs typeface="Arial"/>
            </a:endParaRPr>
          </a:p>
          <a:p>
            <a:r>
              <a:rPr lang="en-GB" sz="1400" dirty="0"/>
              <a:t>•	Ensure you have the capacity in your team to follow up adequately with each invitation. You will need to spend 		weeks and in some cases, months, following up with the speaker’s office</a:t>
            </a:r>
            <a:endParaRPr lang="en-GB" sz="1400" dirty="0">
              <a:cs typeface="Arial"/>
            </a:endParaRPr>
          </a:p>
          <a:p>
            <a:r>
              <a:rPr lang="en-GB" sz="1400" dirty="0"/>
              <a:t>•	Try to concentrate on speakers that you, or the School, has existing links with to maximise your chances. If you'd like to reach out 	to Alumni,</a:t>
            </a:r>
            <a:r>
              <a:rPr lang="en-GB" sz="1400" dirty="0">
                <a:solidFill>
                  <a:srgbClr val="001E61"/>
                </a:solidFill>
              </a:rPr>
              <a:t> </a:t>
            </a:r>
            <a:r>
              <a:rPr lang="en-GB" sz="1400" dirty="0">
                <a:solidFill>
                  <a:srgbClr val="001E61"/>
                </a:solidFill>
                <a:ea typeface="+mn-lt"/>
                <a:cs typeface="+mn-lt"/>
              </a:rPr>
              <a:t>contact the Alumni Relations team (</a:t>
            </a:r>
            <a:r>
              <a:rPr lang="en-GB" sz="1400" dirty="0">
                <a:solidFill>
                  <a:srgbClr val="001E61"/>
                </a:solidFill>
                <a:ea typeface="+mn-lt"/>
                <a:cs typeface="+mn-lt"/>
                <a:hlinkClick r:id="rId2"/>
              </a:rPr>
              <a:t>alumnirelations@london.edu</a:t>
            </a:r>
            <a:r>
              <a:rPr lang="en-GB" sz="1400" dirty="0">
                <a:solidFill>
                  <a:srgbClr val="001E61"/>
                </a:solidFill>
                <a:ea typeface="+mn-lt"/>
                <a:cs typeface="+mn-lt"/>
              </a:rPr>
              <a:t>)</a:t>
            </a:r>
            <a:r>
              <a:rPr lang="en-GB" sz="1400" dirty="0">
                <a:solidFill>
                  <a:srgbClr val="FF0000"/>
                </a:solidFill>
                <a:ea typeface="+mn-lt"/>
                <a:cs typeface="+mn-lt"/>
              </a:rPr>
              <a:t> </a:t>
            </a:r>
            <a:r>
              <a:rPr lang="en-GB" sz="1400" dirty="0">
                <a:ea typeface="+mn-lt"/>
                <a:cs typeface="+mn-lt"/>
              </a:rPr>
              <a:t>with us much notice as possible (6 months is preferable)</a:t>
            </a:r>
            <a:endParaRPr lang="en-GB" sz="1400" dirty="0">
              <a:cs typeface="Arial"/>
            </a:endParaRPr>
          </a:p>
          <a:p>
            <a:r>
              <a:rPr lang="en-GB" sz="1400" dirty="0"/>
              <a:t>•	Wherever appropriate (Government Ministers), use the School letterhead and ensure you use the correct form of address. If you would like the School to 	sign or co-sign the invitation letter, please contact Marc Slowey (</a:t>
            </a:r>
            <a:r>
              <a:rPr lang="en-GB" sz="1400" dirty="0">
                <a:hlinkClick r:id="rId3">
                  <a:extLst>
                    <a:ext uri="{A12FA001-AC4F-418D-AE19-62706E023703}">
                      <ahyp:hlinkClr xmlns:ahyp="http://schemas.microsoft.com/office/drawing/2018/hyperlinkcolor" val="tx"/>
                    </a:ext>
                  </a:extLst>
                </a:hlinkClick>
              </a:rPr>
              <a:t>mslowey@london.edu</a:t>
            </a:r>
            <a:r>
              <a:rPr lang="en-GB" sz="1400" dirty="0"/>
              <a:t>). Please ensure these are sent out well in 	advance of your event taking place. Signature requests for an event taking place in less than 3 months will not usually be accepted and </a:t>
            </a:r>
            <a:r>
              <a:rPr lang="en-GB" sz="1400"/>
              <a:t>this is at the school </a:t>
            </a:r>
            <a:r>
              <a:rPr lang="en-GB" sz="1400">
                <a:ea typeface="+mn-lt"/>
                <a:cs typeface="+mn-lt"/>
              </a:rPr>
              <a:t>discretion.</a:t>
            </a:r>
            <a:endParaRPr lang="en-GB" sz="1400">
              <a:cs typeface="Arial"/>
            </a:endParaRPr>
          </a:p>
        </p:txBody>
      </p:sp>
      <p:sp>
        <p:nvSpPr>
          <p:cNvPr id="4" name="Title 3"/>
          <p:cNvSpPr>
            <a:spLocks noGrp="1"/>
          </p:cNvSpPr>
          <p:nvPr>
            <p:ph type="title"/>
          </p:nvPr>
        </p:nvSpPr>
        <p:spPr>
          <a:xfrm>
            <a:off x="3180213" y="-2805"/>
            <a:ext cx="8172000" cy="396000"/>
          </a:xfrm>
        </p:spPr>
        <p:txBody>
          <a:bodyPr/>
          <a:lstStyle/>
          <a:p>
            <a:r>
              <a:rPr lang="en-GB" b="1"/>
              <a:t>Speakers</a:t>
            </a:r>
          </a:p>
        </p:txBody>
      </p:sp>
    </p:spTree>
    <p:extLst>
      <p:ext uri="{BB962C8B-B14F-4D97-AF65-F5344CB8AC3E}">
        <p14:creationId xmlns:p14="http://schemas.microsoft.com/office/powerpoint/2010/main" val="20331836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37</a:t>
            </a:fld>
            <a:endParaRPr lang="en-US"/>
          </a:p>
        </p:txBody>
      </p:sp>
      <p:sp>
        <p:nvSpPr>
          <p:cNvPr id="4" name="Title 3"/>
          <p:cNvSpPr>
            <a:spLocks noGrp="1"/>
          </p:cNvSpPr>
          <p:nvPr>
            <p:ph type="title"/>
          </p:nvPr>
        </p:nvSpPr>
        <p:spPr/>
        <p:txBody>
          <a:bodyPr/>
          <a:lstStyle/>
          <a:p>
            <a:r>
              <a:rPr lang="en-GB" b="1"/>
              <a:t>Speakers</a:t>
            </a:r>
          </a:p>
        </p:txBody>
      </p:sp>
      <p:sp>
        <p:nvSpPr>
          <p:cNvPr id="6" name="Rectangle 5"/>
          <p:cNvSpPr/>
          <p:nvPr/>
        </p:nvSpPr>
        <p:spPr>
          <a:xfrm>
            <a:off x="341745" y="655911"/>
            <a:ext cx="11342254" cy="5521512"/>
          </a:xfrm>
          <a:prstGeom prst="rect">
            <a:avLst/>
          </a:prstGeom>
        </p:spPr>
        <p:txBody>
          <a:bodyPr wrap="square" lIns="91440" tIns="45720" rIns="91440" bIns="45720" anchor="t">
            <a:spAutoFit/>
          </a:bodyPr>
          <a:lstStyle/>
          <a:p>
            <a:pPr>
              <a:lnSpc>
                <a:spcPct val="120000"/>
              </a:lnSpc>
            </a:pPr>
            <a:r>
              <a:rPr lang="en-GB" sz="1400" b="1">
                <a:latin typeface="Arial"/>
                <a:ea typeface="MS Gothic"/>
                <a:cs typeface="Times New Roman"/>
              </a:rPr>
              <a:t>Speaker briefing</a:t>
            </a:r>
            <a:endParaRPr lang="en-GB" sz="1400">
              <a:latin typeface="Arial"/>
              <a:ea typeface="MS Gothic"/>
              <a:cs typeface="Times New Roman"/>
            </a:endParaRPr>
          </a:p>
          <a:p>
            <a:pPr marL="342900" indent="-342900" fontAlgn="base">
              <a:buFont typeface="Symbol" panose="05050102010706020507" pitchFamily="18" charset="2"/>
              <a:buChar char=""/>
            </a:pPr>
            <a:r>
              <a:rPr lang="en-GB" sz="1400">
                <a:latin typeface="Arial"/>
                <a:ea typeface="Times New Roman" panose="02020603050405020304" pitchFamily="18" charset="0"/>
                <a:cs typeface="Arial"/>
              </a:rPr>
              <a:t>Keep confirmed speakers up to date with developments</a:t>
            </a:r>
          </a:p>
          <a:p>
            <a:pPr marL="342900" indent="-342900" fontAlgn="base">
              <a:buFont typeface="Symbol" panose="05050102010706020507" pitchFamily="18" charset="2"/>
              <a:buChar char=""/>
            </a:pPr>
            <a:r>
              <a:rPr lang="en-GB" sz="1400">
                <a:latin typeface="Arial"/>
                <a:ea typeface="Times New Roman" panose="02020603050405020304" pitchFamily="18" charset="0"/>
                <a:cs typeface="Arial"/>
              </a:rPr>
              <a:t>Brief speakers and panellists at least two weeks in advance. Include:</a:t>
            </a:r>
          </a:p>
          <a:p>
            <a:pPr marL="742950" lvl="1" indent="-285750" fontAlgn="base">
              <a:buFont typeface="Courier New" panose="02070309020205020404" pitchFamily="49" charset="0"/>
              <a:buChar char="o"/>
            </a:pPr>
            <a:r>
              <a:rPr lang="en-GB" sz="1400">
                <a:latin typeface="Arial"/>
                <a:ea typeface="Times New Roman" panose="02020603050405020304" pitchFamily="18" charset="0"/>
                <a:cs typeface="Arial"/>
              </a:rPr>
              <a:t>Content outline and key questions you hope to cover in each of the sessions.</a:t>
            </a:r>
          </a:p>
          <a:p>
            <a:pPr marL="742950" lvl="1" indent="-285750" fontAlgn="base">
              <a:buFont typeface="Courier New" panose="02070309020205020404" pitchFamily="49" charset="0"/>
              <a:buChar char="o"/>
            </a:pPr>
            <a:r>
              <a:rPr lang="en-GB" sz="1400">
                <a:latin typeface="Arial"/>
                <a:ea typeface="Times New Roman" panose="02020603050405020304" pitchFamily="18" charset="0"/>
                <a:cs typeface="Arial"/>
              </a:rPr>
              <a:t>Let them know who will be in the audience- % of professionals vs students, industry, level of experience.</a:t>
            </a:r>
          </a:p>
          <a:p>
            <a:pPr marL="342900" indent="-342900" fontAlgn="base">
              <a:buFont typeface="Symbol" panose="05050102010706020507" pitchFamily="18" charset="2"/>
              <a:buChar char=""/>
            </a:pPr>
            <a:r>
              <a:rPr lang="en-GB" sz="1400">
                <a:latin typeface="Arial"/>
                <a:ea typeface="Times New Roman" panose="02020603050405020304" pitchFamily="18" charset="0"/>
                <a:cs typeface="Arial"/>
              </a:rPr>
              <a:t>Give a deadline for speakers to send in their presentations in advance for your review, as well as guidance for the format (16:9 ratio), and preferred file type (PPT not PDF). Check the presentations in advance and ensure there are no technical or formatting issues, and that multimedia elements (if any) play properly</a:t>
            </a:r>
          </a:p>
          <a:p>
            <a:pPr marL="342900" lvl="0" indent="-342900" fontAlgn="base">
              <a:spcAft>
                <a:spcPts val="0"/>
              </a:spcAft>
              <a:buFont typeface="Symbol" panose="05050102010706020507" pitchFamily="18" charset="2"/>
              <a:buChar char=""/>
            </a:pPr>
            <a:endParaRPr lang="en-GB" sz="1400">
              <a:effectLst/>
              <a:latin typeface="Arial" panose="020B0604020202020204" pitchFamily="34" charset="0"/>
              <a:ea typeface="Times New Roman" panose="02020603050405020304" pitchFamily="18" charset="0"/>
            </a:endParaRPr>
          </a:p>
          <a:p>
            <a:pPr fontAlgn="base"/>
            <a:r>
              <a:rPr lang="en-GB" sz="1400"/>
              <a:t>Ensure you are aware of each speaker’s AV requirements in advance (e.g. audio, visual, clickers, microphone)</a:t>
            </a:r>
            <a:endParaRPr lang="en-GB" sz="1400">
              <a:cs typeface="Arial"/>
            </a:endParaRPr>
          </a:p>
          <a:p>
            <a:pPr fontAlgn="base"/>
            <a:r>
              <a:rPr lang="en-GB" sz="1400"/>
              <a:t>Provide a way for speakers to keep track of time (i.e. a visible timepiece, countdown clock on stage, or time prompts)</a:t>
            </a:r>
            <a:endParaRPr lang="en-GB" sz="1400">
              <a:cs typeface="Arial"/>
            </a:endParaRPr>
          </a:p>
          <a:p>
            <a:pPr fontAlgn="base"/>
            <a:r>
              <a:rPr lang="en-GB" sz="1400"/>
              <a:t>For a panel discussion, organise a conference call a week before if possible. The moderator and speakers can discuss the content and how it will work.</a:t>
            </a:r>
            <a:endParaRPr lang="en-GB" sz="1400">
              <a:cs typeface="Arial"/>
            </a:endParaRPr>
          </a:p>
          <a:p>
            <a:pPr fontAlgn="base"/>
            <a:r>
              <a:rPr lang="en-GB" sz="1400"/>
              <a:t>Prepare clear stage directions for your speakers so they understand exactly what is expected of them on the day of the event (for face-to-face or virtual events).</a:t>
            </a:r>
            <a:endParaRPr lang="en-GB" sz="1400">
              <a:cs typeface="Arial"/>
            </a:endParaRPr>
          </a:p>
          <a:p>
            <a:pPr fontAlgn="base"/>
            <a:r>
              <a:rPr lang="en-GB" sz="1400"/>
              <a:t>For panels, brief the Chairperson thoroughly on start and closing time, panel/Q&amp;A breakdown, Q&amp;A style, e.g.:</a:t>
            </a:r>
            <a:endParaRPr lang="en-GB" sz="1400">
              <a:cs typeface="Arial"/>
            </a:endParaRPr>
          </a:p>
          <a:p>
            <a:pPr lvl="1"/>
            <a:r>
              <a:rPr lang="en-GB" sz="1400"/>
              <a:t>Q&amp;A should always be at least 20 minutes. Taking up to three questions at a time ensures better flow.</a:t>
            </a:r>
            <a:endParaRPr lang="en-GB" sz="1400">
              <a:cs typeface="Arial"/>
            </a:endParaRPr>
          </a:p>
          <a:p>
            <a:pPr lvl="1"/>
            <a:r>
              <a:rPr lang="en-GB" sz="1400"/>
              <a:t>For a panel of two/three + chair, 1 hour is enough – inclusive of Q&amp;A. They’ll think they need longer, but they most likely don’t!</a:t>
            </a:r>
            <a:endParaRPr lang="en-GB" sz="1400">
              <a:cs typeface="Arial"/>
            </a:endParaRPr>
          </a:p>
          <a:p>
            <a:pPr lvl="1"/>
            <a:r>
              <a:rPr lang="en-GB" sz="1400"/>
              <a:t>For a panel of four + chair, 1 hour and 15min is enough – inclusive of Q&amp;A</a:t>
            </a:r>
            <a:endParaRPr lang="en-GB" sz="1400">
              <a:cs typeface="Arial"/>
            </a:endParaRPr>
          </a:p>
          <a:p>
            <a:r>
              <a:rPr lang="en-GB" sz="1400"/>
              <a:t>For in conversation-type event, i.e. interviewer + interviewee, recommended length is a maximum of 1h, inclusive of a minimum of 20 minutes Q&amp;A</a:t>
            </a:r>
            <a:endParaRPr lang="en-GB" sz="1400">
              <a:cs typeface="Arial"/>
            </a:endParaRPr>
          </a:p>
          <a:p>
            <a:r>
              <a:rPr lang="en-GB" sz="1400"/>
              <a:t>For individual speaker, the recommended length of presentation is 45 minutes, inclusive of a 15 minutes Q&amp;A. The absolute maximum length is 1 hour, if high-calibre speaker, e.g. Nobel laureate.</a:t>
            </a:r>
            <a:endParaRPr lang="en-GB" sz="1400">
              <a:cs typeface="Arial"/>
            </a:endParaRPr>
          </a:p>
          <a:p>
            <a:r>
              <a:rPr lang="en-GB" sz="1400"/>
              <a:t>During the Q&amp;A, ask audience to introduce themselves and take up to three questions at one time – this ensures a better flowing session</a:t>
            </a:r>
            <a:endParaRPr lang="en-GB" sz="1400">
              <a:cs typeface="Arial"/>
            </a:endParaRPr>
          </a:p>
          <a:p>
            <a:pPr marL="342900" lvl="0" indent="-342900" fontAlgn="base">
              <a:spcAft>
                <a:spcPts val="0"/>
              </a:spcAft>
              <a:buFont typeface="Symbol" panose="05050102010706020507" pitchFamily="18" charset="2"/>
              <a:buChar char=""/>
            </a:pPr>
            <a:endParaRPr lang="en-GB" sz="14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98022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38</a:t>
            </a:fld>
            <a:endParaRPr lang="en-US"/>
          </a:p>
        </p:txBody>
      </p:sp>
      <p:sp>
        <p:nvSpPr>
          <p:cNvPr id="4" name="Title 3"/>
          <p:cNvSpPr>
            <a:spLocks noGrp="1"/>
          </p:cNvSpPr>
          <p:nvPr>
            <p:ph type="title"/>
          </p:nvPr>
        </p:nvSpPr>
        <p:spPr>
          <a:xfrm>
            <a:off x="3180213" y="364942"/>
            <a:ext cx="8172000" cy="396000"/>
          </a:xfrm>
        </p:spPr>
        <p:txBody>
          <a:bodyPr/>
          <a:lstStyle/>
          <a:p>
            <a:r>
              <a:rPr lang="en-GB" b="1"/>
              <a:t>Speakers</a:t>
            </a:r>
          </a:p>
        </p:txBody>
      </p:sp>
      <p:sp>
        <p:nvSpPr>
          <p:cNvPr id="6" name="Rectangle 5"/>
          <p:cNvSpPr/>
          <p:nvPr/>
        </p:nvSpPr>
        <p:spPr>
          <a:xfrm>
            <a:off x="341745" y="655911"/>
            <a:ext cx="11342254" cy="5693866"/>
          </a:xfrm>
          <a:prstGeom prst="rect">
            <a:avLst/>
          </a:prstGeom>
        </p:spPr>
        <p:txBody>
          <a:bodyPr wrap="square" lIns="91440" tIns="45720" rIns="91440" bIns="45720" anchor="t">
            <a:spAutoFit/>
          </a:bodyPr>
          <a:lstStyle/>
          <a:p>
            <a:r>
              <a:rPr lang="en-US" sz="1400" b="1"/>
              <a:t>Event format questions not covered above:</a:t>
            </a:r>
            <a:endParaRPr lang="en-GB" sz="1400"/>
          </a:p>
          <a:p>
            <a:pPr marL="285750" lvl="0" indent="-285750">
              <a:buFont typeface="Arial" panose="020B0604020202020204" pitchFamily="34" charset="0"/>
              <a:buChar char="•"/>
            </a:pPr>
            <a:r>
              <a:rPr lang="en-US" sz="1400"/>
              <a:t>Consider whether the event needs to be run under the </a:t>
            </a:r>
            <a:r>
              <a:rPr lang="en-US" sz="1400">
                <a:hlinkClick r:id="rId2"/>
              </a:rPr>
              <a:t>Chatham House rule</a:t>
            </a:r>
            <a:r>
              <a:rPr lang="en-US" sz="1400"/>
              <a:t>. If so, you will need to ensure that all speakers and attendees are aware of this and no press may be invited to attend</a:t>
            </a:r>
            <a:endParaRPr lang="en-GB" sz="1400"/>
          </a:p>
          <a:p>
            <a:pPr marL="285750" indent="-285750">
              <a:buFont typeface="Arial" panose="020B0604020202020204" pitchFamily="34" charset="0"/>
              <a:buChar char="•"/>
            </a:pPr>
            <a:r>
              <a:rPr lang="en-US" sz="1400"/>
              <a:t>Can we film/record the session to share content after the event? Have the speaker/s been made aware? </a:t>
            </a:r>
            <a:endParaRPr lang="en-US" sz="1400">
              <a:cs typeface="Arial"/>
            </a:endParaRPr>
          </a:p>
          <a:p>
            <a:pPr marL="285750" lvl="0" indent="-285750">
              <a:buFont typeface="Arial" panose="020B0604020202020204" pitchFamily="34" charset="0"/>
              <a:buChar char="•"/>
            </a:pPr>
            <a:r>
              <a:rPr lang="en-US" sz="1400"/>
              <a:t>Ask each speaker to sign a </a:t>
            </a:r>
            <a:r>
              <a:rPr lang="en-US" sz="1400" u="sng">
                <a:hlinkClick r:id="rId3"/>
              </a:rPr>
              <a:t>Speaker Release Form</a:t>
            </a:r>
            <a:r>
              <a:rPr lang="en-US" sz="1400"/>
              <a:t>. This ensures that you can share their talk on the club and school's platforms (e.g. photos, video, quotes, slides)</a:t>
            </a:r>
            <a:endParaRPr lang="en-GB" sz="1400"/>
          </a:p>
          <a:p>
            <a:pPr marL="285750" indent="-285750">
              <a:buFont typeface="Arial" panose="020B0604020202020204" pitchFamily="34" charset="0"/>
              <a:buChar char="•"/>
            </a:pPr>
            <a:r>
              <a:rPr lang="en-US" sz="1400">
                <a:cs typeface="Arial"/>
              </a:rPr>
              <a:t>If media will be in attendance, speakers should be made aware that their comments could be reported</a:t>
            </a:r>
          </a:p>
          <a:p>
            <a:pPr fontAlgn="base"/>
            <a:endParaRPr lang="en-GB" sz="1400"/>
          </a:p>
          <a:p>
            <a:pPr fontAlgn="base"/>
            <a:r>
              <a:rPr lang="en-GB" sz="1400"/>
              <a:t>​</a:t>
            </a:r>
            <a:endParaRPr lang="en-GB" sz="1400">
              <a:cs typeface="Arial"/>
            </a:endParaRPr>
          </a:p>
          <a:p>
            <a:r>
              <a:rPr lang="en-US" sz="1400" b="1"/>
              <a:t>Take care of your speakers</a:t>
            </a:r>
            <a:endParaRPr lang="en-GB" sz="1400" b="1"/>
          </a:p>
          <a:p>
            <a:pPr marL="285750" lvl="0" indent="-285750" fontAlgn="base">
              <a:buFont typeface="Arial" panose="020B0604020202020204" pitchFamily="34" charset="0"/>
              <a:buChar char="•"/>
            </a:pPr>
            <a:r>
              <a:rPr lang="en-GB" sz="1400"/>
              <a:t>Provide a green room for speakers on the day of the event – include this in your original space booking</a:t>
            </a:r>
            <a:endParaRPr lang="en-GB" sz="1400">
              <a:cs typeface="Arial"/>
            </a:endParaRPr>
          </a:p>
          <a:p>
            <a:pPr marL="285750" lvl="0" indent="-285750" fontAlgn="base">
              <a:buFont typeface="Arial" panose="020B0604020202020204" pitchFamily="34" charset="0"/>
              <a:buChar char="•"/>
            </a:pPr>
            <a:r>
              <a:rPr lang="en-GB" sz="1400"/>
              <a:t>Assign people to greeting speakers on arrival, escorting them to the green room and introducing them to other speakers. You will need a few people to do this where you have multiple speakers arriving at a similar time</a:t>
            </a:r>
            <a:endParaRPr lang="en-GB" sz="1400">
              <a:cs typeface="Arial"/>
            </a:endParaRPr>
          </a:p>
          <a:p>
            <a:pPr marL="285750" lvl="0" indent="-285750" fontAlgn="base">
              <a:buFont typeface="Arial" panose="020B0604020202020204" pitchFamily="34" charset="0"/>
              <a:buChar char="•"/>
            </a:pPr>
            <a:r>
              <a:rPr lang="en-GB" sz="1400"/>
              <a:t>Provide refreshments in the green room - gather their dietary requirements in advance and ensure that they are catered for</a:t>
            </a:r>
            <a:endParaRPr lang="en-GB" sz="1400">
              <a:cs typeface="Arial"/>
            </a:endParaRPr>
          </a:p>
          <a:p>
            <a:pPr marL="285750" lvl="0" indent="-285750" fontAlgn="base">
              <a:buFont typeface="Arial" panose="020B0604020202020204" pitchFamily="34" charset="0"/>
              <a:buChar char="•"/>
            </a:pPr>
            <a:r>
              <a:rPr lang="en-GB" sz="1400"/>
              <a:t>Provide fresh water and clean glasses on stage where they are easily accessible for the speaker/s</a:t>
            </a:r>
            <a:endParaRPr lang="en-GB" sz="1400">
              <a:cs typeface="Arial"/>
            </a:endParaRPr>
          </a:p>
          <a:p>
            <a:pPr marL="285750" lvl="0" indent="-285750" fontAlgn="base">
              <a:buFont typeface="Arial" panose="020B0604020202020204" pitchFamily="34" charset="0"/>
              <a:buChar char="•"/>
            </a:pPr>
            <a:r>
              <a:rPr lang="en-GB" sz="1400"/>
              <a:t>Plan for activities to engage and honour your speakers if appropriate (e.g. pre-event dinners, breakfasts, post-event drinks)</a:t>
            </a:r>
            <a:endParaRPr lang="en-GB" sz="1400">
              <a:cs typeface="Arial"/>
            </a:endParaRPr>
          </a:p>
          <a:p>
            <a:pPr marL="285750" lvl="0" indent="-285750" fontAlgn="base">
              <a:buFont typeface="Arial" panose="020B0604020202020204" pitchFamily="34" charset="0"/>
              <a:buChar char="•"/>
            </a:pPr>
            <a:r>
              <a:rPr lang="en-GB" sz="1400"/>
              <a:t>Check in advance whether they require a parking space</a:t>
            </a:r>
            <a:endParaRPr lang="en-GB" sz="1400">
              <a:cs typeface="Arial"/>
            </a:endParaRPr>
          </a:p>
          <a:p>
            <a:pPr marL="285750" lvl="0" indent="-285750" fontAlgn="base">
              <a:buFont typeface="Arial" panose="020B0604020202020204" pitchFamily="34" charset="0"/>
              <a:buChar char="•"/>
            </a:pPr>
            <a:r>
              <a:rPr lang="en-GB" sz="1400"/>
              <a:t>Thank them on stage, give them a small gift (unless it's the Dean), and send them a thank you letter</a:t>
            </a:r>
            <a:endParaRPr lang="en-GB" sz="1400">
              <a:cs typeface="Arial"/>
            </a:endParaRPr>
          </a:p>
          <a:p>
            <a:pPr fontAlgn="base"/>
            <a:endParaRPr lang="en-GB" sz="1400"/>
          </a:p>
          <a:p>
            <a:pPr fontAlgn="base"/>
            <a:r>
              <a:rPr lang="en-GB" sz="1400"/>
              <a:t>​</a:t>
            </a:r>
            <a:endParaRPr lang="en-GB" sz="1400">
              <a:cs typeface="Arial"/>
            </a:endParaRPr>
          </a:p>
          <a:p>
            <a:r>
              <a:rPr lang="en-US" sz="1400" b="1"/>
              <a:t>Inviting the Dean to get involved</a:t>
            </a:r>
            <a:endParaRPr lang="en-GB" sz="1400" b="1"/>
          </a:p>
          <a:p>
            <a:pPr fontAlgn="base"/>
            <a:r>
              <a:rPr lang="en-GB" sz="1400"/>
              <a:t>If it is appropriate for the purpose and scope of the event, you may consider inviting the Dean to speak at or attend your event. Contact </a:t>
            </a:r>
            <a:r>
              <a:rPr lang="en-GB" sz="1400" b="1"/>
              <a:t>Editorial Planning (</a:t>
            </a:r>
            <a:r>
              <a:rPr lang="en-GB" sz="1400">
                <a:ea typeface="+mn-lt"/>
                <a:cs typeface="+mn-lt"/>
                <a:hlinkClick r:id="rId4"/>
              </a:rPr>
              <a:t>editorialplanning@london.edu</a:t>
            </a:r>
            <a:r>
              <a:rPr lang="en-GB" sz="1400"/>
              <a:t>)</a:t>
            </a:r>
            <a:r>
              <a:rPr lang="en-GB" sz="1400" b="1"/>
              <a:t> </a:t>
            </a:r>
            <a:r>
              <a:rPr lang="en-GB" sz="1400"/>
              <a:t>at least one month before your event with your request. Please do not contact the Dean's office directly. If the Dean is unavailable then the Deputy Dean or a member of the School's Senior Management Team (SMT) may be able to attend in his place.</a:t>
            </a:r>
            <a:endParaRPr lang="en-GB" sz="1400">
              <a:cs typeface="Arial"/>
            </a:endParaRPr>
          </a:p>
          <a:p>
            <a:endParaRPr lang="en-GB" sz="1400">
              <a:solidFill>
                <a:srgbClr val="FF0000"/>
              </a:solidFill>
              <a:cs typeface="Arial"/>
            </a:endParaRPr>
          </a:p>
        </p:txBody>
      </p:sp>
    </p:spTree>
    <p:extLst>
      <p:ext uri="{BB962C8B-B14F-4D97-AF65-F5344CB8AC3E}">
        <p14:creationId xmlns:p14="http://schemas.microsoft.com/office/powerpoint/2010/main" val="28552167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p:txBody>
          <a:bodyPr/>
          <a:lstStyle/>
          <a:p>
            <a:r>
              <a:rPr lang="en-GB"/>
              <a:t>Logistics – on campus events</a:t>
            </a:r>
          </a:p>
        </p:txBody>
      </p:sp>
      <p:sp>
        <p:nvSpPr>
          <p:cNvPr id="7" name="Text Placeholder 6"/>
          <p:cNvSpPr>
            <a:spLocks noGrp="1"/>
          </p:cNvSpPr>
          <p:nvPr>
            <p:ph type="body" sz="quarter" idx="12"/>
          </p:nvPr>
        </p:nvSpPr>
        <p:spPr/>
        <p:txBody>
          <a:bodyPr/>
          <a:lstStyle/>
          <a:p>
            <a:endParaRPr lang="en-GB"/>
          </a:p>
        </p:txBody>
      </p:sp>
      <p:sp>
        <p:nvSpPr>
          <p:cNvPr id="3" name="Slide Number Placeholder 2"/>
          <p:cNvSpPr>
            <a:spLocks noGrp="1"/>
          </p:cNvSpPr>
          <p:nvPr>
            <p:ph type="sldNum" sz="quarter" idx="4294967295"/>
          </p:nvPr>
        </p:nvSpPr>
        <p:spPr>
          <a:xfrm>
            <a:off x="11723688" y="6303963"/>
            <a:ext cx="468312" cy="323850"/>
          </a:xfrm>
        </p:spPr>
        <p:txBody>
          <a:bodyPr/>
          <a:lstStyle/>
          <a:p>
            <a:fld id="{F97EA6E0-ACB3-C744-814F-68814E5220CF}" type="slidenum">
              <a:rPr lang="en-US" smtClean="0"/>
              <a:t>39</a:t>
            </a:fld>
            <a:endParaRPr lang="en-US"/>
          </a:p>
        </p:txBody>
      </p:sp>
    </p:spTree>
    <p:extLst>
      <p:ext uri="{BB962C8B-B14F-4D97-AF65-F5344CB8AC3E}">
        <p14:creationId xmlns:p14="http://schemas.microsoft.com/office/powerpoint/2010/main" val="7075610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4"/>
          </p:nvPr>
        </p:nvSpPr>
        <p:spPr>
          <a:xfrm>
            <a:off x="407988" y="875121"/>
            <a:ext cx="11430051" cy="5850143"/>
          </a:xfrm>
        </p:spPr>
        <p:txBody>
          <a:bodyPr vert="horz" lIns="0" tIns="72000" rIns="0" bIns="72000" numCol="1" spcCol="360000" rtlCol="0" anchor="t">
            <a:normAutofit fontScale="92500" lnSpcReduction="10000"/>
          </a:bodyPr>
          <a:lstStyle/>
          <a:p>
            <a:r>
              <a:rPr lang="en-GB" dirty="0"/>
              <a:t>To organise an event on campus, you'll need to collaborate with various London Business School teams. Here's a quick overview of these teams and how they will work with you to ensure a seamless and professional event experience for your attendees.</a:t>
            </a:r>
          </a:p>
          <a:p>
            <a:endParaRPr lang="en-GB" dirty="0"/>
          </a:p>
          <a:p>
            <a:endParaRPr lang="en-GB" dirty="0"/>
          </a:p>
          <a:p>
            <a:r>
              <a:rPr lang="en-GB" dirty="0"/>
              <a:t>S</a:t>
            </a:r>
          </a:p>
          <a:p>
            <a:r>
              <a:rPr lang="en-GB" dirty="0"/>
              <a:t>Your first port of call – the space management team will work with you to book the most appropriate spaces for your event. The team is responsible for managing room bookings on campus for all meetings and events. They will be able to advise on suitable spaces and how they can be used. </a:t>
            </a:r>
            <a:r>
              <a:rPr lang="en-GB" b="1" i="1"/>
              <a:t>You must confirm that space is available for your event before you do anything else (including advertising, selling tickets, or confirming speakers)</a:t>
            </a:r>
            <a:r>
              <a:rPr lang="en-GB"/>
              <a:t>. Space </a:t>
            </a:r>
            <a:r>
              <a:rPr lang="en-GB" dirty="0"/>
              <a:t>should be booked 3 weeks before the event.</a:t>
            </a:r>
            <a:endParaRPr lang="en-GB" dirty="0">
              <a:cs typeface="Arial"/>
            </a:endParaRPr>
          </a:p>
          <a:p>
            <a:endParaRPr lang="en-GB" dirty="0"/>
          </a:p>
          <a:p>
            <a:endParaRPr lang="en-GB" dirty="0"/>
          </a:p>
          <a:p>
            <a:endParaRPr lang="en-GB" dirty="0"/>
          </a:p>
          <a:p>
            <a:pPr fontAlgn="base"/>
            <a:r>
              <a:rPr lang="en-GB" b="1" dirty="0"/>
              <a:t>Lexington Catering </a:t>
            </a:r>
            <a:r>
              <a:rPr lang="en-GB" dirty="0"/>
              <a:t>is contracted to provide all in-house catering services at LBS. You will be able to select options from either their Spring/Summer or Autumn/Winter menu. Look out for the special event add-ons included in the Spring/Summer menu.</a:t>
            </a:r>
          </a:p>
          <a:p>
            <a:pPr fontAlgn="base"/>
            <a:endParaRPr lang="en-GB" sz="800" dirty="0"/>
          </a:p>
          <a:p>
            <a:pPr fontAlgn="base"/>
            <a:r>
              <a:rPr lang="en-GB" dirty="0"/>
              <a:t>All on campus catering must be provided by Lexington with the exception of the annual student-led Tattoo event. Set protocols need to be followed by the Tattoo organising committee in close liaison with the Lexington catering team to ensure food safety standards are adhered to with specific focus on hygiene and allergen controls. The School Catering General Manager must approve any use of external caterers for the provision of catering on campus. Contact the General Manager by emailing </a:t>
            </a:r>
            <a:r>
              <a:rPr lang="en-GB" u="sng" dirty="0">
                <a:hlinkClick r:id="rId2"/>
              </a:rPr>
              <a:t>cateringevents@london.edu</a:t>
            </a:r>
            <a:endParaRPr lang="en-GB" u="sng" dirty="0"/>
          </a:p>
          <a:p>
            <a:pPr fontAlgn="base"/>
            <a:endParaRPr lang="en-GB" u="sng" dirty="0"/>
          </a:p>
          <a:p>
            <a:pPr fontAlgn="base"/>
            <a:r>
              <a:rPr lang="en-US" dirty="0"/>
              <a:t>LBS has very strict alcohol </a:t>
            </a:r>
            <a:r>
              <a:rPr lang="en-US" dirty="0" err="1"/>
              <a:t>licencing</a:t>
            </a:r>
            <a:r>
              <a:rPr lang="en-US" dirty="0"/>
              <a:t> laws. Non-compliance could mean LBS losing its license for all future events. Please take this very seriously, as the local council performs random drop in checks. </a:t>
            </a:r>
            <a:endParaRPr lang="en-GB" dirty="0"/>
          </a:p>
          <a:p>
            <a:endParaRPr lang="en-GB" dirty="0"/>
          </a:p>
          <a:p>
            <a:endParaRPr lang="en-GB" dirty="0"/>
          </a:p>
        </p:txBody>
      </p:sp>
      <p:sp>
        <p:nvSpPr>
          <p:cNvPr id="4" name="Title 3"/>
          <p:cNvSpPr>
            <a:spLocks noGrp="1"/>
          </p:cNvSpPr>
          <p:nvPr>
            <p:ph type="title"/>
          </p:nvPr>
        </p:nvSpPr>
        <p:spPr/>
        <p:txBody>
          <a:bodyPr/>
          <a:lstStyle/>
          <a:p>
            <a:r>
              <a:rPr lang="en-GB" b="1"/>
              <a:t>On Campus events – LBS teams overview</a:t>
            </a:r>
          </a:p>
        </p:txBody>
      </p:sp>
      <p:sp>
        <p:nvSpPr>
          <p:cNvPr id="7" name="Rounded Rectangle 6"/>
          <p:cNvSpPr/>
          <p:nvPr/>
        </p:nvSpPr>
        <p:spPr>
          <a:xfrm>
            <a:off x="407986" y="1838686"/>
            <a:ext cx="2581020" cy="3736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Space management</a:t>
            </a:r>
          </a:p>
        </p:txBody>
      </p:sp>
      <p:sp>
        <p:nvSpPr>
          <p:cNvPr id="8" name="Rounded Rectangle 7"/>
          <p:cNvSpPr/>
          <p:nvPr/>
        </p:nvSpPr>
        <p:spPr>
          <a:xfrm>
            <a:off x="407986" y="3421682"/>
            <a:ext cx="2059909" cy="3736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Catering</a:t>
            </a:r>
          </a:p>
        </p:txBody>
      </p:sp>
      <p:sp>
        <p:nvSpPr>
          <p:cNvPr id="2" name="Pentagon 1"/>
          <p:cNvSpPr/>
          <p:nvPr/>
        </p:nvSpPr>
        <p:spPr>
          <a:xfrm>
            <a:off x="3087328" y="1838686"/>
            <a:ext cx="2104103" cy="373626"/>
          </a:xfrm>
          <a:prstGeom prst="homePlat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solidFill>
                  <a:schemeClr val="tx1"/>
                </a:solidFill>
                <a:hlinkClick r:id="rId3"/>
              </a:rPr>
              <a:t>space@london.edu</a:t>
            </a:r>
            <a:endParaRPr lang="en-GB" sz="1600">
              <a:solidFill>
                <a:schemeClr val="tx1"/>
              </a:solidFill>
            </a:endParaRPr>
          </a:p>
        </p:txBody>
      </p:sp>
      <p:sp>
        <p:nvSpPr>
          <p:cNvPr id="9" name="Pentagon 8"/>
          <p:cNvSpPr/>
          <p:nvPr/>
        </p:nvSpPr>
        <p:spPr>
          <a:xfrm>
            <a:off x="2664541" y="3421682"/>
            <a:ext cx="2949678" cy="373626"/>
          </a:xfrm>
          <a:prstGeom prst="homePlat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solidFill>
                  <a:schemeClr val="tx1"/>
                </a:solidFill>
                <a:hlinkClick r:id="rId2"/>
              </a:rPr>
              <a:t>cateringevents@london.edu</a:t>
            </a:r>
            <a:endParaRPr lang="en-GB" sz="1600">
              <a:solidFill>
                <a:schemeClr val="tx1"/>
              </a:solidFill>
            </a:endParaRPr>
          </a:p>
        </p:txBody>
      </p:sp>
      <p:sp>
        <p:nvSpPr>
          <p:cNvPr id="5" name="Pentagon 8"/>
          <p:cNvSpPr/>
          <p:nvPr/>
        </p:nvSpPr>
        <p:spPr>
          <a:xfrm>
            <a:off x="2664541" y="3421682"/>
            <a:ext cx="2949678" cy="373626"/>
          </a:xfrm>
          <a:prstGeom prst="homePlat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hlinkClick r:id="rId2"/>
              </a:rPr>
              <a:t>cateringevents@london.edu</a:t>
            </a:r>
            <a:endParaRPr lang="en-GB" sz="1600" dirty="0">
              <a:solidFill>
                <a:schemeClr val="tx1"/>
              </a:solidFill>
            </a:endParaRPr>
          </a:p>
        </p:txBody>
      </p:sp>
    </p:spTree>
    <p:extLst>
      <p:ext uri="{BB962C8B-B14F-4D97-AF65-F5344CB8AC3E}">
        <p14:creationId xmlns:p14="http://schemas.microsoft.com/office/powerpoint/2010/main" val="28142036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4"/>
          </p:nvPr>
        </p:nvSpPr>
        <p:spPr>
          <a:xfrm>
            <a:off x="407988" y="875122"/>
            <a:ext cx="11400554" cy="5682994"/>
          </a:xfrm>
        </p:spPr>
        <p:txBody>
          <a:bodyPr vert="horz" lIns="0" tIns="72000" rIns="0" bIns="72000" numCol="1" spcCol="360000" rtlCol="0" anchor="t">
            <a:normAutofit/>
          </a:bodyPr>
          <a:lstStyle/>
          <a:p>
            <a:endParaRPr lang="en-GB" dirty="0"/>
          </a:p>
          <a:p>
            <a:endParaRPr lang="en-GB" dirty="0"/>
          </a:p>
          <a:p>
            <a:endParaRPr lang="en-GB" dirty="0"/>
          </a:p>
          <a:p>
            <a:pPr>
              <a:spcBef>
                <a:spcPts val="0"/>
              </a:spcBef>
            </a:pPr>
            <a:r>
              <a:rPr lang="en-GB" dirty="0"/>
              <a:t>Our on-campus security team are here to provide a </a:t>
            </a:r>
            <a:r>
              <a:rPr lang="en-GB" b="1" dirty="0"/>
              <a:t>safe and secure environment</a:t>
            </a:r>
            <a:r>
              <a:rPr lang="en-GB" dirty="0"/>
              <a:t> for attendees at your event.</a:t>
            </a:r>
            <a:endParaRPr lang="en-GB" dirty="0">
              <a:cs typeface="Arial"/>
            </a:endParaRPr>
          </a:p>
          <a:p>
            <a:pPr>
              <a:spcBef>
                <a:spcPts val="0"/>
              </a:spcBef>
            </a:pPr>
            <a:endParaRPr lang="en-GB" sz="1000" dirty="0"/>
          </a:p>
          <a:p>
            <a:pPr>
              <a:spcBef>
                <a:spcPts val="0"/>
              </a:spcBef>
            </a:pPr>
            <a:endParaRPr lang="en-GB" sz="100" dirty="0"/>
          </a:p>
          <a:p>
            <a:pPr>
              <a:spcBef>
                <a:spcPts val="0"/>
              </a:spcBef>
            </a:pPr>
            <a:r>
              <a:rPr lang="en-GB" dirty="0"/>
              <a:t>For </a:t>
            </a:r>
            <a:r>
              <a:rPr lang="en-GB" b="1" dirty="0"/>
              <a:t>higher-risk events </a:t>
            </a:r>
            <a:r>
              <a:rPr lang="en-GB" dirty="0"/>
              <a:t>with 300+ attendees and alcohol service, the event organiser must agree with the Head of Security a procedure to manage guest numbers, such as using wristbands. It is the responsibility of the event organisers to ensure that the stated guest numbers are not exceeded. Contact details of the event organisers must be provided to Security, and the organisers must be contactable throughout the entire event.</a:t>
            </a:r>
            <a:endParaRPr lang="en-GB" dirty="0">
              <a:cs typeface="Arial"/>
            </a:endParaRPr>
          </a:p>
          <a:p>
            <a:r>
              <a:rPr lang="en-GB" dirty="0"/>
              <a:t>Security are also responsible for alerting local fire and police services about large scale events if required. </a:t>
            </a:r>
          </a:p>
          <a:p>
            <a:r>
              <a:rPr lang="en-GB" dirty="0"/>
              <a:t>It is really important that you let the security team know with plenty of notice if you plan to invite any </a:t>
            </a:r>
            <a:r>
              <a:rPr lang="en-GB" b="1" dirty="0"/>
              <a:t>high profile </a:t>
            </a:r>
            <a:r>
              <a:rPr lang="en-GB" dirty="0"/>
              <a:t>or potentially </a:t>
            </a:r>
            <a:r>
              <a:rPr lang="en-GB" b="1" dirty="0"/>
              <a:t>controversial</a:t>
            </a:r>
            <a:r>
              <a:rPr lang="en-GB" dirty="0"/>
              <a:t> </a:t>
            </a:r>
            <a:r>
              <a:rPr lang="en-GB" b="1" dirty="0"/>
              <a:t>speakers </a:t>
            </a:r>
            <a:r>
              <a:rPr lang="en-GB" dirty="0"/>
              <a:t>or </a:t>
            </a:r>
            <a:r>
              <a:rPr lang="en-GB" b="1" dirty="0"/>
              <a:t>guests</a:t>
            </a:r>
            <a:r>
              <a:rPr lang="en-GB" dirty="0"/>
              <a:t>. The team will work with you to assess any risks involved and ensure that appropriate provisions are in place. They will also liaise with their respective security teams if necessary.</a:t>
            </a:r>
            <a:r>
              <a:rPr lang="en-GB" dirty="0">
                <a:ea typeface="+mn-lt"/>
                <a:cs typeface="+mn-lt"/>
              </a:rPr>
              <a:t> </a:t>
            </a:r>
            <a:r>
              <a:rPr lang="en-GB" b="1" dirty="0">
                <a:ea typeface="+mn-lt"/>
                <a:cs typeface="+mn-lt"/>
              </a:rPr>
              <a:t>Please note that if additional security expenses are incurred relating to speaker requirements the event organiser will be required to cover this.</a:t>
            </a:r>
          </a:p>
          <a:p>
            <a:r>
              <a:rPr lang="en-GB" dirty="0"/>
              <a:t>Security will book </a:t>
            </a:r>
            <a:r>
              <a:rPr lang="en-GB" b="1" dirty="0"/>
              <a:t>parking </a:t>
            </a:r>
            <a:r>
              <a:rPr lang="en-GB" dirty="0"/>
              <a:t>for your event – for VIP speakers, crew or contractors and equipment deliveries/collections. They will also arrange for </a:t>
            </a:r>
            <a:r>
              <a:rPr lang="en-GB" b="1" dirty="0"/>
              <a:t>swipe access </a:t>
            </a:r>
            <a:r>
              <a:rPr lang="en-GB" dirty="0"/>
              <a:t>to be temporarily removed from any doors that will be used by your guests. Email security to book a parking space and include requirements for parking and swipe access removal in your event information sheet.</a:t>
            </a:r>
          </a:p>
          <a:p>
            <a:r>
              <a:rPr lang="en-GB" dirty="0"/>
              <a:t>Our security team are also often the first point of contact for a guest at your event, and will greet and direct them on arrival. So ensure that they are well briefed on your event, and share a guest list in advance. </a:t>
            </a:r>
            <a:endParaRPr lang="en-GB" dirty="0">
              <a:cs typeface="Arial"/>
            </a:endParaRPr>
          </a:p>
          <a:p>
            <a:endParaRPr lang="en-GB" dirty="0"/>
          </a:p>
          <a:p>
            <a:endParaRPr lang="en-GB" dirty="0"/>
          </a:p>
        </p:txBody>
      </p:sp>
      <p:sp>
        <p:nvSpPr>
          <p:cNvPr id="4" name="Title 3"/>
          <p:cNvSpPr>
            <a:spLocks noGrp="1"/>
          </p:cNvSpPr>
          <p:nvPr>
            <p:ph type="title"/>
          </p:nvPr>
        </p:nvSpPr>
        <p:spPr/>
        <p:txBody>
          <a:bodyPr/>
          <a:lstStyle/>
          <a:p>
            <a:r>
              <a:rPr lang="en-GB" b="1"/>
              <a:t>On Campus events – LBS teams overview</a:t>
            </a:r>
          </a:p>
        </p:txBody>
      </p:sp>
      <p:sp>
        <p:nvSpPr>
          <p:cNvPr id="5" name="Rounded Rectangle 4"/>
          <p:cNvSpPr/>
          <p:nvPr/>
        </p:nvSpPr>
        <p:spPr>
          <a:xfrm>
            <a:off x="407987" y="1339855"/>
            <a:ext cx="2059909" cy="3736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Arial" panose="020B0604020202020204"/>
                <a:ea typeface="+mn-ea"/>
                <a:cs typeface="+mn-cs"/>
              </a:rPr>
              <a:t>Security</a:t>
            </a:r>
          </a:p>
        </p:txBody>
      </p:sp>
      <p:sp>
        <p:nvSpPr>
          <p:cNvPr id="2" name="Pentagon 6"/>
          <p:cNvSpPr/>
          <p:nvPr/>
        </p:nvSpPr>
        <p:spPr>
          <a:xfrm>
            <a:off x="2713704" y="1339855"/>
            <a:ext cx="2428567" cy="373626"/>
          </a:xfrm>
          <a:prstGeom prst="homePlat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hlinkClick r:id="rId2"/>
              </a:rPr>
              <a:t>security@london.edu</a:t>
            </a:r>
            <a:endParaRPr lang="en-GB" sz="1600" dirty="0">
              <a:solidFill>
                <a:schemeClr val="tx1"/>
              </a:solidFill>
            </a:endParaRPr>
          </a:p>
        </p:txBody>
      </p:sp>
    </p:spTree>
    <p:extLst>
      <p:ext uri="{BB962C8B-B14F-4D97-AF65-F5344CB8AC3E}">
        <p14:creationId xmlns:p14="http://schemas.microsoft.com/office/powerpoint/2010/main" val="24513044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4"/>
          </p:nvPr>
        </p:nvSpPr>
        <p:spPr>
          <a:xfrm>
            <a:off x="407988" y="884954"/>
            <a:ext cx="11026928" cy="5682994"/>
          </a:xfrm>
        </p:spPr>
        <p:txBody>
          <a:bodyPr vert="horz" lIns="0" tIns="72000" rIns="0" bIns="72000" numCol="1" spcCol="360000" rtlCol="0" anchor="t">
            <a:normAutofit fontScale="92500" lnSpcReduction="20000"/>
          </a:bodyPr>
          <a:lstStyle/>
          <a:p>
            <a:r>
              <a:rPr lang="en-GB" dirty="0"/>
              <a:t>Estates Helpdesk – the following teams can be contacted via the helpdesk:</a:t>
            </a:r>
          </a:p>
          <a:p>
            <a:endParaRPr lang="en-GB" dirty="0"/>
          </a:p>
          <a:p>
            <a:endParaRPr lang="en-GB" dirty="0">
              <a:cs typeface="Arial" panose="020B0604020202020204"/>
            </a:endParaRPr>
          </a:p>
          <a:p>
            <a:endParaRPr lang="en-GB" dirty="0"/>
          </a:p>
          <a:p>
            <a:r>
              <a:rPr lang="en-GB" dirty="0"/>
              <a:t>The dedicated and hard working team of porters at LBS will take care of </a:t>
            </a:r>
            <a:r>
              <a:rPr lang="en-GB" b="1" dirty="0"/>
              <a:t>all set up requirements </a:t>
            </a:r>
            <a:r>
              <a:rPr lang="en-GB" dirty="0"/>
              <a:t>for your event. </a:t>
            </a:r>
          </a:p>
          <a:p>
            <a:r>
              <a:rPr lang="en-GB" dirty="0"/>
              <a:t>They will place furniture where it is needed, set up seating and catering tables and also move items around for you if required. Through the porters team you can request items like stage furniture, registration desks, trestle tables and poser tables. Email them if you have any questions about what items we have available to use, and if you want to view any of the items or see mock set ups ahead of the event.</a:t>
            </a:r>
          </a:p>
          <a:p>
            <a:r>
              <a:rPr lang="en-GB" dirty="0"/>
              <a:t>Ensure that you give them enough notice of your plans so that they can ensure they have the appropriate resource available.</a:t>
            </a:r>
            <a:endParaRPr lang="en-GB" dirty="0">
              <a:cs typeface="Arial"/>
            </a:endParaRPr>
          </a:p>
          <a:p>
            <a:endParaRPr lang="en-GB" dirty="0"/>
          </a:p>
          <a:p>
            <a:endParaRPr lang="en-GB" dirty="0"/>
          </a:p>
          <a:p>
            <a:r>
              <a:rPr lang="en-GB" dirty="0"/>
              <a:t>The cleaning team will ensure that all spaces are </a:t>
            </a:r>
            <a:r>
              <a:rPr lang="en-GB" b="1" dirty="0"/>
              <a:t>clean and tidy </a:t>
            </a:r>
            <a:r>
              <a:rPr lang="en-GB" dirty="0"/>
              <a:t>before your guests arrive. They will also clean spaces in break times if necessary and after the event to get rooms ready for the next booking.</a:t>
            </a:r>
          </a:p>
          <a:p>
            <a:r>
              <a:rPr lang="en-GB" dirty="0"/>
              <a:t>Events may be subject to a cleaning charge when food and/or alcohol are served.  This will be determined via an independent assessment of the cleaning requirements by the Cleaning Manager prior to the event. The cleaning team will update you on this fee in the Key Events Meeting.</a:t>
            </a:r>
          </a:p>
          <a:p>
            <a:endParaRPr lang="en-GB" dirty="0">
              <a:cs typeface="Arial" panose="020B0604020202020204"/>
            </a:endParaRPr>
          </a:p>
          <a:p>
            <a:endParaRPr lang="en-GB" dirty="0"/>
          </a:p>
          <a:p>
            <a:endParaRPr lang="en-GB" dirty="0"/>
          </a:p>
          <a:p>
            <a:r>
              <a:rPr lang="en-GB" dirty="0"/>
              <a:t>Maintenance will be able to help with any </a:t>
            </a:r>
            <a:r>
              <a:rPr lang="en-GB" b="1" dirty="0"/>
              <a:t>power requirements</a:t>
            </a:r>
            <a:r>
              <a:rPr lang="en-GB" dirty="0"/>
              <a:t>, such as extension leads for registration desks, or specific requirements of external suppliers.</a:t>
            </a:r>
          </a:p>
          <a:p>
            <a:endParaRPr lang="en-GB" dirty="0"/>
          </a:p>
          <a:p>
            <a:endParaRPr lang="en-GB" dirty="0"/>
          </a:p>
        </p:txBody>
      </p:sp>
      <p:sp>
        <p:nvSpPr>
          <p:cNvPr id="4" name="Title 3"/>
          <p:cNvSpPr>
            <a:spLocks noGrp="1"/>
          </p:cNvSpPr>
          <p:nvPr>
            <p:ph type="title"/>
          </p:nvPr>
        </p:nvSpPr>
        <p:spPr/>
        <p:txBody>
          <a:bodyPr/>
          <a:lstStyle/>
          <a:p>
            <a:r>
              <a:rPr lang="en-GB" b="1"/>
              <a:t>On Campus events – LBS teams overview</a:t>
            </a:r>
          </a:p>
        </p:txBody>
      </p:sp>
      <p:sp>
        <p:nvSpPr>
          <p:cNvPr id="5" name="Rounded Rectangle 4"/>
          <p:cNvSpPr/>
          <p:nvPr/>
        </p:nvSpPr>
        <p:spPr>
          <a:xfrm>
            <a:off x="407987" y="3508991"/>
            <a:ext cx="2059909" cy="3736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Cleaning</a:t>
            </a:r>
          </a:p>
        </p:txBody>
      </p:sp>
      <p:sp>
        <p:nvSpPr>
          <p:cNvPr id="8" name="Rounded Rectangle 7"/>
          <p:cNvSpPr/>
          <p:nvPr/>
        </p:nvSpPr>
        <p:spPr>
          <a:xfrm>
            <a:off x="398153" y="1443093"/>
            <a:ext cx="2059909" cy="3736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Porters</a:t>
            </a:r>
          </a:p>
        </p:txBody>
      </p:sp>
      <p:sp>
        <p:nvSpPr>
          <p:cNvPr id="9" name="Pentagon 8"/>
          <p:cNvSpPr/>
          <p:nvPr/>
        </p:nvSpPr>
        <p:spPr>
          <a:xfrm>
            <a:off x="2694038" y="3508991"/>
            <a:ext cx="2359743" cy="373626"/>
          </a:xfrm>
          <a:prstGeom prst="homePlate">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a:solidFill>
                  <a:srgbClr val="FF0000"/>
                </a:solidFill>
                <a:hlinkClick r:id="rId2"/>
              </a:rPr>
              <a:t>estates</a:t>
            </a:r>
            <a:r>
              <a:rPr lang="en-GB" sz="1600">
                <a:solidFill>
                  <a:schemeClr val="tx1"/>
                </a:solidFill>
                <a:hlinkClick r:id="rId2"/>
              </a:rPr>
              <a:t>@london.edu</a:t>
            </a:r>
          </a:p>
        </p:txBody>
      </p:sp>
      <p:sp>
        <p:nvSpPr>
          <p:cNvPr id="2" name="Pentagon 6"/>
          <p:cNvSpPr/>
          <p:nvPr/>
        </p:nvSpPr>
        <p:spPr>
          <a:xfrm>
            <a:off x="2694037" y="1443093"/>
            <a:ext cx="2359743" cy="373626"/>
          </a:xfrm>
          <a:prstGeom prst="homePlat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hlinkClick r:id="rId2"/>
              </a:rPr>
              <a:t>estates</a:t>
            </a:r>
            <a:r>
              <a:rPr lang="en-GB" sz="1600" dirty="0">
                <a:solidFill>
                  <a:schemeClr val="tx1"/>
                </a:solidFill>
                <a:hlinkClick r:id="rId2"/>
              </a:rPr>
              <a:t>@london.edu</a:t>
            </a:r>
            <a:endParaRPr lang="en-GB" sz="1600" dirty="0">
              <a:solidFill>
                <a:schemeClr val="tx1"/>
              </a:solidFill>
            </a:endParaRPr>
          </a:p>
        </p:txBody>
      </p:sp>
      <p:sp>
        <p:nvSpPr>
          <p:cNvPr id="10" name="Rounded Rectangle 9"/>
          <p:cNvSpPr/>
          <p:nvPr/>
        </p:nvSpPr>
        <p:spPr>
          <a:xfrm>
            <a:off x="398154" y="5287505"/>
            <a:ext cx="2059909" cy="3736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Maintenance</a:t>
            </a:r>
          </a:p>
        </p:txBody>
      </p:sp>
      <p:sp>
        <p:nvSpPr>
          <p:cNvPr id="11" name="Pentagon 8"/>
          <p:cNvSpPr/>
          <p:nvPr/>
        </p:nvSpPr>
        <p:spPr>
          <a:xfrm>
            <a:off x="2703872" y="5287505"/>
            <a:ext cx="2428567" cy="373626"/>
          </a:xfrm>
          <a:prstGeom prst="homePlat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solidFill>
                  <a:schemeClr val="tx1"/>
                </a:solidFill>
                <a:hlinkClick r:id="rId2"/>
              </a:rPr>
              <a:t>estates@london.edu</a:t>
            </a:r>
            <a:endParaRPr lang="en-GB" sz="1600">
              <a:solidFill>
                <a:schemeClr val="tx1"/>
              </a:solidFill>
            </a:endParaRPr>
          </a:p>
        </p:txBody>
      </p:sp>
    </p:spTree>
    <p:extLst>
      <p:ext uri="{BB962C8B-B14F-4D97-AF65-F5344CB8AC3E}">
        <p14:creationId xmlns:p14="http://schemas.microsoft.com/office/powerpoint/2010/main" val="36485586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4"/>
          </p:nvPr>
        </p:nvSpPr>
        <p:spPr>
          <a:xfrm>
            <a:off x="407988" y="846033"/>
            <a:ext cx="10944225" cy="5682994"/>
          </a:xfrm>
        </p:spPr>
        <p:txBody>
          <a:bodyPr vert="horz" lIns="0" tIns="72000" rIns="0" bIns="72000" numCol="1" spcCol="360000" rtlCol="0" anchor="t">
            <a:normAutofit lnSpcReduction="10000"/>
          </a:bodyPr>
          <a:lstStyle/>
          <a:p>
            <a:endParaRPr lang="en-GB"/>
          </a:p>
          <a:p>
            <a:r>
              <a:rPr lang="en-GB"/>
              <a:t>The </a:t>
            </a:r>
            <a:r>
              <a:rPr lang="en-GB" b="1"/>
              <a:t>Gift Shop </a:t>
            </a:r>
            <a:r>
              <a:rPr lang="en-GB"/>
              <a:t>can source branded items for your event to be used as speaker gifts or giveaways for your attendees. With enough notice they can also arrange for the shop to be open out of hours or arrange a small ‘pop up shop’ if you expect to have attendees that would want to purchase branded items. </a:t>
            </a:r>
            <a:endParaRPr lang="en-GB">
              <a:cs typeface="Arial"/>
            </a:endParaRPr>
          </a:p>
          <a:p>
            <a:endParaRPr lang="en-GB">
              <a:solidFill>
                <a:srgbClr val="001E61"/>
              </a:solidFill>
              <a:cs typeface="Arial"/>
            </a:endParaRPr>
          </a:p>
          <a:p>
            <a:endParaRPr lang="en-GB"/>
          </a:p>
          <a:p>
            <a:r>
              <a:rPr lang="en-GB">
                <a:cs typeface="Arial"/>
              </a:rPr>
              <a:t>You can book members of the </a:t>
            </a:r>
            <a:r>
              <a:rPr lang="en-GB" b="1">
                <a:cs typeface="Arial"/>
              </a:rPr>
              <a:t>Welcome Desk team t</a:t>
            </a:r>
            <a:r>
              <a:rPr lang="en-GB">
                <a:cs typeface="Arial"/>
              </a:rPr>
              <a:t>o assist with </a:t>
            </a:r>
            <a:r>
              <a:rPr lang="en-GB" b="1">
                <a:cs typeface="Arial"/>
              </a:rPr>
              <a:t>registering </a:t>
            </a:r>
            <a:r>
              <a:rPr lang="en-GB">
                <a:cs typeface="Arial"/>
              </a:rPr>
              <a:t>and greeting your guests on the day should you need to. Contact </a:t>
            </a:r>
            <a:r>
              <a:rPr lang="en-GB" b="1">
                <a:cs typeface="Arial"/>
              </a:rPr>
              <a:t>Atif Shaikh</a:t>
            </a:r>
            <a:r>
              <a:rPr lang="en-GB">
                <a:cs typeface="Arial"/>
              </a:rPr>
              <a:t>, the Welcome Desk Manager, preferably at least 3 weeks ahead to book registration support.</a:t>
            </a:r>
            <a:endParaRPr lang="en-GB"/>
          </a:p>
          <a:p>
            <a:endParaRPr lang="en-GB">
              <a:cs typeface="Arial"/>
            </a:endParaRPr>
          </a:p>
          <a:p>
            <a:endParaRPr lang="en-GB">
              <a:cs typeface="Arial"/>
            </a:endParaRPr>
          </a:p>
          <a:p>
            <a:r>
              <a:rPr lang="en-GB"/>
              <a:t>Our team of Duty Managers are here to </a:t>
            </a:r>
            <a:r>
              <a:rPr lang="en-GB" b="1"/>
              <a:t>support you </a:t>
            </a:r>
            <a:r>
              <a:rPr lang="en-GB"/>
              <a:t>and ensure that everything runs smoothly on the day of your event.</a:t>
            </a:r>
            <a:endParaRPr lang="en-GB">
              <a:cs typeface="Arial"/>
            </a:endParaRPr>
          </a:p>
          <a:p>
            <a:r>
              <a:rPr lang="en-GB"/>
              <a:t>Your assigned Duty Manager will be the </a:t>
            </a:r>
            <a:r>
              <a:rPr lang="en-GB" b="1"/>
              <a:t>central point of contact</a:t>
            </a:r>
            <a:r>
              <a:rPr lang="en-GB"/>
              <a:t>, serving as the liaison between you and all Campus Services teams. They will be contactable at all times to swiftly resolve any issues or coordinate additional assistance required. This will allow you more time to focus on delivering an outstanding experience for your attendees.</a:t>
            </a:r>
            <a:endParaRPr lang="en-GB">
              <a:cs typeface="Arial"/>
            </a:endParaRPr>
          </a:p>
          <a:p>
            <a:endParaRPr lang="en-GB"/>
          </a:p>
          <a:p>
            <a:endParaRPr lang="en-GB"/>
          </a:p>
          <a:p>
            <a:r>
              <a:rPr lang="en-GB"/>
              <a:t>The AV team can answer any questions about AV equipment that is available in event spaces at the School and how to use it. For events held in Nuffield Hall additional equipment and operators may need to be brought in depending on requirements. Please contact the team at </a:t>
            </a:r>
            <a:r>
              <a:rPr lang="en-GB">
                <a:hlinkClick r:id="rId2"/>
              </a:rPr>
              <a:t>AVhelp@london.edu</a:t>
            </a:r>
            <a:r>
              <a:rPr lang="en-GB"/>
              <a:t> with a</a:t>
            </a:r>
            <a:r>
              <a:rPr lang="en-GB" b="1"/>
              <a:t> minimum of two weeks' notice </a:t>
            </a:r>
            <a:r>
              <a:rPr lang="en-GB"/>
              <a:t>to discuss your event and AV requirements and they will be able to advise on the set up needed and any associated costs.</a:t>
            </a:r>
            <a:endParaRPr lang="en-GB">
              <a:cs typeface="Arial"/>
            </a:endParaRPr>
          </a:p>
          <a:p>
            <a:endParaRPr lang="en-GB"/>
          </a:p>
          <a:p>
            <a:endParaRPr lang="en-GB"/>
          </a:p>
        </p:txBody>
      </p:sp>
      <p:sp>
        <p:nvSpPr>
          <p:cNvPr id="4" name="Title 3"/>
          <p:cNvSpPr>
            <a:spLocks noGrp="1"/>
          </p:cNvSpPr>
          <p:nvPr>
            <p:ph type="title"/>
          </p:nvPr>
        </p:nvSpPr>
        <p:spPr/>
        <p:txBody>
          <a:bodyPr/>
          <a:lstStyle/>
          <a:p>
            <a:r>
              <a:rPr lang="en-GB" b="1"/>
              <a:t>On Campus events – LBS teams overview</a:t>
            </a:r>
          </a:p>
        </p:txBody>
      </p:sp>
      <p:sp>
        <p:nvSpPr>
          <p:cNvPr id="5" name="Rounded Rectangle 4"/>
          <p:cNvSpPr/>
          <p:nvPr/>
        </p:nvSpPr>
        <p:spPr>
          <a:xfrm>
            <a:off x="398463" y="3381864"/>
            <a:ext cx="2059909" cy="3736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Duty Managers</a:t>
            </a:r>
          </a:p>
        </p:txBody>
      </p:sp>
      <p:sp>
        <p:nvSpPr>
          <p:cNvPr id="8" name="Rounded Rectangle 7"/>
          <p:cNvSpPr/>
          <p:nvPr/>
        </p:nvSpPr>
        <p:spPr>
          <a:xfrm>
            <a:off x="407988" y="773884"/>
            <a:ext cx="1929631" cy="3958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Gift Shop</a:t>
            </a:r>
          </a:p>
        </p:txBody>
      </p:sp>
      <p:sp>
        <p:nvSpPr>
          <p:cNvPr id="7" name="Rounded Rectangle 6"/>
          <p:cNvSpPr/>
          <p:nvPr/>
        </p:nvSpPr>
        <p:spPr>
          <a:xfrm>
            <a:off x="407988" y="5023517"/>
            <a:ext cx="1926559" cy="3831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AV</a:t>
            </a:r>
          </a:p>
        </p:txBody>
      </p:sp>
      <p:sp>
        <p:nvSpPr>
          <p:cNvPr id="3" name="Pentagon 6">
            <a:extLst>
              <a:ext uri="{FF2B5EF4-FFF2-40B4-BE49-F238E27FC236}">
                <a16:creationId xmlns:a16="http://schemas.microsoft.com/office/drawing/2014/main" id="{DA228CC9-9772-B259-C2CE-6FF83E8D5E71}"/>
              </a:ext>
            </a:extLst>
          </p:cNvPr>
          <p:cNvSpPr/>
          <p:nvPr/>
        </p:nvSpPr>
        <p:spPr>
          <a:xfrm>
            <a:off x="2647855" y="5023338"/>
            <a:ext cx="2359743" cy="373626"/>
          </a:xfrm>
          <a:prstGeom prst="homePlate">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a:solidFill>
                  <a:schemeClr val="tx1"/>
                </a:solidFill>
                <a:hlinkClick r:id="rId3">
                  <a:extLst>
                    <a:ext uri="{A12FA001-AC4F-418D-AE19-62706E023703}">
                      <ahyp:hlinkClr xmlns:ahyp="http://schemas.microsoft.com/office/drawing/2018/hyperlinkcolor" val="tx"/>
                    </a:ext>
                  </a:extLst>
                </a:hlinkClick>
              </a:rPr>
              <a:t>avhelp@london.edu</a:t>
            </a:r>
          </a:p>
        </p:txBody>
      </p:sp>
      <p:sp>
        <p:nvSpPr>
          <p:cNvPr id="2" name="Rounded Rectangle 7">
            <a:extLst>
              <a:ext uri="{FF2B5EF4-FFF2-40B4-BE49-F238E27FC236}">
                <a16:creationId xmlns:a16="http://schemas.microsoft.com/office/drawing/2014/main" id="{36290F7F-3C3C-64A1-6F4C-058AB18D7D7A}"/>
              </a:ext>
            </a:extLst>
          </p:cNvPr>
          <p:cNvSpPr/>
          <p:nvPr/>
        </p:nvSpPr>
        <p:spPr>
          <a:xfrm>
            <a:off x="407988" y="2116908"/>
            <a:ext cx="2053456" cy="4053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Welcome </a:t>
            </a:r>
            <a:r>
              <a:rPr kumimoji="0" lang="en-GB" sz="1800" b="1" i="0" u="none" strike="noStrike" kern="1200" cap="none" spc="0" normalizeH="0" baseline="0" noProof="0">
                <a:ln>
                  <a:noFill/>
                </a:ln>
                <a:solidFill>
                  <a:srgbClr val="FFFFFF"/>
                </a:solidFill>
                <a:effectLst/>
                <a:uLnTx/>
                <a:uFillTx/>
                <a:latin typeface="Arial" panose="020B0604020202020204"/>
              </a:rPr>
              <a:t>Desk</a:t>
            </a:r>
            <a:endParaRPr kumimoji="0" lang="en-GB" sz="1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Pentagon 6">
            <a:extLst>
              <a:ext uri="{FF2B5EF4-FFF2-40B4-BE49-F238E27FC236}">
                <a16:creationId xmlns:a16="http://schemas.microsoft.com/office/drawing/2014/main" id="{AE2C0B98-8DA1-A171-E63B-B4E3552EBF2C}"/>
              </a:ext>
            </a:extLst>
          </p:cNvPr>
          <p:cNvSpPr/>
          <p:nvPr/>
        </p:nvSpPr>
        <p:spPr>
          <a:xfrm>
            <a:off x="2647855" y="2118213"/>
            <a:ext cx="2359743" cy="373626"/>
          </a:xfrm>
          <a:prstGeom prst="homePlate">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a:solidFill>
                  <a:schemeClr val="tx1"/>
                </a:solidFill>
                <a:hlinkClick r:id="rId4">
                  <a:extLst>
                    <a:ext uri="{A12FA001-AC4F-418D-AE19-62706E023703}">
                      <ahyp:hlinkClr xmlns:ahyp="http://schemas.microsoft.com/office/drawing/2018/hyperlinkcolor" val="tx"/>
                    </a:ext>
                  </a:extLst>
                </a:hlinkClick>
              </a:rPr>
              <a:t>ashaikh@london.edu</a:t>
            </a:r>
          </a:p>
        </p:txBody>
      </p:sp>
      <p:sp>
        <p:nvSpPr>
          <p:cNvPr id="10" name="Pentagon 6">
            <a:extLst>
              <a:ext uri="{FF2B5EF4-FFF2-40B4-BE49-F238E27FC236}">
                <a16:creationId xmlns:a16="http://schemas.microsoft.com/office/drawing/2014/main" id="{ACE3C566-FDEB-8440-9461-7B4D163B3220}"/>
              </a:ext>
            </a:extLst>
          </p:cNvPr>
          <p:cNvSpPr/>
          <p:nvPr/>
        </p:nvSpPr>
        <p:spPr>
          <a:xfrm>
            <a:off x="2647855" y="794238"/>
            <a:ext cx="2359743" cy="373626"/>
          </a:xfrm>
          <a:prstGeom prst="homePlate">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a:solidFill>
                  <a:schemeClr val="tx1"/>
                </a:solidFill>
                <a:hlinkClick r:id="rId5">
                  <a:extLst>
                    <a:ext uri="{A12FA001-AC4F-418D-AE19-62706E023703}">
                      <ahyp:hlinkClr xmlns:ahyp="http://schemas.microsoft.com/office/drawing/2018/hyperlinkcolor" val="tx"/>
                    </a:ext>
                  </a:extLst>
                </a:hlinkClick>
              </a:rPr>
              <a:t>shop@london.edu</a:t>
            </a:r>
          </a:p>
        </p:txBody>
      </p:sp>
      <p:sp>
        <p:nvSpPr>
          <p:cNvPr id="11" name="Pentagon 6">
            <a:extLst>
              <a:ext uri="{FF2B5EF4-FFF2-40B4-BE49-F238E27FC236}">
                <a16:creationId xmlns:a16="http://schemas.microsoft.com/office/drawing/2014/main" id="{355D8A45-8836-E907-1BAE-2F18F42E77D3}"/>
              </a:ext>
            </a:extLst>
          </p:cNvPr>
          <p:cNvSpPr/>
          <p:nvPr/>
        </p:nvSpPr>
        <p:spPr>
          <a:xfrm>
            <a:off x="2647854" y="3381254"/>
            <a:ext cx="2892099" cy="384064"/>
          </a:xfrm>
          <a:prstGeom prst="homePlate">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a:solidFill>
                  <a:schemeClr val="tx1"/>
                </a:solidFill>
                <a:hlinkClick r:id="rId4">
                  <a:extLst>
                    <a:ext uri="{A12FA001-AC4F-418D-AE19-62706E023703}">
                      <ahyp:hlinkClr xmlns:ahyp="http://schemas.microsoft.com/office/drawing/2018/hyperlinkcolor" val="tx"/>
                    </a:ext>
                  </a:extLst>
                </a:hlinkClick>
              </a:rPr>
              <a:t>dutymanagers@london.edu</a:t>
            </a:r>
          </a:p>
        </p:txBody>
      </p:sp>
    </p:spTree>
    <p:extLst>
      <p:ext uri="{BB962C8B-B14F-4D97-AF65-F5344CB8AC3E}">
        <p14:creationId xmlns:p14="http://schemas.microsoft.com/office/powerpoint/2010/main" val="10898098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7EA6E0-ACB3-C744-814F-68814E5220CF}" type="slidenum">
              <a:rPr kumimoji="0" lang="en-US" sz="1200" b="1" i="0" u="none" strike="noStrike" kern="1200" cap="none" spc="0" normalizeH="0" baseline="0" noProof="0" smtClean="0">
                <a:ln>
                  <a:noFill/>
                </a:ln>
                <a:solidFill>
                  <a:srgbClr val="D1D0D2">
                    <a:lumMod val="20000"/>
                    <a:lumOff val="80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1" i="0" u="none" strike="noStrike" kern="1200" cap="none" spc="0" normalizeH="0" baseline="0" noProof="0">
              <a:ln>
                <a:noFill/>
              </a:ln>
              <a:solidFill>
                <a:srgbClr val="D1D0D2">
                  <a:lumMod val="20000"/>
                  <a:lumOff val="80000"/>
                </a:srgbClr>
              </a:solidFill>
              <a:effectLst/>
              <a:uLnTx/>
              <a:uFillTx/>
              <a:latin typeface="Arial" panose="020B0604020202020204"/>
              <a:ea typeface="+mn-ea"/>
              <a:cs typeface="+mn-cs"/>
            </a:endParaRPr>
          </a:p>
        </p:txBody>
      </p:sp>
      <p:graphicFrame>
        <p:nvGraphicFramePr>
          <p:cNvPr id="6" name="Diagram 5"/>
          <p:cNvGraphicFramePr/>
          <p:nvPr/>
        </p:nvGraphicFramePr>
        <p:xfrm>
          <a:off x="159445" y="852842"/>
          <a:ext cx="11786749"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6"/>
          <p:cNvSpPr>
            <a:spLocks noGrp="1"/>
          </p:cNvSpPr>
          <p:nvPr>
            <p:ph type="title"/>
          </p:nvPr>
        </p:nvSpPr>
        <p:spPr/>
        <p:txBody>
          <a:bodyPr/>
          <a:lstStyle/>
          <a:p>
            <a:r>
              <a:rPr lang="en-GB" b="1"/>
              <a:t>On Campus events – process overview</a:t>
            </a:r>
          </a:p>
        </p:txBody>
      </p:sp>
    </p:spTree>
    <p:extLst>
      <p:ext uri="{BB962C8B-B14F-4D97-AF65-F5344CB8AC3E}">
        <p14:creationId xmlns:p14="http://schemas.microsoft.com/office/powerpoint/2010/main" val="5078585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4"/>
          </p:nvPr>
        </p:nvSpPr>
        <p:spPr>
          <a:xfrm>
            <a:off x="591954" y="1927137"/>
            <a:ext cx="11078935" cy="1511841"/>
          </a:xfrm>
        </p:spPr>
        <p:txBody>
          <a:bodyPr vert="horz" lIns="0" tIns="72000" rIns="0" bIns="72000" numCol="1" spcCol="360000" rtlCol="0" anchor="t">
            <a:noAutofit/>
          </a:bodyPr>
          <a:lstStyle/>
          <a:p>
            <a:pPr marL="285750" indent="-285750">
              <a:buFont typeface="Wingdings" panose="05000000000000000000" pitchFamily="2" charset="2"/>
              <a:buChar char="Ø"/>
            </a:pPr>
            <a:r>
              <a:rPr lang="en-GB" sz="1400"/>
              <a:t>An LBS Events Ts and Cs document will be signed by each Club President at the start of the academic year. This must be done before a Club can book space and hold events on campus</a:t>
            </a:r>
            <a:endParaRPr lang="en-GB" sz="1400">
              <a:solidFill>
                <a:srgbClr val="FF0000"/>
              </a:solidFill>
              <a:cs typeface="Arial"/>
            </a:endParaRPr>
          </a:p>
          <a:p>
            <a:pPr marL="285750" indent="-285750">
              <a:buFont typeface="Wingdings" panose="05000000000000000000" pitchFamily="2" charset="2"/>
              <a:buChar char="Ø"/>
            </a:pPr>
            <a:r>
              <a:rPr lang="en-GB" sz="1400"/>
              <a:t>To make a booking, complete a </a:t>
            </a:r>
            <a:r>
              <a:rPr lang="en-GB" sz="1400" u="sng">
                <a:solidFill>
                  <a:srgbClr val="FF0000"/>
                </a:solidFill>
                <a:hlinkClick r:id="rId2"/>
              </a:rPr>
              <a:t>Crib Sheet</a:t>
            </a:r>
            <a:r>
              <a:rPr lang="en-GB" sz="1400" u="sng">
                <a:solidFill>
                  <a:srgbClr val="FF0000"/>
                </a:solidFill>
              </a:rPr>
              <a:t> </a:t>
            </a:r>
            <a:r>
              <a:rPr lang="en-GB" sz="1400"/>
              <a:t>with details of your planned event and email this along with any other relevant details to </a:t>
            </a:r>
            <a:r>
              <a:rPr lang="en-GB" sz="1400">
                <a:hlinkClick r:id="rId3"/>
              </a:rPr>
              <a:t>space@london.edu</a:t>
            </a:r>
            <a:endParaRPr lang="en-GB" sz="1400">
              <a:cs typeface="Arial"/>
            </a:endParaRPr>
          </a:p>
          <a:p>
            <a:pPr marL="285750" indent="-285750">
              <a:buFont typeface="Wingdings" panose="05000000000000000000" pitchFamily="2" charset="2"/>
              <a:buChar char="Ø"/>
            </a:pPr>
            <a:r>
              <a:rPr lang="en-GB" sz="1400"/>
              <a:t>Once your space booking is confirmed you will receive a confirmation along with a booking ID</a:t>
            </a:r>
            <a:endParaRPr lang="en-GB" sz="1400">
              <a:cs typeface="Arial"/>
            </a:endParaRPr>
          </a:p>
          <a:p>
            <a:pPr marL="285750" indent="-285750">
              <a:buFont typeface="Wingdings" panose="05000000000000000000" pitchFamily="2" charset="2"/>
              <a:buChar char="Ø"/>
            </a:pPr>
            <a:r>
              <a:rPr lang="en-GB" sz="1400">
                <a:cs typeface="Arial"/>
              </a:rPr>
              <a:t>The space management team will advise you on whether you need to complete an event information sheet and attend the key events meeting</a:t>
            </a:r>
          </a:p>
          <a:p>
            <a:pPr marL="285750" indent="-285750">
              <a:buFont typeface="Arial" panose="020B0604020202020204" pitchFamily="34" charset="0"/>
              <a:buChar char="•"/>
            </a:pPr>
            <a:endParaRPr lang="en-GB">
              <a:cs typeface="Arial" panose="020B0604020202020204"/>
            </a:endParaRPr>
          </a:p>
          <a:p>
            <a:endParaRPr lang="en-GB"/>
          </a:p>
          <a:p>
            <a:endParaRPr lang="en-GB"/>
          </a:p>
          <a:p>
            <a:endParaRPr lang="en-GB"/>
          </a:p>
          <a:p>
            <a:endParaRPr lang="en-GB"/>
          </a:p>
          <a:p>
            <a:endParaRPr lang="en-GB">
              <a:cs typeface="Arial" panose="020B0604020202020204"/>
            </a:endParaRPr>
          </a:p>
        </p:txBody>
      </p:sp>
      <p:sp>
        <p:nvSpPr>
          <p:cNvPr id="8" name="Pentagon 7"/>
          <p:cNvSpPr/>
          <p:nvPr/>
        </p:nvSpPr>
        <p:spPr>
          <a:xfrm>
            <a:off x="589935" y="875071"/>
            <a:ext cx="2507225" cy="89473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Step one</a:t>
            </a:r>
          </a:p>
        </p:txBody>
      </p:sp>
      <p:sp>
        <p:nvSpPr>
          <p:cNvPr id="9" name="Rectangle 8"/>
          <p:cNvSpPr/>
          <p:nvPr/>
        </p:nvSpPr>
        <p:spPr>
          <a:xfrm>
            <a:off x="3392128" y="894731"/>
            <a:ext cx="8278762" cy="894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TextBox 9"/>
          <p:cNvSpPr txBox="1"/>
          <p:nvPr/>
        </p:nvSpPr>
        <p:spPr>
          <a:xfrm>
            <a:off x="3578942" y="1111054"/>
            <a:ext cx="74528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001E61"/>
                </a:solidFill>
                <a:effectLst/>
                <a:uLnTx/>
                <a:uFillTx/>
                <a:latin typeface="Arial" panose="020B0604020202020204"/>
                <a:ea typeface="+mn-ea"/>
                <a:cs typeface="+mn-cs"/>
              </a:rPr>
              <a:t>Book space on campus</a:t>
            </a:r>
          </a:p>
        </p:txBody>
      </p:sp>
      <p:sp>
        <p:nvSpPr>
          <p:cNvPr id="12" name="Text Placeholder 5"/>
          <p:cNvSpPr>
            <a:spLocks noGrp="1"/>
          </p:cNvSpPr>
          <p:nvPr>
            <p:ph type="body" sz="quarter" idx="14"/>
          </p:nvPr>
        </p:nvSpPr>
        <p:spPr>
          <a:xfrm>
            <a:off x="581458" y="3802217"/>
            <a:ext cx="11089431" cy="2929864"/>
          </a:xfrm>
          <a:ln w="28575">
            <a:solidFill>
              <a:schemeClr val="tx2"/>
            </a:solidFill>
          </a:ln>
        </p:spPr>
        <p:txBody>
          <a:bodyPr vert="horz" lIns="0" tIns="72000" rIns="0" bIns="72000" numCol="1" spcCol="360000" rtlCol="0" anchor="t">
            <a:normAutofit lnSpcReduction="10000"/>
          </a:bodyPr>
          <a:lstStyle/>
          <a:p>
            <a:r>
              <a:rPr lang="en-GB" b="1"/>
              <a:t>THINGS TO REMEMBER:</a:t>
            </a:r>
          </a:p>
          <a:p>
            <a:pPr marL="285750" indent="-285750">
              <a:buFont typeface="Arial" panose="020B0604020202020204" pitchFamily="34" charset="0"/>
              <a:buChar char="•"/>
            </a:pPr>
            <a:r>
              <a:rPr lang="en-GB"/>
              <a:t>Consider the guest experience when choosing spaces – walk through the guest journey to ensure the flow works. Floorplans for all areas of the school can be found </a:t>
            </a:r>
            <a:r>
              <a:rPr lang="en-GB" b="1">
                <a:hlinkClick r:id="rId4"/>
              </a:rPr>
              <a:t>here</a:t>
            </a:r>
            <a:endParaRPr lang="en-GB" b="1">
              <a:ea typeface="+mn-lt"/>
              <a:cs typeface="+mn-lt"/>
            </a:endParaRPr>
          </a:p>
          <a:p>
            <a:pPr marL="285750" indent="-285750">
              <a:buFont typeface="Arial" panose="020B0604020202020204" pitchFamily="34" charset="0"/>
              <a:buChar char="•"/>
            </a:pPr>
            <a:r>
              <a:rPr lang="en-GB"/>
              <a:t>Ensure that you include details of all space requirements, including:</a:t>
            </a:r>
            <a:endParaRPr lang="en-GB">
              <a:cs typeface="Arial"/>
            </a:endParaRPr>
          </a:p>
          <a:p>
            <a:pPr marL="742950" lvl="1" indent="-285750">
              <a:buFont typeface="Arial" panose="020B0604020202020204" pitchFamily="34" charset="0"/>
              <a:buChar char="•"/>
            </a:pPr>
            <a:r>
              <a:rPr lang="en-GB" sz="1600"/>
              <a:t>Registration area, cloakroom, main meeting space, networking/refreshment space(s), speaker green room, organisers office or space for catering for staff/volunteers, storage room for large deliveries/goody bags</a:t>
            </a:r>
            <a:endParaRPr lang="en-GB" sz="1600">
              <a:cs typeface="Arial"/>
            </a:endParaRPr>
          </a:p>
          <a:p>
            <a:pPr marL="285750" indent="-285750">
              <a:buFont typeface="Arial" panose="020B0604020202020204" pitchFamily="34" charset="0"/>
              <a:buChar char="•"/>
            </a:pPr>
            <a:r>
              <a:rPr lang="en-GB"/>
              <a:t>Include sufficient set up and de-rig time for all spaces</a:t>
            </a:r>
            <a:endParaRPr lang="en-GB">
              <a:cs typeface="Arial"/>
            </a:endParaRPr>
          </a:p>
          <a:p>
            <a:pPr marL="285750" indent="-285750">
              <a:buFont typeface="Arial" panose="020B0604020202020204" pitchFamily="34" charset="0"/>
              <a:buChar char="•"/>
            </a:pPr>
            <a:r>
              <a:rPr lang="en-GB"/>
              <a:t>When making your request have a realistic idea of expected guest numbers. Be aware of the maximum capacities of each space booked, as you will have to cap your numbers accordingly</a:t>
            </a:r>
            <a:endParaRPr lang="en-GB">
              <a:cs typeface="Arial"/>
            </a:endParaRPr>
          </a:p>
          <a:p>
            <a:pPr marL="285750" indent="-285750">
              <a:buFont typeface="Arial" panose="020B0604020202020204" pitchFamily="34" charset="0"/>
              <a:buChar char="•"/>
            </a:pPr>
            <a:r>
              <a:rPr lang="en-GB"/>
              <a:t>Refer to specific space policies to understand what set ups and catering options are possible in each space</a:t>
            </a:r>
          </a:p>
          <a:p>
            <a:endParaRPr lang="en-GB">
              <a:solidFill>
                <a:srgbClr val="001E61"/>
              </a:solidFill>
              <a:cs typeface="Arial"/>
            </a:endParaRPr>
          </a:p>
          <a:p>
            <a:endParaRPr lang="en-GB">
              <a:cs typeface="Arial" panose="020B0604020202020204"/>
            </a:endParaRPr>
          </a:p>
          <a:p>
            <a:endParaRPr lang="en-GB"/>
          </a:p>
          <a:p>
            <a:endParaRPr lang="en-GB"/>
          </a:p>
          <a:p>
            <a:endParaRPr lang="en-GB"/>
          </a:p>
        </p:txBody>
      </p:sp>
      <p:sp>
        <p:nvSpPr>
          <p:cNvPr id="14" name="Title 3"/>
          <p:cNvSpPr>
            <a:spLocks noGrp="1"/>
          </p:cNvSpPr>
          <p:nvPr>
            <p:ph type="title"/>
          </p:nvPr>
        </p:nvSpPr>
        <p:spPr>
          <a:xfrm>
            <a:off x="3180213" y="363749"/>
            <a:ext cx="8172000" cy="396000"/>
          </a:xfrm>
        </p:spPr>
        <p:txBody>
          <a:bodyPr/>
          <a:lstStyle/>
          <a:p>
            <a:r>
              <a:rPr lang="en-GB" b="1"/>
              <a:t>On Campus events – process</a:t>
            </a:r>
          </a:p>
        </p:txBody>
      </p:sp>
    </p:spTree>
    <p:extLst>
      <p:ext uri="{BB962C8B-B14F-4D97-AF65-F5344CB8AC3E}">
        <p14:creationId xmlns:p14="http://schemas.microsoft.com/office/powerpoint/2010/main" val="9915835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4"/>
          </p:nvPr>
        </p:nvSpPr>
        <p:spPr>
          <a:xfrm>
            <a:off x="589934" y="1740377"/>
            <a:ext cx="10944225" cy="1071660"/>
          </a:xfrm>
        </p:spPr>
        <p:txBody>
          <a:bodyPr/>
          <a:lstStyle/>
          <a:p>
            <a:pPr marL="285750" indent="-285750">
              <a:buFont typeface="Wingdings" panose="05000000000000000000" pitchFamily="2" charset="2"/>
              <a:buChar char="Ø"/>
            </a:pPr>
            <a:r>
              <a:rPr lang="en-GB"/>
              <a:t>Email </a:t>
            </a:r>
            <a:r>
              <a:rPr lang="en-GB">
                <a:hlinkClick r:id="rId2"/>
              </a:rPr>
              <a:t>cateringevents@london.edu</a:t>
            </a:r>
            <a:r>
              <a:rPr lang="en-GB"/>
              <a:t> with your catering requirements to get a quote. The team will be happy to meet with you to discuss options – this is advised for large/complex events</a:t>
            </a:r>
          </a:p>
          <a:p>
            <a:pPr marL="285750" indent="-285750">
              <a:buFont typeface="Wingdings" panose="05000000000000000000" pitchFamily="2" charset="2"/>
              <a:buChar char="Ø"/>
            </a:pPr>
            <a:r>
              <a:rPr lang="en-GB"/>
              <a:t>Book cloakroom staff through catering</a:t>
            </a:r>
          </a:p>
          <a:p>
            <a:pPr marL="285750" indent="-285750">
              <a:buFont typeface="Arial" panose="020B0604020202020204" pitchFamily="34" charset="0"/>
              <a:buChar char="•"/>
            </a:pPr>
            <a:endParaRPr lang="en-GB"/>
          </a:p>
          <a:p>
            <a:endParaRPr lang="en-GB"/>
          </a:p>
          <a:p>
            <a:endParaRPr lang="en-GB"/>
          </a:p>
          <a:p>
            <a:endParaRPr lang="en-GB"/>
          </a:p>
          <a:p>
            <a:endParaRPr lang="en-GB"/>
          </a:p>
          <a:p>
            <a:endParaRPr lang="en-GB"/>
          </a:p>
        </p:txBody>
      </p:sp>
      <p:sp>
        <p:nvSpPr>
          <p:cNvPr id="8" name="Pentagon 7"/>
          <p:cNvSpPr/>
          <p:nvPr/>
        </p:nvSpPr>
        <p:spPr>
          <a:xfrm>
            <a:off x="589935" y="717762"/>
            <a:ext cx="2507225" cy="89473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Step two</a:t>
            </a:r>
          </a:p>
        </p:txBody>
      </p:sp>
      <p:sp>
        <p:nvSpPr>
          <p:cNvPr id="9" name="Rectangle 8"/>
          <p:cNvSpPr/>
          <p:nvPr/>
        </p:nvSpPr>
        <p:spPr>
          <a:xfrm>
            <a:off x="3392128" y="737422"/>
            <a:ext cx="8142031" cy="894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TextBox 9"/>
          <p:cNvSpPr txBox="1"/>
          <p:nvPr/>
        </p:nvSpPr>
        <p:spPr>
          <a:xfrm>
            <a:off x="3578942" y="953737"/>
            <a:ext cx="74528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001E61"/>
                </a:solidFill>
                <a:effectLst/>
                <a:uLnTx/>
                <a:uFillTx/>
                <a:latin typeface="Arial" panose="020B0604020202020204"/>
                <a:ea typeface="+mn-ea"/>
                <a:cs typeface="+mn-cs"/>
              </a:rPr>
              <a:t>Book catering</a:t>
            </a:r>
          </a:p>
        </p:txBody>
      </p:sp>
      <p:sp>
        <p:nvSpPr>
          <p:cNvPr id="12" name="Text Placeholder 5"/>
          <p:cNvSpPr>
            <a:spLocks noGrp="1"/>
          </p:cNvSpPr>
          <p:nvPr>
            <p:ph type="body" sz="quarter" idx="14"/>
          </p:nvPr>
        </p:nvSpPr>
        <p:spPr>
          <a:xfrm>
            <a:off x="560389" y="2733379"/>
            <a:ext cx="10973770" cy="3972221"/>
          </a:xfrm>
          <a:ln w="28575">
            <a:solidFill>
              <a:schemeClr val="tx2"/>
            </a:solidFill>
          </a:ln>
        </p:spPr>
        <p:txBody>
          <a:bodyPr vert="horz" lIns="0" tIns="72000" rIns="0" bIns="72000" numCol="1" spcCol="360000" rtlCol="0" anchor="t">
            <a:normAutofit fontScale="92500" lnSpcReduction="20000"/>
          </a:bodyPr>
          <a:lstStyle/>
          <a:p>
            <a:r>
              <a:rPr lang="en-GB" sz="1800" b="1"/>
              <a:t>THINGS TO REMEMBER:</a:t>
            </a:r>
            <a:endParaRPr lang="en-GB" sz="1800"/>
          </a:p>
          <a:p>
            <a:pPr marL="285750" indent="-285750">
              <a:buFont typeface="Arial" panose="020B0604020202020204" pitchFamily="34" charset="0"/>
              <a:buChar char="•"/>
            </a:pPr>
            <a:r>
              <a:rPr lang="en-GB" sz="1700"/>
              <a:t>Place orders at least </a:t>
            </a:r>
            <a:r>
              <a:rPr lang="en-GB" sz="1700" b="1" u="sng"/>
              <a:t>30 days before the event</a:t>
            </a:r>
            <a:r>
              <a:rPr lang="en-GB" sz="1700"/>
              <a:t> and confirm final catering numbers </a:t>
            </a:r>
            <a:r>
              <a:rPr lang="en-GB" sz="1700" b="1" u="sng"/>
              <a:t>5 days before the event</a:t>
            </a:r>
            <a:r>
              <a:rPr lang="en-GB" sz="1700"/>
              <a:t>. If these timescales are not met it may not be possible to provide catering for your event </a:t>
            </a:r>
            <a:endParaRPr lang="en-GB" sz="1700">
              <a:cs typeface="Arial"/>
            </a:endParaRPr>
          </a:p>
          <a:p>
            <a:pPr marL="285750" indent="-285750">
              <a:buFont typeface="Arial" panose="020B0604020202020204" pitchFamily="34" charset="0"/>
              <a:buChar char="•"/>
            </a:pPr>
            <a:r>
              <a:rPr lang="en-GB" sz="1700"/>
              <a:t>Include all requirements including speaker water for the stage/lecture theatre, green room refreshments and any staff/crew catering</a:t>
            </a:r>
            <a:endParaRPr lang="en-GB" sz="1700">
              <a:cs typeface="Arial"/>
            </a:endParaRPr>
          </a:p>
          <a:p>
            <a:pPr marL="285750" indent="-285750">
              <a:buFont typeface="Arial" panose="020B0604020202020204" pitchFamily="34" charset="0"/>
              <a:buChar char="•"/>
            </a:pPr>
            <a:r>
              <a:rPr lang="en-GB" sz="1700"/>
              <a:t>Include any specific requests in your order </a:t>
            </a:r>
            <a:r>
              <a:rPr lang="en-GB" sz="1700" err="1"/>
              <a:t>i.e</a:t>
            </a:r>
            <a:r>
              <a:rPr lang="en-GB" sz="1700"/>
              <a:t>: </a:t>
            </a:r>
            <a:r>
              <a:rPr lang="en-GB" sz="1700" err="1"/>
              <a:t>china</a:t>
            </a:r>
            <a:r>
              <a:rPr lang="en-GB" sz="1700"/>
              <a:t> cups and glasses only (no disposable cups) </a:t>
            </a:r>
            <a:endParaRPr lang="en-GB" sz="1700">
              <a:cs typeface="Arial"/>
            </a:endParaRPr>
          </a:p>
          <a:p>
            <a:pPr marL="285750" indent="-285750">
              <a:buFont typeface="Arial" panose="020B0604020202020204" pitchFamily="34" charset="0"/>
              <a:buChar char="•"/>
            </a:pPr>
            <a:r>
              <a:rPr lang="en-GB" sz="1700"/>
              <a:t>Give detailed instructions regarding where the items need to be set up and what time they need to be ready by</a:t>
            </a:r>
            <a:endParaRPr lang="en-GB" sz="1700">
              <a:cs typeface="Arial"/>
            </a:endParaRPr>
          </a:p>
          <a:p>
            <a:pPr marL="285750" indent="-285750">
              <a:buFont typeface="Arial" panose="020B0604020202020204" pitchFamily="34" charset="0"/>
              <a:buChar char="•"/>
            </a:pPr>
            <a:r>
              <a:rPr lang="en-GB" sz="1700"/>
              <a:t>Cater for as many dietary requirements as possible – ensure that you have vegetarian, vegan and gluten free options. Ask attendees for any specific requirements at the point of registration and provide a list of these to catering </a:t>
            </a:r>
            <a:r>
              <a:rPr lang="en-GB" sz="1700" b="1"/>
              <a:t>at least 5 days </a:t>
            </a:r>
            <a:r>
              <a:rPr lang="en-GB" sz="1700"/>
              <a:t>before the event</a:t>
            </a:r>
            <a:endParaRPr lang="en-GB" sz="1700">
              <a:cs typeface="Arial"/>
            </a:endParaRPr>
          </a:p>
          <a:p>
            <a:pPr marL="285750" indent="-285750">
              <a:buFont typeface="Arial" panose="020B0604020202020204" pitchFamily="34" charset="0"/>
              <a:buChar char="•"/>
            </a:pPr>
            <a:r>
              <a:rPr lang="en-GB" sz="1700"/>
              <a:t>To use external catering providers, permission must be obtained from the Catering General Manager before making any binding commitment to engage with the external caterer</a:t>
            </a:r>
            <a:endParaRPr lang="en-GB" sz="1700">
              <a:cs typeface="Arial"/>
            </a:endParaRPr>
          </a:p>
          <a:p>
            <a:pPr marL="285750" indent="-285750">
              <a:buFont typeface="Arial" panose="020B0604020202020204" pitchFamily="34" charset="0"/>
              <a:buChar char="•"/>
            </a:pPr>
            <a:r>
              <a:rPr lang="en-GB" sz="1800" b="1"/>
              <a:t>Alcohol</a:t>
            </a:r>
            <a:r>
              <a:rPr lang="en-GB" sz="1800"/>
              <a:t> - </a:t>
            </a:r>
            <a:r>
              <a:rPr lang="en-GB" sz="1700"/>
              <a:t>Alcohol must be ordered through </a:t>
            </a:r>
            <a:r>
              <a:rPr lang="en-GB" sz="1700" u="sng"/>
              <a:t>c</a:t>
            </a:r>
            <a:r>
              <a:rPr lang="en-GB" sz="1700" u="sng">
                <a:hlinkClick r:id="rId2"/>
              </a:rPr>
              <a:t>atering</a:t>
            </a:r>
            <a:r>
              <a:rPr lang="en-GB" sz="1700"/>
              <a:t> at least 2 weeks before the event.</a:t>
            </a:r>
            <a:endParaRPr lang="en-GB" sz="1700">
              <a:cs typeface="Arial"/>
            </a:endParaRPr>
          </a:p>
          <a:p>
            <a:pPr marL="742950" lvl="1" indent="-285750" fontAlgn="base">
              <a:buFont typeface="Arial" panose="020B0604020202020204" pitchFamily="34" charset="0"/>
              <a:buChar char="•"/>
            </a:pPr>
            <a:r>
              <a:rPr lang="en-GB" sz="1700" u="sng"/>
              <a:t>Alcohol may only be served by catering staff</a:t>
            </a:r>
            <a:r>
              <a:rPr lang="en-GB" sz="1700"/>
              <a:t> under the supervision of an approved Personal Licence holder, exceptions are made for Sundowners and Wine &amp; Spirits Club where certain club members have received training and a letter of authorisation to act on behalf of the LBS Designated Premises Supervisor (DPS).</a:t>
            </a:r>
            <a:endParaRPr lang="en-GB" sz="1700">
              <a:cs typeface="Arial"/>
            </a:endParaRP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a:p>
            <a:endParaRPr lang="en-GB"/>
          </a:p>
          <a:p>
            <a:endParaRPr lang="en-GB"/>
          </a:p>
          <a:p>
            <a:endParaRPr lang="en-GB"/>
          </a:p>
          <a:p>
            <a:endParaRPr lang="en-GB"/>
          </a:p>
        </p:txBody>
      </p:sp>
      <p:sp>
        <p:nvSpPr>
          <p:cNvPr id="13" name="Title 3"/>
          <p:cNvSpPr>
            <a:spLocks noGrp="1"/>
          </p:cNvSpPr>
          <p:nvPr>
            <p:ph type="title"/>
          </p:nvPr>
        </p:nvSpPr>
        <p:spPr>
          <a:xfrm>
            <a:off x="3180213" y="383414"/>
            <a:ext cx="8172000" cy="396000"/>
          </a:xfrm>
        </p:spPr>
        <p:txBody>
          <a:bodyPr/>
          <a:lstStyle/>
          <a:p>
            <a:r>
              <a:rPr lang="en-GB" b="1"/>
              <a:t>On Campus events – process</a:t>
            </a:r>
          </a:p>
        </p:txBody>
      </p:sp>
    </p:spTree>
    <p:extLst>
      <p:ext uri="{BB962C8B-B14F-4D97-AF65-F5344CB8AC3E}">
        <p14:creationId xmlns:p14="http://schemas.microsoft.com/office/powerpoint/2010/main" val="39872211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4"/>
          </p:nvPr>
        </p:nvSpPr>
        <p:spPr>
          <a:xfrm>
            <a:off x="589934" y="2133660"/>
            <a:ext cx="10944225" cy="1435450"/>
          </a:xfrm>
        </p:spPr>
        <p:txBody>
          <a:bodyPr>
            <a:normAutofit lnSpcReduction="10000"/>
          </a:bodyPr>
          <a:lstStyle/>
          <a:p>
            <a:pPr marL="285750" indent="-285750">
              <a:buFont typeface="Wingdings" panose="05000000000000000000" pitchFamily="2" charset="2"/>
              <a:buChar char="Ø"/>
            </a:pPr>
            <a:r>
              <a:rPr lang="en-GB"/>
              <a:t>The Event Information Sheet is the document that you will use to record all of your requirements for the Campus Services and AV teams in one place</a:t>
            </a:r>
          </a:p>
          <a:p>
            <a:pPr marL="285750" indent="-285750">
              <a:buFont typeface="Wingdings" panose="05000000000000000000" pitchFamily="2" charset="2"/>
              <a:buChar char="Ø"/>
            </a:pPr>
            <a:r>
              <a:rPr lang="en-GB"/>
              <a:t>You can submit various iterations of the form as your plans evolve – remember to save as a new version and highlight changes</a:t>
            </a:r>
          </a:p>
          <a:p>
            <a:pPr marL="285750" indent="-285750">
              <a:buFont typeface="Wingdings" panose="05000000000000000000" pitchFamily="2" charset="2"/>
              <a:buChar char="Ø"/>
            </a:pPr>
            <a:r>
              <a:rPr lang="en-GB"/>
              <a:t>You will discuss this document at the Key Events meeting two weeks out from your event</a:t>
            </a:r>
          </a:p>
          <a:p>
            <a:pPr marL="285750" indent="-285750">
              <a:buFont typeface="Arial" panose="020B0604020202020204" pitchFamily="34" charset="0"/>
              <a:buChar char="•"/>
            </a:pPr>
            <a:endParaRPr lang="en-GB"/>
          </a:p>
          <a:p>
            <a:endParaRPr lang="en-GB"/>
          </a:p>
          <a:p>
            <a:endParaRPr lang="en-GB"/>
          </a:p>
          <a:p>
            <a:endParaRPr lang="en-GB"/>
          </a:p>
          <a:p>
            <a:endParaRPr lang="en-GB"/>
          </a:p>
          <a:p>
            <a:endParaRPr lang="en-GB"/>
          </a:p>
        </p:txBody>
      </p:sp>
      <p:sp>
        <p:nvSpPr>
          <p:cNvPr id="8" name="Pentagon 7"/>
          <p:cNvSpPr/>
          <p:nvPr/>
        </p:nvSpPr>
        <p:spPr>
          <a:xfrm>
            <a:off x="589935" y="816086"/>
            <a:ext cx="2507225" cy="89473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Step three (A)</a:t>
            </a:r>
          </a:p>
        </p:txBody>
      </p:sp>
      <p:sp>
        <p:nvSpPr>
          <p:cNvPr id="9" name="Rectangle 8"/>
          <p:cNvSpPr/>
          <p:nvPr/>
        </p:nvSpPr>
        <p:spPr>
          <a:xfrm>
            <a:off x="3392128" y="835746"/>
            <a:ext cx="8142031" cy="894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TextBox 9"/>
          <p:cNvSpPr txBox="1"/>
          <p:nvPr/>
        </p:nvSpPr>
        <p:spPr>
          <a:xfrm>
            <a:off x="3578942" y="1052061"/>
            <a:ext cx="74528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001E61"/>
                </a:solidFill>
                <a:effectLst/>
                <a:uLnTx/>
                <a:uFillTx/>
                <a:latin typeface="Arial" panose="020B0604020202020204"/>
                <a:ea typeface="+mn-ea"/>
                <a:cs typeface="+mn-cs"/>
              </a:rPr>
              <a:t>Complete Event Information Sheet</a:t>
            </a:r>
          </a:p>
        </p:txBody>
      </p:sp>
      <p:sp>
        <p:nvSpPr>
          <p:cNvPr id="12" name="Text Placeholder 5"/>
          <p:cNvSpPr>
            <a:spLocks noGrp="1"/>
          </p:cNvSpPr>
          <p:nvPr>
            <p:ph type="body" sz="quarter" idx="14"/>
          </p:nvPr>
        </p:nvSpPr>
        <p:spPr>
          <a:xfrm>
            <a:off x="560389" y="3687096"/>
            <a:ext cx="10973770" cy="2733367"/>
          </a:xfrm>
          <a:ln w="28575">
            <a:solidFill>
              <a:schemeClr val="tx2"/>
            </a:solidFill>
          </a:ln>
        </p:spPr>
        <p:txBody>
          <a:bodyPr>
            <a:normAutofit/>
          </a:bodyPr>
          <a:lstStyle/>
          <a:p>
            <a:r>
              <a:rPr lang="en-GB" b="1"/>
              <a:t>THINGS TO REMEMBER:</a:t>
            </a:r>
            <a:endParaRPr lang="en-GB"/>
          </a:p>
          <a:p>
            <a:pPr marL="285750" indent="-285750">
              <a:buFont typeface="Arial" panose="020B0604020202020204" pitchFamily="34" charset="0"/>
              <a:buChar char="•"/>
            </a:pPr>
            <a:r>
              <a:rPr lang="en-GB"/>
              <a:t>Ensure that all requests are as detailed as possible. Refer to this example sheet </a:t>
            </a:r>
            <a:r>
              <a:rPr lang="en-GB" b="1">
                <a:solidFill>
                  <a:srgbClr val="FF0000"/>
                </a:solidFill>
              </a:rPr>
              <a:t>here</a:t>
            </a:r>
          </a:p>
          <a:p>
            <a:pPr marL="285750" indent="-285750">
              <a:buFont typeface="Arial" panose="020B0604020202020204" pitchFamily="34" charset="0"/>
              <a:buChar char="•"/>
            </a:pPr>
            <a:r>
              <a:rPr lang="en-GB"/>
              <a:t>If you are organising a large/complex event you could colour code requests for different teams so that it is easy for them to identify their responsibilities</a:t>
            </a:r>
          </a:p>
          <a:p>
            <a:pPr marL="285750" indent="-285750">
              <a:buFont typeface="Arial" panose="020B0604020202020204" pitchFamily="34" charset="0"/>
              <a:buChar char="•"/>
            </a:pPr>
            <a:r>
              <a:rPr lang="en-GB"/>
              <a:t>Make sure that you send the event information sheet to all relevant teams ahead of the Key Events meeting. The email addresses are listed at the top of the form</a:t>
            </a:r>
          </a:p>
          <a:p>
            <a:pPr marL="285750" indent="-285750">
              <a:buFont typeface="Arial" panose="020B0604020202020204" pitchFamily="34" charset="0"/>
              <a:buChar char="•"/>
            </a:pPr>
            <a:r>
              <a:rPr lang="en-GB"/>
              <a:t>Communicate any updates clearly – create a new version of the document, highlight any additions/changes in red so they are easily identifiable and re-send to all teams</a:t>
            </a:r>
          </a:p>
          <a:p>
            <a:endParaRPr lang="en-GB"/>
          </a:p>
          <a:p>
            <a:endParaRPr lang="en-GB"/>
          </a:p>
          <a:p>
            <a:endParaRPr lang="en-GB"/>
          </a:p>
          <a:p>
            <a:endParaRPr lang="en-GB"/>
          </a:p>
          <a:p>
            <a:endParaRPr lang="en-GB"/>
          </a:p>
        </p:txBody>
      </p:sp>
      <p:sp>
        <p:nvSpPr>
          <p:cNvPr id="13" name="Title 3"/>
          <p:cNvSpPr>
            <a:spLocks noGrp="1"/>
          </p:cNvSpPr>
          <p:nvPr>
            <p:ph type="title"/>
          </p:nvPr>
        </p:nvSpPr>
        <p:spPr>
          <a:xfrm>
            <a:off x="3180213" y="383414"/>
            <a:ext cx="8172000" cy="396000"/>
          </a:xfrm>
        </p:spPr>
        <p:txBody>
          <a:bodyPr/>
          <a:lstStyle/>
          <a:p>
            <a:r>
              <a:rPr lang="en-GB" b="1"/>
              <a:t>On Campus events – process</a:t>
            </a:r>
          </a:p>
        </p:txBody>
      </p:sp>
    </p:spTree>
    <p:extLst>
      <p:ext uri="{BB962C8B-B14F-4D97-AF65-F5344CB8AC3E}">
        <p14:creationId xmlns:p14="http://schemas.microsoft.com/office/powerpoint/2010/main" val="38423966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4"/>
          </p:nvPr>
        </p:nvSpPr>
        <p:spPr>
          <a:xfrm>
            <a:off x="589934" y="1996000"/>
            <a:ext cx="10944225" cy="1071660"/>
          </a:xfrm>
        </p:spPr>
        <p:txBody>
          <a:bodyPr>
            <a:normAutofit lnSpcReduction="10000"/>
          </a:bodyPr>
          <a:lstStyle/>
          <a:p>
            <a:pPr marL="285750" indent="-285750">
              <a:buFont typeface="Wingdings" panose="05000000000000000000" pitchFamily="2" charset="2"/>
              <a:buChar char="Ø"/>
            </a:pPr>
            <a:r>
              <a:rPr lang="en-GB"/>
              <a:t>Email any </a:t>
            </a:r>
            <a:r>
              <a:rPr lang="en-GB" b="1"/>
              <a:t>specific requests or questions </a:t>
            </a:r>
            <a:r>
              <a:rPr lang="en-GB"/>
              <a:t>to the relevant team to </a:t>
            </a:r>
            <a:r>
              <a:rPr lang="en-GB" b="1"/>
              <a:t>help you to complete the Event Information Sheet</a:t>
            </a:r>
          </a:p>
          <a:p>
            <a:pPr marL="285750" indent="-285750">
              <a:buFont typeface="Wingdings" panose="05000000000000000000" pitchFamily="2" charset="2"/>
              <a:buChar char="Ø"/>
            </a:pPr>
            <a:r>
              <a:rPr lang="en-GB"/>
              <a:t>Don’t wait until the Key Events meeting to raise any questions or requests - this will ensure an efficient and productive Key Events meeting as all details should be covered off and questions should be minimal</a:t>
            </a:r>
          </a:p>
          <a:p>
            <a:pPr marL="285750" indent="-285750">
              <a:buFont typeface="Arial" panose="020B0604020202020204" pitchFamily="34" charset="0"/>
              <a:buChar char="•"/>
            </a:pPr>
            <a:endParaRPr lang="en-GB"/>
          </a:p>
          <a:p>
            <a:endParaRPr lang="en-GB"/>
          </a:p>
          <a:p>
            <a:endParaRPr lang="en-GB"/>
          </a:p>
          <a:p>
            <a:endParaRPr lang="en-GB"/>
          </a:p>
          <a:p>
            <a:endParaRPr lang="en-GB"/>
          </a:p>
        </p:txBody>
      </p:sp>
      <p:sp>
        <p:nvSpPr>
          <p:cNvPr id="8" name="Pentagon 7"/>
          <p:cNvSpPr/>
          <p:nvPr/>
        </p:nvSpPr>
        <p:spPr>
          <a:xfrm>
            <a:off x="589935" y="806243"/>
            <a:ext cx="2507225" cy="89473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Step three (B)</a:t>
            </a:r>
          </a:p>
        </p:txBody>
      </p:sp>
      <p:sp>
        <p:nvSpPr>
          <p:cNvPr id="9" name="Rectangle 8"/>
          <p:cNvSpPr/>
          <p:nvPr/>
        </p:nvSpPr>
        <p:spPr>
          <a:xfrm>
            <a:off x="3392128" y="825903"/>
            <a:ext cx="8142031" cy="894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TextBox 9"/>
          <p:cNvSpPr txBox="1"/>
          <p:nvPr/>
        </p:nvSpPr>
        <p:spPr>
          <a:xfrm>
            <a:off x="3578942" y="1042218"/>
            <a:ext cx="74528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001E61"/>
                </a:solidFill>
                <a:effectLst/>
                <a:uLnTx/>
                <a:uFillTx/>
                <a:latin typeface="Arial" panose="020B0604020202020204"/>
                <a:ea typeface="+mn-ea"/>
                <a:cs typeface="+mn-cs"/>
              </a:rPr>
              <a:t>Engage with relevant Campus Services/AV teams </a:t>
            </a:r>
          </a:p>
        </p:txBody>
      </p:sp>
      <p:sp>
        <p:nvSpPr>
          <p:cNvPr id="12" name="Text Placeholder 5"/>
          <p:cNvSpPr>
            <a:spLocks noGrp="1"/>
          </p:cNvSpPr>
          <p:nvPr>
            <p:ph type="body" sz="quarter" idx="14"/>
          </p:nvPr>
        </p:nvSpPr>
        <p:spPr>
          <a:xfrm>
            <a:off x="560389" y="3195477"/>
            <a:ext cx="10973770" cy="3185657"/>
          </a:xfrm>
          <a:ln w="28575">
            <a:solidFill>
              <a:schemeClr val="tx2"/>
            </a:solidFill>
          </a:ln>
        </p:spPr>
        <p:txBody>
          <a:bodyPr vert="horz" lIns="0" tIns="72000" rIns="0" bIns="72000" numCol="1" spcCol="360000" rtlCol="0" anchor="t">
            <a:normAutofit lnSpcReduction="10000"/>
          </a:bodyPr>
          <a:lstStyle/>
          <a:p>
            <a:endParaRPr lang="en-GB" sz="500"/>
          </a:p>
          <a:p>
            <a:r>
              <a:rPr lang="en-GB"/>
              <a:t>Speak to the relevant teams to clarify any of the following, if needed:</a:t>
            </a:r>
            <a:endParaRPr lang="en-GB">
              <a:cs typeface="Arial"/>
            </a:endParaRPr>
          </a:p>
          <a:p>
            <a:r>
              <a:rPr lang="en-GB"/>
              <a:t>Speak to </a:t>
            </a:r>
            <a:r>
              <a:rPr lang="en-GB" b="1"/>
              <a:t>security</a:t>
            </a:r>
            <a:r>
              <a:rPr lang="en-GB"/>
              <a:t> about: any high profile/controversial speakers, parking, swipe access removal</a:t>
            </a:r>
            <a:endParaRPr lang="en-GB">
              <a:cs typeface="Arial"/>
            </a:endParaRPr>
          </a:p>
          <a:p>
            <a:r>
              <a:rPr lang="en-GB"/>
              <a:t>Speak to </a:t>
            </a:r>
            <a:r>
              <a:rPr lang="en-GB" b="1"/>
              <a:t>gift shop </a:t>
            </a:r>
            <a:r>
              <a:rPr lang="en-GB"/>
              <a:t>about: merchandise requirements and branded items such as speaker gifts, stationery and giveaways</a:t>
            </a:r>
            <a:endParaRPr lang="en-GB">
              <a:cs typeface="Arial"/>
            </a:endParaRPr>
          </a:p>
          <a:p>
            <a:r>
              <a:rPr lang="en-GB"/>
              <a:t>Speak to </a:t>
            </a:r>
            <a:r>
              <a:rPr lang="en-GB" b="1"/>
              <a:t>AV</a:t>
            </a:r>
            <a:r>
              <a:rPr lang="en-GB"/>
              <a:t> about: any AV requirements  including microphones, screens, live streaming options</a:t>
            </a:r>
            <a:endParaRPr lang="en-GB">
              <a:cs typeface="Arial"/>
            </a:endParaRPr>
          </a:p>
          <a:p>
            <a:r>
              <a:rPr lang="en-GB"/>
              <a:t>Via Estates Helpdesk (estates@london.edu):</a:t>
            </a:r>
            <a:endParaRPr lang="en-GB">
              <a:cs typeface="Arial"/>
            </a:endParaRPr>
          </a:p>
          <a:p>
            <a:r>
              <a:rPr lang="en-GB"/>
              <a:t>Speak to </a:t>
            </a:r>
            <a:r>
              <a:rPr lang="en-GB" b="1"/>
              <a:t>porters </a:t>
            </a:r>
            <a:r>
              <a:rPr lang="en-GB"/>
              <a:t>about: room set ups, availability of furniture i.e. registration desks (campus services provide the desks only, you must find people to greet and register guests) and stage furniture</a:t>
            </a:r>
            <a:endParaRPr lang="en-GB">
              <a:cs typeface="Arial"/>
            </a:endParaRPr>
          </a:p>
          <a:p>
            <a:r>
              <a:rPr lang="en-GB"/>
              <a:t>Speak to </a:t>
            </a:r>
            <a:r>
              <a:rPr lang="en-GB" b="1"/>
              <a:t>maintenance </a:t>
            </a:r>
            <a:r>
              <a:rPr lang="en-GB"/>
              <a:t>about: power requirements</a:t>
            </a:r>
            <a:endParaRPr lang="en-GB">
              <a:cs typeface="Arial"/>
            </a:endParaRPr>
          </a:p>
          <a:p>
            <a:r>
              <a:rPr lang="en-GB"/>
              <a:t>Speak to </a:t>
            </a:r>
            <a:r>
              <a:rPr lang="en-GB" b="1"/>
              <a:t>cleaning</a:t>
            </a:r>
            <a:r>
              <a:rPr lang="en-GB"/>
              <a:t> about: any specific requests related to cleaning and associated costs</a:t>
            </a:r>
            <a:endParaRPr lang="en-GB">
              <a:cs typeface="Arial"/>
            </a:endParaRPr>
          </a:p>
          <a:p>
            <a:endParaRPr lang="en-GB"/>
          </a:p>
          <a:p>
            <a:endParaRPr lang="en-GB"/>
          </a:p>
          <a:p>
            <a:endParaRPr lang="en-GB"/>
          </a:p>
          <a:p>
            <a:endParaRPr lang="en-GB"/>
          </a:p>
        </p:txBody>
      </p:sp>
      <p:sp>
        <p:nvSpPr>
          <p:cNvPr id="13" name="Title 3"/>
          <p:cNvSpPr>
            <a:spLocks noGrp="1"/>
          </p:cNvSpPr>
          <p:nvPr>
            <p:ph type="title"/>
          </p:nvPr>
        </p:nvSpPr>
        <p:spPr>
          <a:xfrm>
            <a:off x="3180213" y="383414"/>
            <a:ext cx="8172000" cy="396000"/>
          </a:xfrm>
        </p:spPr>
        <p:txBody>
          <a:bodyPr/>
          <a:lstStyle/>
          <a:p>
            <a:r>
              <a:rPr lang="en-GB" b="1"/>
              <a:t>On Campus events – process</a:t>
            </a:r>
          </a:p>
        </p:txBody>
      </p:sp>
    </p:spTree>
    <p:extLst>
      <p:ext uri="{BB962C8B-B14F-4D97-AF65-F5344CB8AC3E}">
        <p14:creationId xmlns:p14="http://schemas.microsoft.com/office/powerpoint/2010/main" val="29472567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4"/>
          </p:nvPr>
        </p:nvSpPr>
        <p:spPr>
          <a:xfrm>
            <a:off x="589934" y="2212314"/>
            <a:ext cx="10944225" cy="1818912"/>
          </a:xfrm>
        </p:spPr>
        <p:txBody>
          <a:bodyPr>
            <a:normAutofit fontScale="92500" lnSpcReduction="20000"/>
          </a:bodyPr>
          <a:lstStyle/>
          <a:p>
            <a:pPr marL="285750" indent="-285750">
              <a:buFont typeface="Wingdings" panose="05000000000000000000" pitchFamily="2" charset="2"/>
              <a:buChar char="Ø"/>
            </a:pPr>
            <a:r>
              <a:rPr lang="en-GB" sz="1700"/>
              <a:t>A representative from the organising team must attend this meeting </a:t>
            </a:r>
          </a:p>
          <a:p>
            <a:pPr marL="285750" indent="-285750">
              <a:buFont typeface="Wingdings" panose="05000000000000000000" pitchFamily="2" charset="2"/>
              <a:buChar char="Ø"/>
            </a:pPr>
            <a:r>
              <a:rPr lang="en-GB" sz="1700"/>
              <a:t>The meeting is chaired by the Space Management team and will include reps from all Campus Services teams and AV</a:t>
            </a:r>
          </a:p>
          <a:p>
            <a:pPr marL="285750" indent="-285750">
              <a:buFont typeface="Wingdings" panose="05000000000000000000" pitchFamily="2" charset="2"/>
              <a:buChar char="Ø"/>
            </a:pPr>
            <a:r>
              <a:rPr lang="en-GB" sz="1700"/>
              <a:t>The meetings are held on a </a:t>
            </a:r>
            <a:r>
              <a:rPr lang="en-GB" sz="1700" b="1"/>
              <a:t>Thursday morning at 11am </a:t>
            </a:r>
            <a:r>
              <a:rPr lang="en-GB" sz="1700"/>
              <a:t>and you will be invited to attend the meeting that occurs </a:t>
            </a:r>
            <a:r>
              <a:rPr lang="en-GB" sz="1700" b="1"/>
              <a:t>two weeks ahead of your event </a:t>
            </a:r>
            <a:r>
              <a:rPr lang="en-GB" sz="1700"/>
              <a:t>– hold time in your diary for this</a:t>
            </a:r>
          </a:p>
          <a:p>
            <a:pPr marL="285750" indent="-285750">
              <a:buFont typeface="Wingdings" panose="05000000000000000000" pitchFamily="2" charset="2"/>
              <a:buChar char="Ø"/>
            </a:pPr>
            <a:r>
              <a:rPr lang="en-GB" sz="1700"/>
              <a:t>The team will ask any outstanding questions they have about your event and set up requirements </a:t>
            </a:r>
          </a:p>
          <a:p>
            <a:pPr marL="285750" indent="-285750">
              <a:buFont typeface="Wingdings" panose="05000000000000000000" pitchFamily="2" charset="2"/>
              <a:buChar char="Ø"/>
            </a:pPr>
            <a:r>
              <a:rPr lang="en-GB" sz="1700"/>
              <a:t>You will also have the opportunity to ask questions</a:t>
            </a:r>
          </a:p>
          <a:p>
            <a:pPr marL="285750" indent="-285750">
              <a:buFont typeface="Arial" panose="020B0604020202020204" pitchFamily="34" charset="0"/>
              <a:buChar char="•"/>
            </a:pPr>
            <a:endParaRPr lang="en-GB"/>
          </a:p>
          <a:p>
            <a:endParaRPr lang="en-GB"/>
          </a:p>
          <a:p>
            <a:endParaRPr lang="en-GB"/>
          </a:p>
          <a:p>
            <a:endParaRPr lang="en-GB"/>
          </a:p>
          <a:p>
            <a:endParaRPr lang="en-GB"/>
          </a:p>
          <a:p>
            <a:endParaRPr lang="en-GB"/>
          </a:p>
        </p:txBody>
      </p:sp>
      <p:sp>
        <p:nvSpPr>
          <p:cNvPr id="8" name="Pentagon 7"/>
          <p:cNvSpPr/>
          <p:nvPr/>
        </p:nvSpPr>
        <p:spPr>
          <a:xfrm>
            <a:off x="589935" y="894740"/>
            <a:ext cx="2507225" cy="89473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Step five</a:t>
            </a:r>
          </a:p>
        </p:txBody>
      </p:sp>
      <p:sp>
        <p:nvSpPr>
          <p:cNvPr id="9" name="Rectangle 8"/>
          <p:cNvSpPr/>
          <p:nvPr/>
        </p:nvSpPr>
        <p:spPr>
          <a:xfrm>
            <a:off x="3392128" y="914400"/>
            <a:ext cx="8142031" cy="894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TextBox 9"/>
          <p:cNvSpPr txBox="1"/>
          <p:nvPr/>
        </p:nvSpPr>
        <p:spPr>
          <a:xfrm>
            <a:off x="3578942" y="953739"/>
            <a:ext cx="7452852"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001E61"/>
                </a:solidFill>
                <a:effectLst/>
                <a:uLnTx/>
                <a:uFillTx/>
                <a:latin typeface="Arial" panose="020B0604020202020204"/>
                <a:ea typeface="+mn-ea"/>
                <a:cs typeface="+mn-cs"/>
              </a:rPr>
              <a:t>Attend Key Events meeting to discuss requirements</a:t>
            </a:r>
          </a:p>
        </p:txBody>
      </p:sp>
      <p:sp>
        <p:nvSpPr>
          <p:cNvPr id="12" name="Text Placeholder 5"/>
          <p:cNvSpPr>
            <a:spLocks noGrp="1"/>
          </p:cNvSpPr>
          <p:nvPr>
            <p:ph type="body" sz="quarter" idx="14"/>
          </p:nvPr>
        </p:nvSpPr>
        <p:spPr>
          <a:xfrm>
            <a:off x="560389" y="4267197"/>
            <a:ext cx="10973770" cy="2025444"/>
          </a:xfrm>
          <a:ln w="28575">
            <a:solidFill>
              <a:schemeClr val="tx2"/>
            </a:solidFill>
          </a:ln>
        </p:spPr>
        <p:txBody>
          <a:bodyPr>
            <a:normAutofit/>
          </a:bodyPr>
          <a:lstStyle/>
          <a:p>
            <a:r>
              <a:rPr lang="en-GB" b="1"/>
              <a:t>THINGS TO REMEMBER:</a:t>
            </a:r>
            <a:endParaRPr lang="en-GB"/>
          </a:p>
          <a:p>
            <a:pPr marL="285750" indent="-285750">
              <a:buFont typeface="Arial" panose="020B0604020202020204" pitchFamily="34" charset="0"/>
              <a:buChar char="•"/>
            </a:pPr>
            <a:r>
              <a:rPr lang="en-GB"/>
              <a:t>Come prepared! Ensure that your event information sheet is as comprehensive as possible, come with any specific questions that you have for the Campus Services/AV teams, and be prepared to answer theirs</a:t>
            </a:r>
          </a:p>
          <a:p>
            <a:pPr marL="285750" indent="-285750">
              <a:buFont typeface="Arial" panose="020B0604020202020204" pitchFamily="34" charset="0"/>
              <a:buChar char="•"/>
            </a:pPr>
            <a:r>
              <a:rPr lang="en-GB"/>
              <a:t>Make sure that you have sent the latest version of the Event Information sheet to all teams prior to the meeting</a:t>
            </a:r>
          </a:p>
          <a:p>
            <a:endParaRPr lang="en-GB"/>
          </a:p>
          <a:p>
            <a:endParaRPr lang="en-GB"/>
          </a:p>
          <a:p>
            <a:endParaRPr lang="en-GB"/>
          </a:p>
          <a:p>
            <a:endParaRPr lang="en-GB"/>
          </a:p>
          <a:p>
            <a:endParaRPr lang="en-GB"/>
          </a:p>
        </p:txBody>
      </p:sp>
      <p:sp>
        <p:nvSpPr>
          <p:cNvPr id="13" name="Title 3"/>
          <p:cNvSpPr>
            <a:spLocks noGrp="1"/>
          </p:cNvSpPr>
          <p:nvPr>
            <p:ph type="title"/>
          </p:nvPr>
        </p:nvSpPr>
        <p:spPr>
          <a:xfrm>
            <a:off x="3180213" y="383414"/>
            <a:ext cx="8172000" cy="396000"/>
          </a:xfrm>
        </p:spPr>
        <p:txBody>
          <a:bodyPr/>
          <a:lstStyle/>
          <a:p>
            <a:r>
              <a:rPr lang="en-GB" b="1"/>
              <a:t>On Campus events – process</a:t>
            </a:r>
          </a:p>
        </p:txBody>
      </p:sp>
    </p:spTree>
    <p:extLst>
      <p:ext uri="{BB962C8B-B14F-4D97-AF65-F5344CB8AC3E}">
        <p14:creationId xmlns:p14="http://schemas.microsoft.com/office/powerpoint/2010/main" val="12547531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p:txBody>
          <a:bodyPr/>
          <a:lstStyle/>
          <a:p>
            <a:r>
              <a:rPr lang="en-GB"/>
              <a:t>Logistics – external venues</a:t>
            </a:r>
          </a:p>
        </p:txBody>
      </p:sp>
      <p:sp>
        <p:nvSpPr>
          <p:cNvPr id="7" name="Text Placeholder 6"/>
          <p:cNvSpPr>
            <a:spLocks noGrp="1"/>
          </p:cNvSpPr>
          <p:nvPr>
            <p:ph type="body" sz="quarter" idx="12"/>
          </p:nvPr>
        </p:nvSpPr>
        <p:spPr/>
        <p:txBody>
          <a:bodyPr/>
          <a:lstStyle/>
          <a:p>
            <a:endParaRPr lang="en-GB"/>
          </a:p>
        </p:txBody>
      </p:sp>
      <p:sp>
        <p:nvSpPr>
          <p:cNvPr id="3" name="Slide Number Placeholder 2"/>
          <p:cNvSpPr>
            <a:spLocks noGrp="1"/>
          </p:cNvSpPr>
          <p:nvPr>
            <p:ph type="sldNum" sz="quarter" idx="4294967295"/>
          </p:nvPr>
        </p:nvSpPr>
        <p:spPr>
          <a:xfrm>
            <a:off x="11723688" y="6303963"/>
            <a:ext cx="468312" cy="323850"/>
          </a:xfrm>
        </p:spPr>
        <p:txBody>
          <a:bodyPr/>
          <a:lstStyle/>
          <a:p>
            <a:fld id="{F97EA6E0-ACB3-C744-814F-68814E5220CF}" type="slidenum">
              <a:rPr lang="en-US" smtClean="0"/>
              <a:t>50</a:t>
            </a:fld>
            <a:endParaRPr lang="en-US"/>
          </a:p>
        </p:txBody>
      </p:sp>
    </p:spTree>
    <p:extLst>
      <p:ext uri="{BB962C8B-B14F-4D97-AF65-F5344CB8AC3E}">
        <p14:creationId xmlns:p14="http://schemas.microsoft.com/office/powerpoint/2010/main" val="3656438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51</a:t>
            </a:fld>
            <a:endParaRPr lang="en-US"/>
          </a:p>
        </p:txBody>
      </p:sp>
      <p:sp>
        <p:nvSpPr>
          <p:cNvPr id="7" name="Rectangle 6"/>
          <p:cNvSpPr/>
          <p:nvPr/>
        </p:nvSpPr>
        <p:spPr>
          <a:xfrm>
            <a:off x="427701" y="628508"/>
            <a:ext cx="11336594" cy="6324808"/>
          </a:xfrm>
          <a:prstGeom prst="rect">
            <a:avLst/>
          </a:prstGeom>
        </p:spPr>
        <p:txBody>
          <a:bodyPr wrap="square" lIns="91440" tIns="45720" rIns="91440" bIns="45720" anchor="t">
            <a:spAutoFit/>
          </a:bodyPr>
          <a:lstStyle/>
          <a:p>
            <a:r>
              <a:rPr lang="en-GB" sz="1500"/>
              <a:t>If the event has taken place before at an external venue check the feedback from the previous event and consider using the same venue if it worked well.</a:t>
            </a:r>
            <a:endParaRPr lang="en-US"/>
          </a:p>
          <a:p>
            <a:pPr fontAlgn="base"/>
            <a:endParaRPr lang="en-GB" sz="1500">
              <a:solidFill>
                <a:srgbClr val="FF0000"/>
              </a:solidFill>
            </a:endParaRPr>
          </a:p>
          <a:p>
            <a:pPr fontAlgn="base"/>
            <a:r>
              <a:rPr lang="en-GB" sz="1500"/>
              <a:t>Additionally, you can also contact MH Forum Link who provide a free venue finding service. They will be able to provide you with a shortlist of venues based on your requirements. Be prepared to tell them:</a:t>
            </a:r>
            <a:endParaRPr lang="en-GB" sz="1500">
              <a:cs typeface="Arial"/>
            </a:endParaRPr>
          </a:p>
          <a:p>
            <a:endParaRPr lang="en-GB" sz="1500"/>
          </a:p>
          <a:p>
            <a:pPr marL="285750" indent="-285750" fontAlgn="base">
              <a:buFont typeface="Arial" panose="020B0604020202020204" pitchFamily="34" charset="0"/>
              <a:buChar char="•"/>
            </a:pPr>
            <a:r>
              <a:rPr lang="en-GB" sz="1500"/>
              <a:t>Preferred date(s) and timings of your event (including set up and de-rig time)</a:t>
            </a:r>
            <a:endParaRPr lang="en-GB" sz="1500">
              <a:cs typeface="Arial"/>
            </a:endParaRPr>
          </a:p>
          <a:p>
            <a:pPr marL="285750" indent="-285750" fontAlgn="base">
              <a:buFont typeface="Arial" panose="020B0604020202020204" pitchFamily="34" charset="0"/>
              <a:buChar char="•"/>
            </a:pPr>
            <a:r>
              <a:rPr lang="en-GB" sz="1500"/>
              <a:t>Spaces required with capacity and set up requirements in each space i.e. main meeting room for 250 ppl in theatre style with space for a stage</a:t>
            </a:r>
            <a:endParaRPr lang="en-GB" sz="1500">
              <a:cs typeface="Arial"/>
            </a:endParaRPr>
          </a:p>
          <a:p>
            <a:pPr marL="285750" indent="-285750" fontAlgn="base">
              <a:buFont typeface="Arial" panose="020B0604020202020204" pitchFamily="34" charset="0"/>
              <a:buChar char="•"/>
            </a:pPr>
            <a:r>
              <a:rPr lang="en-GB" sz="1500"/>
              <a:t>Catering requirements</a:t>
            </a:r>
            <a:endParaRPr lang="en-GB" sz="1500">
              <a:cs typeface="Arial"/>
            </a:endParaRPr>
          </a:p>
          <a:p>
            <a:pPr marL="285750" indent="-285750" fontAlgn="base">
              <a:buFont typeface="Arial" panose="020B0604020202020204" pitchFamily="34" charset="0"/>
              <a:buChar char="•"/>
            </a:pPr>
            <a:r>
              <a:rPr lang="en-GB" sz="1500"/>
              <a:t>Desired locations</a:t>
            </a:r>
            <a:endParaRPr lang="en-GB" sz="1500">
              <a:cs typeface="Arial"/>
            </a:endParaRPr>
          </a:p>
          <a:p>
            <a:pPr marL="285750" indent="-285750" fontAlgn="base">
              <a:buFont typeface="Arial" panose="020B0604020202020204" pitchFamily="34" charset="0"/>
              <a:buChar char="•"/>
            </a:pPr>
            <a:r>
              <a:rPr lang="en-GB" sz="1500"/>
              <a:t>Budget</a:t>
            </a:r>
            <a:endParaRPr lang="en-GB" sz="1500">
              <a:cs typeface="Arial"/>
            </a:endParaRPr>
          </a:p>
          <a:p>
            <a:pPr marL="285750" indent="-285750" fontAlgn="base">
              <a:buFont typeface="Arial" panose="020B0604020202020204" pitchFamily="34" charset="0"/>
              <a:buChar char="•"/>
            </a:pPr>
            <a:endParaRPr lang="en-GB" sz="1500"/>
          </a:p>
          <a:p>
            <a:pPr fontAlgn="base"/>
            <a:r>
              <a:rPr lang="en-GB" sz="1500" u="sng"/>
              <a:t>MH Forum Link contact:</a:t>
            </a:r>
            <a:endParaRPr lang="en-GB" sz="1500"/>
          </a:p>
          <a:p>
            <a:pPr fontAlgn="base"/>
            <a:r>
              <a:rPr lang="en-GB" sz="1500"/>
              <a:t>Phil Jackson - </a:t>
            </a:r>
            <a:r>
              <a:rPr lang="en-GB" sz="1500">
                <a:hlinkClick r:id="rId2"/>
              </a:rPr>
              <a:t>phil.jackson@mhforumlink.com</a:t>
            </a:r>
            <a:r>
              <a:rPr lang="en-GB" sz="1500"/>
              <a:t> / +44 (0)845 838 7432</a:t>
            </a:r>
            <a:endParaRPr lang="en-GB" sz="1500">
              <a:cs typeface="Arial"/>
            </a:endParaRPr>
          </a:p>
          <a:p>
            <a:pPr fontAlgn="base"/>
            <a:endParaRPr lang="en-GB" sz="1500"/>
          </a:p>
          <a:p>
            <a:pPr fontAlgn="base"/>
            <a:r>
              <a:rPr lang="en-GB" sz="1500"/>
              <a:t>Top Tips:</a:t>
            </a:r>
            <a:endParaRPr lang="en-GB" sz="1500">
              <a:cs typeface="Arial"/>
            </a:endParaRPr>
          </a:p>
          <a:p>
            <a:pPr marL="285750" indent="-285750" fontAlgn="base">
              <a:buFont typeface="Arial" panose="020B0604020202020204" pitchFamily="34" charset="0"/>
              <a:buChar char="•"/>
            </a:pPr>
            <a:r>
              <a:rPr lang="en-GB" sz="1500">
                <a:cs typeface="Arial"/>
              </a:rPr>
              <a:t>If you have budget constraints, try to choose a venue that has an in-built stage so that you do not have to bring this in</a:t>
            </a:r>
            <a:endParaRPr lang="en-GB" sz="1500"/>
          </a:p>
          <a:p>
            <a:pPr marL="285750" indent="-285750">
              <a:buFont typeface="Arial" panose="020B0604020202020204" pitchFamily="34" charset="0"/>
              <a:buChar char="•"/>
            </a:pPr>
            <a:r>
              <a:rPr lang="en-GB" sz="1500">
                <a:cs typeface="Arial"/>
              </a:rPr>
              <a:t>Get comparative quotes and proposals from AV and catering providers – many venues will have a preferred supplier list that you can select from. Some catering suppliers will also offer a pre-event tasting</a:t>
            </a:r>
          </a:p>
          <a:p>
            <a:pPr marL="285750" indent="-285750" fontAlgn="base">
              <a:buFont typeface="Arial" panose="020B0604020202020204" pitchFamily="34" charset="0"/>
              <a:buChar char="•"/>
            </a:pPr>
            <a:r>
              <a:rPr lang="en-GB" sz="1500"/>
              <a:t>Lighting - avoid fluorescent lights in the seating area. Make sure you light up the stage enough for speakers to see notes if using. For a PPT presentation, make sure the font size is readable and no light shines on the screen. Ensure the stage lighting is adequate if you are streaming or filming the event</a:t>
            </a:r>
            <a:endParaRPr lang="en-GB" sz="1500">
              <a:cs typeface="Arial"/>
            </a:endParaRPr>
          </a:p>
          <a:p>
            <a:pPr marL="285750" indent="-285750" fontAlgn="base">
              <a:buFont typeface="Arial" panose="020B0604020202020204" pitchFamily="34" charset="0"/>
              <a:buChar char="•"/>
            </a:pPr>
            <a:r>
              <a:rPr lang="en-GB" sz="1500"/>
              <a:t>Get creative with your stage design - bring some nice living room lamps or chairs to make the stage look a little more interesting. Avoid dark colours as the backdrop of your stage</a:t>
            </a:r>
            <a:endParaRPr lang="en-GB" sz="1500">
              <a:cs typeface="Arial"/>
            </a:endParaRPr>
          </a:p>
          <a:p>
            <a:endParaRPr lang="en-GB" sz="1500"/>
          </a:p>
        </p:txBody>
      </p:sp>
      <p:sp>
        <p:nvSpPr>
          <p:cNvPr id="5" name="Title 4"/>
          <p:cNvSpPr>
            <a:spLocks noGrp="1"/>
          </p:cNvSpPr>
          <p:nvPr>
            <p:ph type="title"/>
          </p:nvPr>
        </p:nvSpPr>
        <p:spPr/>
        <p:txBody>
          <a:bodyPr/>
          <a:lstStyle/>
          <a:p>
            <a:r>
              <a:rPr lang="en-GB" b="1"/>
              <a:t>Sourcing an external venue</a:t>
            </a:r>
          </a:p>
        </p:txBody>
      </p:sp>
    </p:spTree>
    <p:extLst>
      <p:ext uri="{BB962C8B-B14F-4D97-AF65-F5344CB8AC3E}">
        <p14:creationId xmlns:p14="http://schemas.microsoft.com/office/powerpoint/2010/main" val="37570212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p:txBody>
          <a:bodyPr/>
          <a:lstStyle/>
          <a:p>
            <a:r>
              <a:rPr lang="en-GB"/>
              <a:t>Logistics – at the event</a:t>
            </a:r>
          </a:p>
        </p:txBody>
      </p:sp>
      <p:sp>
        <p:nvSpPr>
          <p:cNvPr id="7" name="Text Placeholder 6"/>
          <p:cNvSpPr>
            <a:spLocks noGrp="1"/>
          </p:cNvSpPr>
          <p:nvPr>
            <p:ph type="body" sz="quarter" idx="12"/>
          </p:nvPr>
        </p:nvSpPr>
        <p:spPr/>
        <p:txBody>
          <a:bodyPr/>
          <a:lstStyle/>
          <a:p>
            <a:endParaRPr lang="en-GB"/>
          </a:p>
        </p:txBody>
      </p:sp>
      <p:sp>
        <p:nvSpPr>
          <p:cNvPr id="3" name="Slide Number Placeholder 2"/>
          <p:cNvSpPr>
            <a:spLocks noGrp="1"/>
          </p:cNvSpPr>
          <p:nvPr>
            <p:ph type="sldNum" sz="quarter" idx="4294967295"/>
          </p:nvPr>
        </p:nvSpPr>
        <p:spPr>
          <a:xfrm>
            <a:off x="11723688" y="6303963"/>
            <a:ext cx="468312" cy="323850"/>
          </a:xfrm>
        </p:spPr>
        <p:txBody>
          <a:bodyPr/>
          <a:lstStyle/>
          <a:p>
            <a:fld id="{F97EA6E0-ACB3-C744-814F-68814E5220CF}" type="slidenum">
              <a:rPr lang="en-US" smtClean="0"/>
              <a:t>52</a:t>
            </a:fld>
            <a:endParaRPr lang="en-US"/>
          </a:p>
        </p:txBody>
      </p:sp>
    </p:spTree>
    <p:extLst>
      <p:ext uri="{BB962C8B-B14F-4D97-AF65-F5344CB8AC3E}">
        <p14:creationId xmlns:p14="http://schemas.microsoft.com/office/powerpoint/2010/main" val="32482691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53</a:t>
            </a:fld>
            <a:endParaRPr lang="en-US"/>
          </a:p>
        </p:txBody>
      </p:sp>
      <p:sp>
        <p:nvSpPr>
          <p:cNvPr id="7" name="Rectangle 6"/>
          <p:cNvSpPr/>
          <p:nvPr/>
        </p:nvSpPr>
        <p:spPr>
          <a:xfrm>
            <a:off x="427703" y="652612"/>
            <a:ext cx="11336594" cy="6093976"/>
          </a:xfrm>
          <a:prstGeom prst="rect">
            <a:avLst/>
          </a:prstGeom>
        </p:spPr>
        <p:txBody>
          <a:bodyPr wrap="square" lIns="91440" tIns="45720" rIns="91440" bIns="45720" anchor="t">
            <a:spAutoFit/>
          </a:bodyPr>
          <a:lstStyle/>
          <a:p>
            <a:r>
              <a:rPr lang="en-GB" sz="1500">
                <a:cs typeface="Arial"/>
              </a:rPr>
              <a:t>Having a smooth registration process is an opportunity to make a great first impression on your attendees and set the tone for the rest of the event.</a:t>
            </a:r>
          </a:p>
          <a:p>
            <a:endParaRPr lang="en-GB" sz="1500">
              <a:cs typeface="Arial"/>
            </a:endParaRPr>
          </a:p>
          <a:p>
            <a:r>
              <a:rPr lang="en-GB" sz="1500">
                <a:cs typeface="Arial"/>
              </a:rPr>
              <a:t>For on campus events you can request registration desks from the porters via your event information sheet (or by email if a smaller event with no EIS required). These desks can be branded for your event and this can be arranged with Paragon (</a:t>
            </a:r>
            <a:r>
              <a:rPr lang="en-GB" sz="1500">
                <a:ea typeface="+mn-lt"/>
                <a:cs typeface="+mn-lt"/>
                <a:hlinkClick r:id="rId2"/>
              </a:rPr>
              <a:t>lbs@paragon-cc.co.uk)</a:t>
            </a:r>
            <a:endParaRPr lang="en-GB" sz="1500">
              <a:cs typeface="Arial"/>
            </a:endParaRPr>
          </a:p>
          <a:p>
            <a:endParaRPr lang="en-GB" sz="1500">
              <a:cs typeface="Arial"/>
            </a:endParaRPr>
          </a:p>
          <a:p>
            <a:r>
              <a:rPr lang="en-GB" sz="1500">
                <a:cs typeface="Arial"/>
              </a:rPr>
              <a:t>Ensure that you have enough volunteers to cover the desk. Remember that you can book additional staff for on campus events via the LBS Welcome desk if required (contact Atif Shaikh </a:t>
            </a:r>
            <a:r>
              <a:rPr lang="en-GB" sz="1500">
                <a:cs typeface="Arial"/>
                <a:hlinkClick r:id="rId3"/>
              </a:rPr>
              <a:t>ashaikh@london.edu</a:t>
            </a:r>
            <a:r>
              <a:rPr lang="en-GB" sz="1500">
                <a:cs typeface="Arial"/>
              </a:rPr>
              <a:t>) ideally with more than 3 weeks notice. </a:t>
            </a:r>
          </a:p>
          <a:p>
            <a:pPr fontAlgn="base"/>
            <a:endParaRPr lang="en-GB" sz="1500">
              <a:cs typeface="Arial"/>
            </a:endParaRPr>
          </a:p>
          <a:p>
            <a:pPr fontAlgn="base"/>
            <a:r>
              <a:rPr lang="en-GB" sz="1500" b="1"/>
              <a:t>Top Tips:</a:t>
            </a:r>
            <a:endParaRPr lang="en-GB" sz="1500" b="1">
              <a:cs typeface="Arial"/>
            </a:endParaRPr>
          </a:p>
          <a:p>
            <a:pPr marL="285750" indent="-285750" fontAlgn="base">
              <a:buFont typeface="Arial" panose="020B0604020202020204" pitchFamily="34" charset="0"/>
              <a:buChar char="•"/>
            </a:pPr>
            <a:r>
              <a:rPr lang="en-GB" sz="1500">
                <a:cs typeface="Arial"/>
              </a:rPr>
              <a:t>Ensure all staff are fully briefed before guests arrive</a:t>
            </a:r>
          </a:p>
          <a:p>
            <a:pPr marL="285750" indent="-285750">
              <a:buFont typeface="Arial" panose="020B0604020202020204" pitchFamily="34" charset="0"/>
              <a:buChar char="•"/>
            </a:pPr>
            <a:r>
              <a:rPr lang="en-GB" sz="1500">
                <a:cs typeface="Arial"/>
              </a:rPr>
              <a:t>Set up in plenty of time before you expect your first attendee arrivals (allow for early arrivals)</a:t>
            </a:r>
          </a:p>
          <a:p>
            <a:pPr marL="285750" indent="-285750">
              <a:buFont typeface="Arial" panose="020B0604020202020204" pitchFamily="34" charset="0"/>
              <a:buChar char="•"/>
            </a:pPr>
            <a:r>
              <a:rPr lang="en-GB" sz="1500">
                <a:cs typeface="Arial"/>
              </a:rPr>
              <a:t>Appoint additional volunteers to be near the desks and manage queues if necessary (they could direct people to the cloakroom first if a queue is forming) </a:t>
            </a:r>
          </a:p>
          <a:p>
            <a:pPr marL="285750" indent="-285750">
              <a:buFont typeface="Arial" panose="020B0604020202020204" pitchFamily="34" charset="0"/>
              <a:buChar char="•"/>
            </a:pPr>
            <a:r>
              <a:rPr lang="en-GB" sz="1500">
                <a:cs typeface="Arial"/>
              </a:rPr>
              <a:t>Have dedicated volunteers waiting near the desk to greet and direct speakers and/or press</a:t>
            </a:r>
          </a:p>
          <a:p>
            <a:pPr marL="285750" indent="-285750">
              <a:buFont typeface="Arial" panose="020B0604020202020204" pitchFamily="34" charset="0"/>
              <a:buChar char="•"/>
            </a:pPr>
            <a:r>
              <a:rPr lang="en-GB" sz="1500">
                <a:cs typeface="Arial"/>
              </a:rPr>
              <a:t>Request an extension power cable if necessary for laptops and label makers/printers</a:t>
            </a:r>
          </a:p>
          <a:p>
            <a:pPr marL="285750" indent="-285750">
              <a:buFont typeface="Arial" panose="020B0604020202020204" pitchFamily="34" charset="0"/>
              <a:buChar char="•"/>
            </a:pPr>
            <a:r>
              <a:rPr lang="en-GB" sz="1500">
                <a:cs typeface="Arial"/>
              </a:rPr>
              <a:t>Have a separate area for badge amends / printing new badges and labels </a:t>
            </a:r>
          </a:p>
          <a:p>
            <a:pPr marL="285750" indent="-285750">
              <a:buFont typeface="Arial" panose="020B0604020202020204" pitchFamily="34" charset="0"/>
              <a:buChar char="•"/>
            </a:pPr>
            <a:r>
              <a:rPr lang="en-GB" sz="1500">
                <a:cs typeface="Arial"/>
              </a:rPr>
              <a:t>If you have a large number of attendees do an alpha split with clear signage so that people know which end of the desk to go to </a:t>
            </a:r>
            <a:r>
              <a:rPr lang="en-GB" sz="1500" err="1">
                <a:cs typeface="Arial"/>
              </a:rPr>
              <a:t>to</a:t>
            </a:r>
            <a:r>
              <a:rPr lang="en-GB" sz="1500">
                <a:cs typeface="Arial"/>
              </a:rPr>
              <a:t> collect their badge</a:t>
            </a:r>
          </a:p>
          <a:p>
            <a:pPr marL="285750" indent="-285750">
              <a:buFont typeface="Arial" panose="020B0604020202020204" pitchFamily="34" charset="0"/>
              <a:buChar char="•"/>
            </a:pPr>
            <a:r>
              <a:rPr lang="en-GB" sz="1500">
                <a:cs typeface="Arial"/>
              </a:rPr>
              <a:t>If you have budget you could use a check-in and print system for badges </a:t>
            </a:r>
          </a:p>
          <a:p>
            <a:pPr marL="285750" indent="-285750">
              <a:buFont typeface="Arial" panose="020B0604020202020204" pitchFamily="34" charset="0"/>
              <a:buChar char="•"/>
            </a:pPr>
            <a:r>
              <a:rPr lang="en-GB" sz="1500">
                <a:cs typeface="Arial"/>
              </a:rPr>
              <a:t>Have a filming/photography notice at the point of registration in case people want to opt out </a:t>
            </a:r>
          </a:p>
          <a:p>
            <a:pPr marL="285750" indent="-285750">
              <a:buFont typeface="Arial" panose="020B0604020202020204" pitchFamily="34" charset="0"/>
              <a:buChar char="•"/>
            </a:pPr>
            <a:endParaRPr lang="en-GB" sz="1500">
              <a:cs typeface="Arial"/>
            </a:endParaRPr>
          </a:p>
          <a:p>
            <a:br>
              <a:rPr lang="en-GB" sz="1500"/>
            </a:br>
            <a:r>
              <a:rPr lang="en-GB" sz="1500"/>
              <a:t> </a:t>
            </a:r>
            <a:endParaRPr lang="en-GB" sz="1500">
              <a:cs typeface="Arial"/>
            </a:endParaRPr>
          </a:p>
          <a:p>
            <a:endParaRPr lang="en-GB" sz="1500">
              <a:cs typeface="Arial"/>
            </a:endParaRPr>
          </a:p>
        </p:txBody>
      </p:sp>
      <p:sp>
        <p:nvSpPr>
          <p:cNvPr id="4" name="Title 3"/>
          <p:cNvSpPr>
            <a:spLocks noGrp="1"/>
          </p:cNvSpPr>
          <p:nvPr>
            <p:ph type="title"/>
          </p:nvPr>
        </p:nvSpPr>
        <p:spPr/>
        <p:txBody>
          <a:bodyPr lIns="90000" tIns="45720" rIns="0" bIns="45720" anchor="t"/>
          <a:lstStyle/>
          <a:p>
            <a:r>
              <a:rPr lang="en-GB" b="1"/>
              <a:t>Registration on the day</a:t>
            </a:r>
            <a:endParaRPr lang="en-GB" b="1">
              <a:cs typeface="Arial"/>
            </a:endParaRPr>
          </a:p>
        </p:txBody>
      </p:sp>
    </p:spTree>
    <p:extLst>
      <p:ext uri="{BB962C8B-B14F-4D97-AF65-F5344CB8AC3E}">
        <p14:creationId xmlns:p14="http://schemas.microsoft.com/office/powerpoint/2010/main" val="30152621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54</a:t>
            </a:fld>
            <a:endParaRPr lang="en-US"/>
          </a:p>
        </p:txBody>
      </p:sp>
      <p:sp>
        <p:nvSpPr>
          <p:cNvPr id="7" name="Rectangle 6"/>
          <p:cNvSpPr/>
          <p:nvPr/>
        </p:nvSpPr>
        <p:spPr>
          <a:xfrm>
            <a:off x="427703" y="881212"/>
            <a:ext cx="11336594" cy="6001643"/>
          </a:xfrm>
          <a:prstGeom prst="rect">
            <a:avLst/>
          </a:prstGeom>
        </p:spPr>
        <p:txBody>
          <a:bodyPr wrap="square" lIns="91440" tIns="45720" rIns="91440" bIns="45720" anchor="t">
            <a:spAutoFit/>
          </a:bodyPr>
          <a:lstStyle/>
          <a:p>
            <a:pPr fontAlgn="base"/>
            <a:r>
              <a:rPr lang="en-GB" sz="1600"/>
              <a:t>Volunteers provide extra help in the planning of your event, or on the day (ushers, registration desk or wardrobe volunteers). It’s good to have some extra runners on call, that you can send to get last minute things done for you.</a:t>
            </a:r>
          </a:p>
          <a:p>
            <a:pPr fontAlgn="base"/>
            <a:endParaRPr lang="en-GB" sz="1600"/>
          </a:p>
          <a:p>
            <a:pPr fontAlgn="base"/>
            <a:r>
              <a:rPr lang="en-GB" sz="1600"/>
              <a:t>Brief your volunteers, so they know what they need to do on the day. Consider how you will motivate your volunteers. Who will manage them and answer their questions on the day?</a:t>
            </a:r>
            <a:endParaRPr lang="en-GB" sz="1600">
              <a:cs typeface="Arial"/>
            </a:endParaRPr>
          </a:p>
          <a:p>
            <a:pPr fontAlgn="base"/>
            <a:endParaRPr lang="en-GB" sz="1600"/>
          </a:p>
          <a:p>
            <a:pPr fontAlgn="base"/>
            <a:r>
              <a:rPr lang="en-GB" sz="1600" b="1"/>
              <a:t>Top Tips:</a:t>
            </a:r>
            <a:endParaRPr lang="en-GB" sz="1600" b="1">
              <a:cs typeface="Arial"/>
            </a:endParaRPr>
          </a:p>
          <a:p>
            <a:pPr fontAlgn="base"/>
            <a:r>
              <a:rPr lang="en-GB" sz="1600"/>
              <a:t>​</a:t>
            </a:r>
            <a:endParaRPr lang="en-GB" sz="1600">
              <a:cs typeface="Arial"/>
            </a:endParaRPr>
          </a:p>
          <a:p>
            <a:pPr marL="285750" indent="-285750" fontAlgn="base">
              <a:buFont typeface="Arial" panose="020B0604020202020204" pitchFamily="34" charset="0"/>
              <a:buChar char="•"/>
            </a:pPr>
            <a:r>
              <a:rPr lang="en-GB" sz="1600"/>
              <a:t>Think about the various roles/ tasks you need volunteers to do and create a detailed schedule, with clearly defined roles and tasks for all</a:t>
            </a:r>
            <a:endParaRPr lang="en-GB" sz="1600">
              <a:cs typeface="Arial"/>
            </a:endParaRPr>
          </a:p>
          <a:p>
            <a:pPr marL="285750" lvl="0" indent="-285750" fontAlgn="base">
              <a:buFont typeface="Arial" panose="020B0604020202020204" pitchFamily="34" charset="0"/>
              <a:buChar char="•"/>
            </a:pPr>
            <a:r>
              <a:rPr lang="en-GB" sz="1600"/>
              <a:t>Start recruiting for volunteers early enough to be able to schedule a volunteer briefing meeting before the event</a:t>
            </a:r>
            <a:endParaRPr lang="en-GB" sz="1600">
              <a:cs typeface="Arial"/>
            </a:endParaRPr>
          </a:p>
          <a:p>
            <a:pPr marL="285750" lvl="0" indent="-285750" fontAlgn="base">
              <a:buFont typeface="Arial" panose="020B0604020202020204" pitchFamily="34" charset="0"/>
              <a:buChar char="•"/>
            </a:pPr>
            <a:r>
              <a:rPr lang="en-GB" sz="1600"/>
              <a:t>When recruiting for volunteers, be clear about what roles are available, how much time they will spend and if this role requires specific skills or equipment</a:t>
            </a:r>
            <a:endParaRPr lang="en-GB" sz="1600">
              <a:cs typeface="Arial"/>
            </a:endParaRPr>
          </a:p>
          <a:p>
            <a:pPr marL="285750" indent="-285750" fontAlgn="base">
              <a:buFont typeface="Arial" panose="020B0604020202020204" pitchFamily="34" charset="0"/>
              <a:buChar char="•"/>
            </a:pPr>
            <a:r>
              <a:rPr lang="en-GB" sz="1600"/>
              <a:t>At the volunteer briefing meeting, give them a short run down of the event, iterate the roles they will play and answer any questions they might have</a:t>
            </a:r>
            <a:endParaRPr lang="en-GB" sz="1600">
              <a:cs typeface="Arial"/>
            </a:endParaRPr>
          </a:p>
          <a:p>
            <a:pPr marL="285750" lvl="0" indent="-285750" fontAlgn="base">
              <a:buFont typeface="Arial" panose="020B0604020202020204" pitchFamily="34" charset="0"/>
              <a:buChar char="•"/>
            </a:pPr>
            <a:r>
              <a:rPr lang="en-GB" sz="1600"/>
              <a:t>Collate a briefing sheet detailing proceedings for the day, questions guests might ask them (</a:t>
            </a:r>
            <a:r>
              <a:rPr lang="en-GB" sz="1600" err="1"/>
              <a:t>eg.</a:t>
            </a:r>
            <a:r>
              <a:rPr lang="en-GB" sz="1600"/>
              <a:t> where the toilets are…), and questions that volunteers might be asking themselves on the day</a:t>
            </a:r>
            <a:endParaRPr lang="en-GB" sz="1600">
              <a:cs typeface="Arial"/>
            </a:endParaRPr>
          </a:p>
          <a:p>
            <a:pPr marL="285750" indent="-285750">
              <a:buFont typeface="Arial" panose="020B0604020202020204" pitchFamily="34" charset="0"/>
              <a:buChar char="•"/>
            </a:pPr>
            <a:r>
              <a:rPr lang="en-GB" sz="1600">
                <a:cs typeface="Arial"/>
              </a:rPr>
              <a:t>Set up a WhatsApp group for volunteers as a channel of communication on the day </a:t>
            </a:r>
            <a:endParaRPr lang="en-GB" sz="1600"/>
          </a:p>
          <a:p>
            <a:pPr marL="285750" lvl="0" indent="-285750" fontAlgn="base">
              <a:buFont typeface="Arial" panose="020B0604020202020204" pitchFamily="34" charset="0"/>
              <a:buChar char="•"/>
            </a:pPr>
            <a:r>
              <a:rPr lang="en-GB" sz="1600"/>
              <a:t>On the day, make sure you water and feed your volunteers</a:t>
            </a:r>
            <a:endParaRPr lang="en-GB" sz="1600">
              <a:cs typeface="Arial" panose="020B0604020202020204"/>
            </a:endParaRPr>
          </a:p>
          <a:p>
            <a:pPr marL="285750" lvl="0" indent="-285750" fontAlgn="base">
              <a:buFont typeface="Arial" panose="020B0604020202020204" pitchFamily="34" charset="0"/>
              <a:buChar char="•"/>
            </a:pPr>
            <a:r>
              <a:rPr lang="en-GB" sz="1600"/>
              <a:t>Lastly, make sure you thank your volunteers for their support and gather feedback from them about your event. 360 feedback will help you gauge how well your event went and any leadership development takeaways</a:t>
            </a:r>
            <a:endParaRPr lang="en-GB" sz="1600">
              <a:cs typeface="Arial" panose="020B0604020202020204"/>
            </a:endParaRPr>
          </a:p>
          <a:p>
            <a:br>
              <a:rPr lang="en-GB" sz="1600"/>
            </a:br>
            <a:r>
              <a:rPr lang="en-GB" sz="1600"/>
              <a:t> </a:t>
            </a:r>
            <a:endParaRPr lang="en-GB" sz="1600">
              <a:cs typeface="Arial"/>
            </a:endParaRPr>
          </a:p>
          <a:p>
            <a:endParaRPr lang="en-GB" sz="1600"/>
          </a:p>
        </p:txBody>
      </p:sp>
      <p:sp>
        <p:nvSpPr>
          <p:cNvPr id="4" name="Title 3"/>
          <p:cNvSpPr>
            <a:spLocks noGrp="1"/>
          </p:cNvSpPr>
          <p:nvPr>
            <p:ph type="title"/>
          </p:nvPr>
        </p:nvSpPr>
        <p:spPr/>
        <p:txBody>
          <a:bodyPr/>
          <a:lstStyle/>
          <a:p>
            <a:r>
              <a:rPr lang="en-GB" b="1"/>
              <a:t>Volunteers</a:t>
            </a:r>
          </a:p>
        </p:txBody>
      </p:sp>
    </p:spTree>
    <p:extLst>
      <p:ext uri="{BB962C8B-B14F-4D97-AF65-F5344CB8AC3E}">
        <p14:creationId xmlns:p14="http://schemas.microsoft.com/office/powerpoint/2010/main" val="12448801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2B2D30-1DA7-4A43-9507-E3C2EDE6BF35}"/>
              </a:ext>
            </a:extLst>
          </p:cNvPr>
          <p:cNvSpPr>
            <a:spLocks noGrp="1"/>
          </p:cNvSpPr>
          <p:nvPr>
            <p:ph type="body" sz="quarter" idx="11"/>
          </p:nvPr>
        </p:nvSpPr>
        <p:spPr/>
        <p:txBody>
          <a:bodyPr/>
          <a:lstStyle/>
          <a:p>
            <a:r>
              <a:rPr lang="en-GB"/>
              <a:t>Final considerations</a:t>
            </a:r>
            <a:endParaRPr lang="en-US"/>
          </a:p>
        </p:txBody>
      </p:sp>
      <p:sp>
        <p:nvSpPr>
          <p:cNvPr id="3" name="Text Placeholder 2">
            <a:extLst>
              <a:ext uri="{FF2B5EF4-FFF2-40B4-BE49-F238E27FC236}">
                <a16:creationId xmlns:a16="http://schemas.microsoft.com/office/drawing/2014/main" id="{F276C225-1940-2346-BA5A-192226BF693F}"/>
              </a:ext>
            </a:extLst>
          </p:cNvPr>
          <p:cNvSpPr>
            <a:spLocks noGrp="1"/>
          </p:cNvSpPr>
          <p:nvPr>
            <p:ph type="body" sz="quarter" idx="12"/>
          </p:nvPr>
        </p:nvSpPr>
        <p:spPr/>
        <p:txBody>
          <a:bodyPr>
            <a:normAutofit/>
          </a:bodyPr>
          <a:lstStyle/>
          <a:p>
            <a:endParaRPr lang="en-US"/>
          </a:p>
        </p:txBody>
      </p:sp>
    </p:spTree>
    <p:extLst>
      <p:ext uri="{BB962C8B-B14F-4D97-AF65-F5344CB8AC3E}">
        <p14:creationId xmlns:p14="http://schemas.microsoft.com/office/powerpoint/2010/main" val="23124324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56</a:t>
            </a:fld>
            <a:endParaRPr lang="en-US"/>
          </a:p>
        </p:txBody>
      </p:sp>
      <p:sp>
        <p:nvSpPr>
          <p:cNvPr id="4" name="Title 3"/>
          <p:cNvSpPr>
            <a:spLocks noGrp="1"/>
          </p:cNvSpPr>
          <p:nvPr>
            <p:ph type="title"/>
          </p:nvPr>
        </p:nvSpPr>
        <p:spPr/>
        <p:txBody>
          <a:bodyPr/>
          <a:lstStyle/>
          <a:p>
            <a:r>
              <a:rPr lang="en-GB" b="1"/>
              <a:t>Final considerations</a:t>
            </a:r>
          </a:p>
        </p:txBody>
      </p:sp>
      <p:sp>
        <p:nvSpPr>
          <p:cNvPr id="6" name="Rectangle 5"/>
          <p:cNvSpPr/>
          <p:nvPr/>
        </p:nvSpPr>
        <p:spPr>
          <a:xfrm>
            <a:off x="346363" y="581414"/>
            <a:ext cx="11499273" cy="5678478"/>
          </a:xfrm>
          <a:prstGeom prst="rect">
            <a:avLst/>
          </a:prstGeom>
        </p:spPr>
        <p:txBody>
          <a:bodyPr wrap="square">
            <a:spAutoFit/>
          </a:bodyPr>
          <a:lstStyle/>
          <a:p>
            <a:pPr fontAlgn="base"/>
            <a:r>
              <a:rPr lang="en-GB" sz="1500"/>
              <a:t> </a:t>
            </a:r>
          </a:p>
          <a:p>
            <a:pPr fontAlgn="base"/>
            <a:r>
              <a:rPr lang="en-GB" sz="1500" b="1"/>
              <a:t>Top Tips:</a:t>
            </a:r>
          </a:p>
          <a:p>
            <a:pPr marL="342900" indent="-342900" fontAlgn="base">
              <a:buFont typeface="Symbol" panose="05050102010706020507" pitchFamily="18" charset="2"/>
              <a:buChar char=""/>
            </a:pPr>
            <a:r>
              <a:rPr lang="en-GB" sz="1500">
                <a:latin typeface="Arial" panose="020B0604020202020204" pitchFamily="34" charset="0"/>
                <a:ea typeface="Times New Roman" panose="02020603050405020304" pitchFamily="18" charset="0"/>
              </a:rPr>
              <a:t>Reminders - Send out a reminder to all your guests about the event, timings, location and anything else they need to know. Send reminders a week before your event and 1 day before.</a:t>
            </a:r>
          </a:p>
          <a:p>
            <a:pPr marL="342900" indent="-342900" fontAlgn="base">
              <a:buFont typeface="Symbol" panose="05050102010706020507" pitchFamily="18" charset="2"/>
              <a:buChar char=""/>
            </a:pPr>
            <a:r>
              <a:rPr lang="en-GB" sz="1500">
                <a:latin typeface="Arial" panose="020B0604020202020204" pitchFamily="34" charset="0"/>
                <a:ea typeface="Times New Roman" panose="02020603050405020304" pitchFamily="18" charset="0"/>
              </a:rPr>
              <a:t>Feedback surveys - Get your feedback surveys ready: have one for your volunteers, speakers and guests and send them out straight after the event finishes</a:t>
            </a:r>
            <a:r>
              <a:rPr lang="en-GB" sz="1500"/>
              <a:t>.</a:t>
            </a:r>
          </a:p>
          <a:p>
            <a:pPr marL="342900" lvl="0" indent="-342900" fontAlgn="base">
              <a:spcAft>
                <a:spcPts val="0"/>
              </a:spcAft>
              <a:buFont typeface="Symbol" panose="05050102010706020507" pitchFamily="18" charset="2"/>
              <a:buChar char=""/>
            </a:pPr>
            <a:r>
              <a:rPr lang="en-GB" sz="1500">
                <a:latin typeface="Arial" panose="020B0604020202020204" pitchFamily="34" charset="0"/>
                <a:ea typeface="Times New Roman" panose="02020603050405020304" pitchFamily="18" charset="0"/>
              </a:rPr>
              <a:t>Gifts - Will you be presenting the speakers with a gift? Work out with the team the best time to present these</a:t>
            </a:r>
            <a:endParaRPr lang="en-GB" sz="1500">
              <a:latin typeface="Times New Roman" panose="02020603050405020304" pitchFamily="18" charset="0"/>
              <a:ea typeface="Times New Roman" panose="02020603050405020304" pitchFamily="18" charset="0"/>
            </a:endParaRPr>
          </a:p>
          <a:p>
            <a:pPr marL="342900" lvl="0" indent="-342900" fontAlgn="base">
              <a:spcAft>
                <a:spcPts val="0"/>
              </a:spcAft>
              <a:buFont typeface="Symbol" panose="05050102010706020507" pitchFamily="18" charset="2"/>
              <a:buChar char=""/>
            </a:pPr>
            <a:r>
              <a:rPr lang="en-GB" sz="1500">
                <a:latin typeface="Arial" panose="020B0604020202020204" pitchFamily="34" charset="0"/>
                <a:ea typeface="Times New Roman" panose="02020603050405020304" pitchFamily="18" charset="0"/>
              </a:rPr>
              <a:t>Speaker Release Forms - make sure these are completed.</a:t>
            </a:r>
            <a:endParaRPr lang="en-GB" sz="1500">
              <a:latin typeface="Times New Roman" panose="02020603050405020304" pitchFamily="18" charset="0"/>
              <a:ea typeface="Times New Roman" panose="02020603050405020304" pitchFamily="18" charset="0"/>
            </a:endParaRPr>
          </a:p>
          <a:p>
            <a:pPr fontAlgn="base">
              <a:spcAft>
                <a:spcPts val="0"/>
              </a:spcAft>
            </a:pPr>
            <a:r>
              <a:rPr lang="en-GB" sz="1500">
                <a:solidFill>
                  <a:srgbClr val="181818"/>
                </a:solidFill>
                <a:latin typeface="Arial" panose="020B0604020202020204" pitchFamily="34" charset="0"/>
                <a:ea typeface="MS Gothic" panose="020B0609070205080204" pitchFamily="49" charset="-128"/>
              </a:rPr>
              <a:t>​</a:t>
            </a:r>
            <a:endParaRPr lang="en-GB" sz="1500">
              <a:latin typeface="Times New Roman" panose="02020603050405020304" pitchFamily="18" charset="0"/>
              <a:ea typeface="Times New Roman" panose="02020603050405020304" pitchFamily="18" charset="0"/>
            </a:endParaRPr>
          </a:p>
          <a:p>
            <a:pPr>
              <a:lnSpc>
                <a:spcPct val="120000"/>
              </a:lnSpc>
              <a:spcAft>
                <a:spcPts val="0"/>
              </a:spcAft>
            </a:pPr>
            <a:r>
              <a:rPr lang="en-US" sz="1500" b="1" kern="0">
                <a:latin typeface="Arial" panose="020B0604020202020204" pitchFamily="34" charset="0"/>
                <a:cs typeface="Arial" panose="020B0604020202020204" pitchFamily="34" charset="0"/>
              </a:rPr>
              <a:t>Monitoring and evaluation</a:t>
            </a:r>
            <a:endParaRPr lang="en-GB" sz="1500" b="1" kern="0">
              <a:latin typeface="Arial" panose="020B0604020202020204" pitchFamily="34" charset="0"/>
              <a:cs typeface="Times New Roman (Body CS)"/>
            </a:endParaRPr>
          </a:p>
          <a:p>
            <a:pPr fontAlgn="base">
              <a:spcAft>
                <a:spcPts val="0"/>
              </a:spcAft>
            </a:pPr>
            <a:r>
              <a:rPr lang="en-GB" sz="1500">
                <a:latin typeface="Arial" panose="020B0604020202020204" pitchFamily="34" charset="0"/>
                <a:ea typeface="Times New Roman" panose="02020603050405020304" pitchFamily="18" charset="0"/>
              </a:rPr>
              <a:t>Monitoring and evaluation is important for the long-term health and success of your club.</a:t>
            </a:r>
            <a:endParaRPr lang="en-GB" sz="1500">
              <a:latin typeface="Times New Roman" panose="02020603050405020304" pitchFamily="18" charset="0"/>
              <a:ea typeface="Times New Roman" panose="02020603050405020304" pitchFamily="18" charset="0"/>
            </a:endParaRPr>
          </a:p>
          <a:p>
            <a:pPr fontAlgn="base">
              <a:spcAft>
                <a:spcPts val="0"/>
              </a:spcAft>
            </a:pPr>
            <a:r>
              <a:rPr lang="en-GB" sz="1500">
                <a:latin typeface="Arial" panose="020B0604020202020204" pitchFamily="34" charset="0"/>
                <a:ea typeface="Times New Roman" panose="02020603050405020304" pitchFamily="18" charset="0"/>
              </a:rPr>
              <a:t> </a:t>
            </a:r>
            <a:endParaRPr lang="en-GB" sz="1500">
              <a:latin typeface="Times New Roman" panose="02020603050405020304" pitchFamily="18" charset="0"/>
              <a:ea typeface="Times New Roman" panose="02020603050405020304" pitchFamily="18" charset="0"/>
            </a:endParaRPr>
          </a:p>
          <a:p>
            <a:pPr fontAlgn="base">
              <a:spcAft>
                <a:spcPts val="0"/>
              </a:spcAft>
            </a:pPr>
            <a:r>
              <a:rPr lang="en-GB" sz="1500" b="1">
                <a:latin typeface="Arial" panose="020B0604020202020204" pitchFamily="34" charset="0"/>
                <a:ea typeface="Times New Roman" panose="02020603050405020304" pitchFamily="18" charset="0"/>
              </a:rPr>
              <a:t>Monitoring</a:t>
            </a:r>
            <a:r>
              <a:rPr lang="en-GB" sz="1500">
                <a:latin typeface="Arial" panose="020B0604020202020204" pitchFamily="34" charset="0"/>
                <a:ea typeface="Times New Roman" panose="02020603050405020304" pitchFamily="18" charset="0"/>
              </a:rPr>
              <a:t> your organisational process helps your club to stay organised. It also ensures that the next year’s club leaders can build on your legacy, rather than starting from scratch.</a:t>
            </a:r>
            <a:endParaRPr lang="en-GB" sz="1500">
              <a:latin typeface="Times New Roman" panose="02020603050405020304" pitchFamily="18" charset="0"/>
              <a:ea typeface="Times New Roman" panose="02020603050405020304" pitchFamily="18" charset="0"/>
            </a:endParaRPr>
          </a:p>
          <a:p>
            <a:pPr fontAlgn="base">
              <a:spcAft>
                <a:spcPts val="0"/>
              </a:spcAft>
            </a:pPr>
            <a:r>
              <a:rPr lang="en-GB" sz="1500">
                <a:latin typeface="Arial" panose="020B0604020202020204" pitchFamily="34" charset="0"/>
                <a:ea typeface="Times New Roman" panose="02020603050405020304" pitchFamily="18" charset="0"/>
              </a:rPr>
              <a:t> </a:t>
            </a:r>
            <a:endParaRPr lang="en-GB" sz="1500">
              <a:latin typeface="Times New Roman" panose="02020603050405020304" pitchFamily="18" charset="0"/>
              <a:ea typeface="Times New Roman" panose="02020603050405020304" pitchFamily="18" charset="0"/>
            </a:endParaRPr>
          </a:p>
          <a:p>
            <a:pPr fontAlgn="base">
              <a:spcAft>
                <a:spcPts val="0"/>
              </a:spcAft>
            </a:pPr>
            <a:r>
              <a:rPr lang="en-GB" sz="1500">
                <a:latin typeface="Arial" panose="020B0604020202020204" pitchFamily="34" charset="0"/>
                <a:ea typeface="Times New Roman" panose="02020603050405020304" pitchFamily="18" charset="0"/>
              </a:rPr>
              <a:t>Keep a record of:</a:t>
            </a:r>
            <a:endParaRPr lang="en-GB" sz="1500">
              <a:latin typeface="Times New Roman" panose="02020603050405020304" pitchFamily="18" charset="0"/>
              <a:ea typeface="Times New Roman" panose="02020603050405020304" pitchFamily="18" charset="0"/>
            </a:endParaRPr>
          </a:p>
          <a:p>
            <a:pPr marL="342900" lvl="0" indent="-342900" fontAlgn="base">
              <a:spcAft>
                <a:spcPts val="0"/>
              </a:spcAft>
              <a:buFont typeface="Symbol" panose="05050102010706020507" pitchFamily="18" charset="2"/>
              <a:buChar char=""/>
            </a:pPr>
            <a:r>
              <a:rPr lang="en-GB" sz="1500">
                <a:latin typeface="Arial" panose="020B0604020202020204" pitchFamily="34" charset="0"/>
                <a:ea typeface="Times New Roman" panose="02020603050405020304" pitchFamily="18" charset="0"/>
              </a:rPr>
              <a:t>Speakers you have contacted (note if requests have been successful or not and why)</a:t>
            </a:r>
            <a:endParaRPr lang="en-GB" sz="1500">
              <a:latin typeface="Times New Roman" panose="02020603050405020304" pitchFamily="18" charset="0"/>
              <a:ea typeface="Times New Roman" panose="02020603050405020304" pitchFamily="18" charset="0"/>
            </a:endParaRPr>
          </a:p>
          <a:p>
            <a:pPr marL="342900" lvl="0" indent="-342900" fontAlgn="base">
              <a:spcAft>
                <a:spcPts val="0"/>
              </a:spcAft>
              <a:buFont typeface="Symbol" panose="05050102010706020507" pitchFamily="18" charset="2"/>
              <a:buChar char=""/>
            </a:pPr>
            <a:r>
              <a:rPr lang="en-GB" sz="1500">
                <a:latin typeface="Arial" panose="020B0604020202020204" pitchFamily="34" charset="0"/>
                <a:ea typeface="Times New Roman" panose="02020603050405020304" pitchFamily="18" charset="0"/>
              </a:rPr>
              <a:t>Venues and caterers you have contacted and used (with feedback notes and notes from debrief meetings post event)</a:t>
            </a:r>
            <a:endParaRPr lang="en-GB" sz="1500">
              <a:latin typeface="Times New Roman" panose="02020603050405020304" pitchFamily="18" charset="0"/>
              <a:ea typeface="Times New Roman" panose="02020603050405020304" pitchFamily="18" charset="0"/>
            </a:endParaRPr>
          </a:p>
          <a:p>
            <a:pPr marL="342900" lvl="0" indent="-342900" fontAlgn="base">
              <a:spcAft>
                <a:spcPts val="0"/>
              </a:spcAft>
              <a:buFont typeface="Symbol" panose="05050102010706020507" pitchFamily="18" charset="2"/>
              <a:buChar char=""/>
            </a:pPr>
            <a:r>
              <a:rPr lang="en-GB" sz="1500">
                <a:latin typeface="Arial" panose="020B0604020202020204" pitchFamily="34" charset="0"/>
                <a:ea typeface="Times New Roman" panose="02020603050405020304" pitchFamily="18" charset="0"/>
              </a:rPr>
              <a:t>Potential sponsors you have contacted</a:t>
            </a:r>
            <a:endParaRPr lang="en-GB" sz="1500">
              <a:latin typeface="Times New Roman" panose="02020603050405020304" pitchFamily="18" charset="0"/>
              <a:ea typeface="Times New Roman" panose="02020603050405020304" pitchFamily="18" charset="0"/>
            </a:endParaRPr>
          </a:p>
          <a:p>
            <a:pPr marL="342900" lvl="0" indent="-342900" fontAlgn="base">
              <a:spcAft>
                <a:spcPts val="0"/>
              </a:spcAft>
              <a:buFont typeface="Symbol" panose="05050102010706020507" pitchFamily="18" charset="2"/>
              <a:buChar char=""/>
            </a:pPr>
            <a:r>
              <a:rPr lang="en-GB" sz="1500">
                <a:latin typeface="Arial" panose="020B0604020202020204" pitchFamily="34" charset="0"/>
                <a:ea typeface="Times New Roman" panose="02020603050405020304" pitchFamily="18" charset="0"/>
              </a:rPr>
              <a:t>Your vision, strategy, objectives and KPIs</a:t>
            </a:r>
            <a:endParaRPr lang="en-GB" sz="1500">
              <a:latin typeface="Times New Roman" panose="02020603050405020304" pitchFamily="18" charset="0"/>
              <a:ea typeface="Times New Roman" panose="02020603050405020304" pitchFamily="18" charset="0"/>
            </a:endParaRPr>
          </a:p>
          <a:p>
            <a:pPr marL="342900" lvl="0" indent="-342900" fontAlgn="base">
              <a:spcAft>
                <a:spcPts val="0"/>
              </a:spcAft>
              <a:buFont typeface="Symbol" panose="05050102010706020507" pitchFamily="18" charset="2"/>
              <a:buChar char=""/>
            </a:pPr>
            <a:r>
              <a:rPr lang="en-GB" sz="1500">
                <a:latin typeface="Arial" panose="020B0604020202020204" pitchFamily="34" charset="0"/>
                <a:ea typeface="Times New Roman" panose="02020603050405020304" pitchFamily="18" charset="0"/>
              </a:rPr>
              <a:t>Things that worked well in the organisation of your team. Can you recommend having a dedicated role to a task?</a:t>
            </a:r>
            <a:endParaRPr lang="en-GB" sz="1500">
              <a:latin typeface="Times New Roman" panose="02020603050405020304" pitchFamily="18" charset="0"/>
              <a:ea typeface="Times New Roman" panose="02020603050405020304" pitchFamily="18" charset="0"/>
            </a:endParaRPr>
          </a:p>
          <a:p>
            <a:pPr marL="342900" lvl="0" indent="-342900" fontAlgn="base">
              <a:spcAft>
                <a:spcPts val="0"/>
              </a:spcAft>
              <a:buFont typeface="Symbol" panose="05050102010706020507" pitchFamily="18" charset="2"/>
              <a:buChar char=""/>
            </a:pPr>
            <a:r>
              <a:rPr lang="en-GB" sz="1500">
                <a:latin typeface="Arial" panose="020B0604020202020204" pitchFamily="34" charset="0"/>
                <a:ea typeface="Times New Roman" panose="02020603050405020304" pitchFamily="18" charset="0"/>
              </a:rPr>
              <a:t>Honest report about your event. Was it successful? Why/why not? How important was this event to your club? Should the next team also do the same event or think about something new? Did you hit your KPIs?</a:t>
            </a:r>
            <a:endParaRPr lang="en-GB" sz="1500">
              <a:latin typeface="Times New Roman" panose="02020603050405020304" pitchFamily="18" charset="0"/>
              <a:ea typeface="Times New Roman" panose="02020603050405020304" pitchFamily="18" charset="0"/>
            </a:endParaRPr>
          </a:p>
          <a:p>
            <a:pPr fontAlgn="base">
              <a:spcAft>
                <a:spcPts val="0"/>
              </a:spcAft>
            </a:pPr>
            <a:r>
              <a:rPr lang="en-GB" sz="1500">
                <a:latin typeface="Arial" panose="020B0604020202020204" pitchFamily="34" charset="0"/>
                <a:ea typeface="Times New Roman" panose="02020603050405020304" pitchFamily="18" charset="0"/>
              </a:rPr>
              <a:t> </a:t>
            </a:r>
            <a:endParaRPr lang="en-GB" sz="150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677663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a:p>
        </p:txBody>
      </p:sp>
      <p:sp>
        <p:nvSpPr>
          <p:cNvPr id="3" name="Slide Number Placeholder 2"/>
          <p:cNvSpPr>
            <a:spLocks noGrp="1"/>
          </p:cNvSpPr>
          <p:nvPr>
            <p:ph type="sldNum" sz="quarter" idx="12"/>
          </p:nvPr>
        </p:nvSpPr>
        <p:spPr/>
        <p:txBody>
          <a:bodyPr/>
          <a:lstStyle/>
          <a:p>
            <a:fld id="{F97EA6E0-ACB3-C744-814F-68814E5220CF}" type="slidenum">
              <a:rPr lang="en-US" smtClean="0"/>
              <a:t>57</a:t>
            </a:fld>
            <a:endParaRPr lang="en-US"/>
          </a:p>
        </p:txBody>
      </p:sp>
      <p:sp>
        <p:nvSpPr>
          <p:cNvPr id="4" name="Title 3"/>
          <p:cNvSpPr>
            <a:spLocks noGrp="1"/>
          </p:cNvSpPr>
          <p:nvPr>
            <p:ph type="title"/>
          </p:nvPr>
        </p:nvSpPr>
        <p:spPr/>
        <p:txBody>
          <a:bodyPr lIns="90000" tIns="45720" rIns="0" bIns="45720" anchor="t"/>
          <a:lstStyle/>
          <a:p>
            <a:r>
              <a:rPr lang="en-GB" b="1">
                <a:cs typeface="Arial"/>
              </a:rPr>
              <a:t>Final considerations</a:t>
            </a:r>
          </a:p>
        </p:txBody>
      </p:sp>
      <p:sp>
        <p:nvSpPr>
          <p:cNvPr id="5" name="Text Placeholder 4"/>
          <p:cNvSpPr>
            <a:spLocks noGrp="1"/>
          </p:cNvSpPr>
          <p:nvPr>
            <p:ph type="body" sz="quarter" idx="13"/>
          </p:nvPr>
        </p:nvSpPr>
        <p:spPr/>
        <p:txBody>
          <a:bodyPr/>
          <a:lstStyle/>
          <a:p>
            <a:endParaRPr lang="en-GB"/>
          </a:p>
        </p:txBody>
      </p:sp>
      <p:sp>
        <p:nvSpPr>
          <p:cNvPr id="7" name="Rectangle 6"/>
          <p:cNvSpPr/>
          <p:nvPr/>
        </p:nvSpPr>
        <p:spPr>
          <a:xfrm>
            <a:off x="383309" y="581414"/>
            <a:ext cx="11425382" cy="6324808"/>
          </a:xfrm>
          <a:prstGeom prst="rect">
            <a:avLst/>
          </a:prstGeom>
        </p:spPr>
        <p:txBody>
          <a:bodyPr wrap="square">
            <a:spAutoFit/>
          </a:bodyPr>
          <a:lstStyle/>
          <a:p>
            <a:r>
              <a:rPr lang="en-GB" sz="1500" b="1"/>
              <a:t>Evaluation</a:t>
            </a:r>
          </a:p>
          <a:p>
            <a:r>
              <a:rPr lang="en-GB" sz="1500"/>
              <a:t>•	Guest feedback forms - Create a survey to capture your guests’ feedback and email them straight after the end of the 	event to ensure they are filled out. The shorter, the better, but ensure the information collected speaks to your KPIs.</a:t>
            </a:r>
          </a:p>
          <a:p>
            <a:r>
              <a:rPr lang="en-GB" sz="1500"/>
              <a:t>•	360 feedback - We also encourage you to have feedback forms for your team, volunteers, speakers and guests. They will 	be able to provide you with details of the events that guests don’t notice and will also be able to comment on the planning 	phase. Your club can learn from mistakes that way, and make sure that your event improves every year.</a:t>
            </a:r>
          </a:p>
          <a:p>
            <a:r>
              <a:rPr lang="en-GB" sz="1500"/>
              <a:t>•	Leadership feedback - Comments on leadership and management will feed into your team’s personal and professional 	learning and development.</a:t>
            </a:r>
          </a:p>
          <a:p>
            <a:r>
              <a:rPr lang="en-GB" sz="1500"/>
              <a:t>•	Also analyse post-event content outputs to understand engagement.</a:t>
            </a:r>
          </a:p>
          <a:p>
            <a:endParaRPr lang="en-GB" sz="1500"/>
          </a:p>
          <a:p>
            <a:r>
              <a:rPr lang="en-GB" sz="1500" b="1"/>
              <a:t>Continuity and succession</a:t>
            </a:r>
          </a:p>
          <a:p>
            <a:r>
              <a:rPr lang="en-GB" sz="1500"/>
              <a:t>Your event doesn’t finish at the drinks reception!</a:t>
            </a:r>
          </a:p>
          <a:p>
            <a:r>
              <a:rPr lang="en-GB" sz="1500" b="1"/>
              <a:t> </a:t>
            </a:r>
          </a:p>
          <a:p>
            <a:r>
              <a:rPr lang="en-GB" sz="1500" b="1"/>
              <a:t>Top Tips:</a:t>
            </a:r>
          </a:p>
          <a:p>
            <a:r>
              <a:rPr lang="en-GB" sz="1500"/>
              <a:t>•	Content is king - How can you use the photos/video footage of the event? Upload it on your website? Make a highlights 	film for marketing for the following year? </a:t>
            </a:r>
          </a:p>
          <a:p>
            <a:r>
              <a:rPr lang="en-GB" sz="1500"/>
              <a:t>•	Press and blog posts - A write up about the event would also help increase the impact and raise your club’s profile, we 	have several platforms we can use to share this.</a:t>
            </a:r>
          </a:p>
          <a:p>
            <a:r>
              <a:rPr lang="en-GB" sz="1500"/>
              <a:t>•	Evaluation report - An evaluation report including feedback from the day, the organising team, speakers, sponsors. This 	will help in the planning for next year.</a:t>
            </a:r>
          </a:p>
          <a:p>
            <a:r>
              <a:rPr lang="en-GB" sz="1500"/>
              <a:t>•	Databases and templates - Leave your notes, speakers’ database, contacts database and templates for use next year. 	Upload on to an accessible location (Dropbox or Campus Groups documents closed section)</a:t>
            </a:r>
          </a:p>
          <a:p>
            <a:r>
              <a:rPr lang="en-GB" sz="1500"/>
              <a:t>•	Handover - Consider looking for successors even before your event takes place. Meet with them afterwards to handover 	your key learnings and insights.</a:t>
            </a:r>
          </a:p>
          <a:p>
            <a:r>
              <a:rPr lang="en-GB" sz="1500"/>
              <a:t>•	Plan ahead - Book the date and reserve the venue for the next event, even if it is a year in advance!</a:t>
            </a:r>
          </a:p>
          <a:p>
            <a:endParaRPr lang="en-GB" sz="1500"/>
          </a:p>
        </p:txBody>
      </p:sp>
    </p:spTree>
    <p:extLst>
      <p:ext uri="{BB962C8B-B14F-4D97-AF65-F5344CB8AC3E}">
        <p14:creationId xmlns:p14="http://schemas.microsoft.com/office/powerpoint/2010/main" val="425535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97EA6E0-ACB3-C744-814F-68814E5220CF}" type="slidenum">
              <a:rPr lang="en-US" dirty="0" smtClean="0"/>
              <a:t>58</a:t>
            </a:fld>
            <a:endParaRPr lang="en-US"/>
          </a:p>
        </p:txBody>
      </p:sp>
      <p:sp>
        <p:nvSpPr>
          <p:cNvPr id="4" name="Title 3"/>
          <p:cNvSpPr>
            <a:spLocks noGrp="1"/>
          </p:cNvSpPr>
          <p:nvPr>
            <p:ph type="title"/>
          </p:nvPr>
        </p:nvSpPr>
        <p:spPr/>
        <p:txBody>
          <a:bodyPr/>
          <a:lstStyle/>
          <a:p>
            <a:r>
              <a:rPr lang="en-GB" b="1"/>
              <a:t>And finally</a:t>
            </a:r>
          </a:p>
        </p:txBody>
      </p:sp>
      <p:sp>
        <p:nvSpPr>
          <p:cNvPr id="6" name="Rectangle 5"/>
          <p:cNvSpPr/>
          <p:nvPr/>
        </p:nvSpPr>
        <p:spPr>
          <a:xfrm>
            <a:off x="568036" y="1382389"/>
            <a:ext cx="11055927" cy="2862322"/>
          </a:xfrm>
          <a:prstGeom prst="rect">
            <a:avLst/>
          </a:prstGeom>
        </p:spPr>
        <p:txBody>
          <a:bodyPr wrap="square">
            <a:spAutoFit/>
          </a:bodyPr>
          <a:lstStyle/>
          <a:p>
            <a:r>
              <a:rPr lang="en-GB" b="1"/>
              <a:t>Thank </a:t>
            </a:r>
            <a:r>
              <a:rPr lang="en-GB" b="1" err="1"/>
              <a:t>yous</a:t>
            </a:r>
            <a:endParaRPr lang="en-GB" b="1"/>
          </a:p>
          <a:p>
            <a:endParaRPr lang="en-GB" b="1"/>
          </a:p>
          <a:p>
            <a:r>
              <a:rPr lang="en-GB"/>
              <a:t>Make sure you acknowledge all those who contributed to the success of the event. Remember to thank:</a:t>
            </a:r>
          </a:p>
          <a:p>
            <a:endParaRPr lang="en-GB"/>
          </a:p>
          <a:p>
            <a:r>
              <a:rPr lang="en-GB"/>
              <a:t>•	Your team</a:t>
            </a:r>
          </a:p>
          <a:p>
            <a:r>
              <a:rPr lang="en-GB"/>
              <a:t>•	Your volunteers</a:t>
            </a:r>
          </a:p>
          <a:p>
            <a:r>
              <a:rPr lang="en-GB"/>
              <a:t>•	Your speakers</a:t>
            </a:r>
          </a:p>
          <a:p>
            <a:r>
              <a:rPr lang="en-GB"/>
              <a:t>•	Your guests</a:t>
            </a:r>
          </a:p>
          <a:p>
            <a:r>
              <a:rPr lang="en-GB"/>
              <a:t>•	Your service providers</a:t>
            </a:r>
          </a:p>
          <a:p>
            <a:r>
              <a:rPr lang="en-GB"/>
              <a:t>•	Your supporters and advocates</a:t>
            </a:r>
          </a:p>
        </p:txBody>
      </p:sp>
    </p:spTree>
    <p:extLst>
      <p:ext uri="{BB962C8B-B14F-4D97-AF65-F5344CB8AC3E}">
        <p14:creationId xmlns:p14="http://schemas.microsoft.com/office/powerpoint/2010/main" val="3220750264"/>
      </p:ext>
    </p:extLst>
  </p:cSld>
  <p:clrMapOvr>
    <a:masterClrMapping/>
  </p:clrMapOvr>
</p:sld>
</file>

<file path=ppt/theme/theme1.xml><?xml version="1.0" encoding="utf-8"?>
<a:theme xmlns:a="http://schemas.openxmlformats.org/drawingml/2006/main" name="1_Office Theme">
  <a:themeElements>
    <a:clrScheme name="LBS PPT 2019 v11">
      <a:dk1>
        <a:srgbClr val="001E61"/>
      </a:dk1>
      <a:lt1>
        <a:srgbClr val="FFFFFF"/>
      </a:lt1>
      <a:dk2>
        <a:srgbClr val="001440"/>
      </a:dk2>
      <a:lt2>
        <a:srgbClr val="EBE8E5"/>
      </a:lt2>
      <a:accent1>
        <a:srgbClr val="1A2B53"/>
      </a:accent1>
      <a:accent2>
        <a:srgbClr val="D1D0D2"/>
      </a:accent2>
      <a:accent3>
        <a:srgbClr val="7F8EB0"/>
      </a:accent3>
      <a:accent4>
        <a:srgbClr val="D7D2CB"/>
      </a:accent4>
      <a:accent5>
        <a:srgbClr val="D7D2CB"/>
      </a:accent5>
      <a:accent6>
        <a:srgbClr val="D6D2CB"/>
      </a:accent6>
      <a:hlink>
        <a:srgbClr val="192B53"/>
      </a:hlink>
      <a:folHlink>
        <a:srgbClr val="7F8EA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343.27_PPT_16-9_v13" id="{7118C384-4A8B-4BD3-BFBA-B4C63146734D}" vid="{50FC1767-F280-4BC0-A9B6-2C1071DF42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c3834795-4372-41b9-9599-b25e28c407f5" xsi:nil="true"/>
    <lcf76f155ced4ddcb4097134ff3c332f xmlns="b33ff379-311b-43f3-acd5-1fe2786df879">
      <Terms xmlns="http://schemas.microsoft.com/office/infopath/2007/PartnerControls"/>
    </lcf76f155ced4ddcb4097134ff3c332f>
    <SharedWithUsers xmlns="c3834795-4372-41b9-9599-b25e28c407f5">
      <UserInfo>
        <DisplayName>Jo Luzmore</DisplayName>
        <AccountId>111</AccountId>
        <AccountType/>
      </UserInfo>
      <UserInfo>
        <DisplayName>Sophie Levy</DisplayName>
        <AccountId>162</AccountId>
        <AccountType/>
      </UserInfo>
      <UserInfo>
        <DisplayName>Eyal Biram</DisplayName>
        <AccountId>161</AccountId>
        <AccountType/>
      </UserInfo>
      <UserInfo>
        <DisplayName>Tom Cohen</DisplayName>
        <AccountId>167</AccountId>
        <AccountType/>
      </UserInfo>
      <UserInfo>
        <DisplayName>Oren Friedlander</DisplayName>
        <AccountId>168</AccountId>
        <AccountType/>
      </UserInfo>
      <UserInfo>
        <DisplayName>Mandy Mather</DisplayName>
        <AccountId>171</AccountId>
        <AccountType/>
      </UserInfo>
      <UserInfo>
        <DisplayName>Richard Frost</DisplayName>
        <AccountId>172</AccountId>
        <AccountType/>
      </UserInfo>
      <UserInfo>
        <DisplayName>Rodney Arde</DisplayName>
        <AccountId>173</AccountId>
        <AccountType/>
      </UserInfo>
      <UserInfo>
        <DisplayName>Juanjo Nosti Meza</DisplayName>
        <AccountId>176</AccountId>
        <AccountType/>
      </UserInfo>
      <UserInfo>
        <DisplayName>Suseela Yesudian</DisplayName>
        <AccountId>177</AccountId>
        <AccountType/>
      </UserInfo>
      <UserInfo>
        <DisplayName>Rubina Kalra</DisplayName>
        <AccountId>178</AccountId>
        <AccountType/>
      </UserInfo>
      <UserInfo>
        <DisplayName>Bolutife Babalola</DisplayName>
        <AccountId>146</AccountId>
        <AccountType/>
      </UserInfo>
      <UserInfo>
        <DisplayName>Daniella Lozada Gobelli</DisplayName>
        <AccountId>66</AccountId>
        <AccountType/>
      </UserInfo>
      <UserInfo>
        <DisplayName>Xavier De Uriarte Gonzalez Montesinos</DisplayName>
        <AccountId>180</AccountId>
        <AccountType/>
      </UserInfo>
      <UserInfo>
        <DisplayName>Maria Brookes-Labonne</DisplayName>
        <AccountId>181</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FAB37BE814C4D4E91F49396323C8FC2" ma:contentTypeVersion="15" ma:contentTypeDescription="Create a new document." ma:contentTypeScope="" ma:versionID="1426e1ccac0f2b9124a5df3147020f17">
  <xsd:schema xmlns:xsd="http://www.w3.org/2001/XMLSchema" xmlns:xs="http://www.w3.org/2001/XMLSchema" xmlns:p="http://schemas.microsoft.com/office/2006/metadata/properties" xmlns:ns1="http://schemas.microsoft.com/sharepoint/v3" xmlns:ns2="b33ff379-311b-43f3-acd5-1fe2786df879" xmlns:ns3="c3834795-4372-41b9-9599-b25e28c407f5" targetNamespace="http://schemas.microsoft.com/office/2006/metadata/properties" ma:root="true" ma:fieldsID="694c994820f7dbe0027946ccf270cbcd" ns1:_="" ns2:_="" ns3:_="">
    <xsd:import namespace="http://schemas.microsoft.com/sharepoint/v3"/>
    <xsd:import namespace="b33ff379-311b-43f3-acd5-1fe2786df879"/>
    <xsd:import namespace="c3834795-4372-41b9-9599-b25e28c407f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1:_ip_UnifiedCompliancePolicyProperties" minOccurs="0"/>
                <xsd:element ref="ns1:_ip_UnifiedCompliancePolicyUIActio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hidden="true" ma:internalName="_ip_UnifiedCompliancePolicyProperties">
      <xsd:simpleType>
        <xsd:restriction base="dms:Note"/>
      </xsd:simpleType>
    </xsd:element>
    <xsd:element name="_ip_UnifiedCompliancePolicyUIAction" ma:index="1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3ff379-311b-43f3-acd5-1fe2786df8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d3229884-581d-4449-b8b6-abb92672b1e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3834795-4372-41b9-9599-b25e28c407f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ed057d36-c545-4c09-9dd4-b8cd9f4b763c}" ma:internalName="TaxCatchAll" ma:showField="CatchAllData" ma:web="c3834795-4372-41b9-9599-b25e28c407f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8258E0-4EAE-4742-8BF3-31A9583DAAD2}">
  <ds:schemaRefs>
    <ds:schemaRef ds:uri="b33ff379-311b-43f3-acd5-1fe2786df879"/>
    <ds:schemaRef ds:uri="c3834795-4372-41b9-9599-b25e28c407f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C083434-B966-46D1-90EF-A2BDD4BD2A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33ff379-311b-43f3-acd5-1fe2786df879"/>
    <ds:schemaRef ds:uri="c3834795-4372-41b9-9599-b25e28c407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08D79F-566E-48F8-820C-6B28B34815B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21</TotalTime>
  <Words>11609</Words>
  <Application>Microsoft Office PowerPoint</Application>
  <PresentationFormat>Widescreen</PresentationFormat>
  <Paragraphs>856</Paragraphs>
  <Slides>58</Slides>
  <Notes>0</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1_Office Theme</vt:lpstr>
      <vt:lpstr>LBS Student Event Organiser’s Guide</vt:lpstr>
      <vt:lpstr>Contents</vt:lpstr>
      <vt:lpstr>PowerPoint Presentation</vt:lpstr>
      <vt:lpstr>Introduction</vt:lpstr>
      <vt:lpstr>PowerPoint Presentation</vt:lpstr>
      <vt:lpstr>Define your event</vt:lpstr>
      <vt:lpstr> </vt:lpstr>
      <vt:lpstr>PowerPoint Presentation</vt:lpstr>
      <vt:lpstr>Set the date</vt:lpstr>
      <vt:lpstr>Assemble your team</vt:lpstr>
      <vt:lpstr>Audience &amp; programming</vt:lpstr>
      <vt:lpstr>Audience &amp; programming</vt:lpstr>
      <vt:lpstr>Audience &amp; programming</vt:lpstr>
      <vt:lpstr>Audience &amp; programming</vt:lpstr>
      <vt:lpstr>PowerPoint Presentation</vt:lpstr>
      <vt:lpstr>Fundraising and Sponsorship</vt:lpstr>
      <vt:lpstr>Fundraising and Sponsorship</vt:lpstr>
      <vt:lpstr>PowerPoint Presentation</vt:lpstr>
      <vt:lpstr>Brand guidelines &amp; marketing resources </vt:lpstr>
      <vt:lpstr>Brand guidelines &amp; marketing resources </vt:lpstr>
      <vt:lpstr>Brand guidelines &amp; marketing resources</vt:lpstr>
      <vt:lpstr>Brand guidelines &amp; marketing resources</vt:lpstr>
      <vt:lpstr>Brand guidelines &amp; marketing resources</vt:lpstr>
      <vt:lpstr>Communications</vt:lpstr>
      <vt:lpstr>Communications</vt:lpstr>
      <vt:lpstr>Communications</vt:lpstr>
      <vt:lpstr>Communications</vt:lpstr>
      <vt:lpstr>Press invitation template</vt:lpstr>
      <vt:lpstr>Communications</vt:lpstr>
      <vt:lpstr>Communications</vt:lpstr>
      <vt:lpstr>Communications</vt:lpstr>
      <vt:lpstr>PowerPoint Presentation</vt:lpstr>
      <vt:lpstr>Ticketing</vt:lpstr>
      <vt:lpstr>Ticketing</vt:lpstr>
      <vt:lpstr>PowerPoint Presentation</vt:lpstr>
      <vt:lpstr>Speakers</vt:lpstr>
      <vt:lpstr>Speakers</vt:lpstr>
      <vt:lpstr>Speakers</vt:lpstr>
      <vt:lpstr>PowerPoint Presentation</vt:lpstr>
      <vt:lpstr>On Campus events – LBS teams overview</vt:lpstr>
      <vt:lpstr>On Campus events – LBS teams overview</vt:lpstr>
      <vt:lpstr>On Campus events – LBS teams overview</vt:lpstr>
      <vt:lpstr>On Campus events – LBS teams overview</vt:lpstr>
      <vt:lpstr>On Campus events – process overview</vt:lpstr>
      <vt:lpstr>On Campus events – process</vt:lpstr>
      <vt:lpstr>On Campus events – process</vt:lpstr>
      <vt:lpstr>On Campus events – process</vt:lpstr>
      <vt:lpstr>On Campus events – process</vt:lpstr>
      <vt:lpstr>On Campus events – process</vt:lpstr>
      <vt:lpstr>PowerPoint Presentation</vt:lpstr>
      <vt:lpstr>Sourcing an external venue</vt:lpstr>
      <vt:lpstr>PowerPoint Presentation</vt:lpstr>
      <vt:lpstr>Registration on the day</vt:lpstr>
      <vt:lpstr>Volunteers</vt:lpstr>
      <vt:lpstr>PowerPoint Presentation</vt:lpstr>
      <vt:lpstr>Final considerations</vt:lpstr>
      <vt:lpstr>Final considerations</vt:lpstr>
      <vt:lpstr>And finally</vt:lpstr>
    </vt:vector>
  </TitlesOfParts>
  <Company>London Business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overview</dc:title>
  <dc:creator>Karyn Wild</dc:creator>
  <cp:lastModifiedBy>Marc Slowey</cp:lastModifiedBy>
  <cp:revision>30</cp:revision>
  <cp:lastPrinted>2023-06-06T08:33:16Z</cp:lastPrinted>
  <dcterms:created xsi:type="dcterms:W3CDTF">2023-04-11T10:43:39Z</dcterms:created>
  <dcterms:modified xsi:type="dcterms:W3CDTF">2026-03-03T08:28:55Z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0x0101001FAB37BE814C4D4E91F49396323C8FC2</vt:lpwstr>
  </property>
  <property fmtid="{D5CDD505-2E9C-101B-9397-08002B2CF9AE}" pid="3" name="MediaServiceImageTags">
    <vt:lpwstr/>
  </property>
</Properties>
</file>